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717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We're presenting CivicLens — a platform that turns civic complaint reporting from a black box into a system with guaranteed routing, visible deadlines, and a public accountability trail. Let me walk you through the problem, our solution, and why it's built the way it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When a citizen reports a pothole or a garbage pile-up today, four things typically go wrong. First, it gets routed to the wrong department because there's no automated, location-aware mapping from the issue to who's actually responsible. Second, the citizen has no visibility — no idea who's looking at it or when it'll be fixed. Third, there's no real deadline — resolution is entirely discretionary, and breaches are never automatically escalated. And fourth, any system that lets citizens submit freely becomes a target for spam and coordinated flooding, which today can only be handled by manual moderation — which simply doesn't scale with limited municipal staff. This matters now because with constrained staff bandwidth, a system that removes ambiguity from routing and automates deadlines can cut resolution delay without needing more people.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a citizen photographs the issue using live camera capture — no gallery uploads, so photos have to be fresh. The system immediately geotags it, and here's the key design choice — it returns a complaint ID and an estimated SLA deadline immediately, before the AI classification has even completed. Perceived value is instant; the heavier AI and geospatial work happens asynchronously behind the scenes. Once processed, the photo is classified, the location is geofenced to the correct ward using PostGIS, and it's routed automatically to the right department. From there, an SLA clock runs, escalates automatically on breach, and every single status change is logged in a tamper-evident audit trail — visible to the citizen, and in aggregate, to the public.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complaint moves through a clear lifecycle: Submitted, Assigned, In Progress, Resolved, Closed. Two conditional branches matter a lot for accountability: if an SLA breaches while a complaint is Assigned or In Progress, it auto-escalates to a supervisor. And if a citizen disputes a resolution, it reopens and goes back to Assigned instead of just closing. One more subtlety — a submission starts life as a low-trust report, and only becomes a verified complaint — the point where the SLA clock actually starts and it counts toward public metrics — once it's independently confirmed or field-verified. That's central to how we resist abuse.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AI side, each photo is classified into a category, a severity, and a confidence score. If confidence falls below a configurable threshold — 0.6 by default — the complaint doesn't get auto-processed; it goes to the official's low-confidence review queue for a human decision. Two guardrails matter here. First, the LLM's drafted description is strictly grounded in the structured classification output and the citizen's note — it's not allowed to invent facts. Second, and this is a subtle one — if someone photographs, say, a sign with text on it, the vision model is explicitly instructed to treat that text as descriptive content only, never as an instruction to follow. That's a deliberate prompt-injection guardrail against adversarial images.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engineering pillars make this system trustworthy at scale. On location and routing: we resolve GPS to a ward polygon using PostGIS. If GPS noise puts a point outside every ward, we fall back to the nearest ward within a configurable threshold. Routing itself is a configurable category-by-ward lookup table, so admins can remap departments without a code deploy, and if multiple officials cover a ward, we load-balance by their current open-complaint count. On anti-abuse — this is where we go beyond a typical course CRUD app. We don't trust manual moderation to scale, so abuse resistance is built into the data model itself. Every account carries a trust score based on its history of verified versus rejected reports. We rate-limit per account, per device, and per phone number. Duplicate reports are caught with perceptual image hashing plus location proximity, and merged into a single canonical complaint instead of spawning separate SLA clocks. And we detect abnormal clustering — many low-trust reports, same small area, short window — and flag it for admin review rather than silently processing it. EXIF timestamp and geotag data are cross-checked against submission metadata too, to catch stale or spoofed photos.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accountability structural rather than discretionary. Every verified complaint gets an SLA deadline computed from a configurable rule set — category by severity. A scheduled background process continuously scans for breaches with no manual trigger required. When a complaint breaches SLA, it’s automatically escalated to a supervisor, the citizen sees that escalation happen, and it counts directly against that department’s public compliance metric. The system enforces the deadline — no one has to remember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 design decouples the fast path from the slow path. The API server validates the request, stores the photo, writes the DB row, enqueues a job, and returns — all in under 500 milliseconds, excluding AI processing. That job sits on a Redis-backed Celery queue, picked up by stateless CV and LLM workers that can scale horizontally and independently of the API tier. Everything lands in PostgreSQL with PostGIS for the geospatial side. A separate scheduler continuously checks for SLA breaches. And if the LLM API goes down or hits a rate limit, jobs simply queue and retry with exponential backoff instead of the whole submission failing — that’s graceful degradation built in from day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on stack — we deliberately picked mature, off-the-shelf components so our engineering effort goes into routing correctness, accountability guarantees, and abuse resistance, not into reinventing infrastructure. FastAPI and Celery for the backend and async work, Postgres with PostGIS for geospatial routing, Twilio and SendGrid for notifications, and a Docker Compose to Render/Railway path with GitHub Actions CI/CD so we can ship to staging repeatedly and safely.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want vague success criteria, so every metric ties back to something measurable. Primary: citizen submission latency, targeting under 60 seconds end-to-end, and SLA compliance rate per department — the actual public accountability number. Secondary metrics track classifier reliability, duplicate-merge accuracy, abuse-cluster flag precision, escalation rates, and how many low-trust reports convert to verified complaints. Every one of these comes straight from a database timestamp, a configured threshold, or an admin dashboard figure — nothing here depends on a survey or subjective judgment.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scope — we're deliberately constrained to a single pilot city, a responsive PWA rather than native apps, and manual field-worker dispatch, given a 12-to-14-week timeline. That's future work, not a gap we missed. The three of us split cleanly: backend and geospatial routing, frontend and dashboards, and the CV/LLM pipeline with deployment. On risk — the two we think about most are abuse at scale and LLM reliability. Abuse is handled structurally, not through moderators, via trust scores, the report-to-verified gate, and clustering detection. LLM reliability is handled with the confidence threshold, retry-then-human-review, and graceful degradation if the API is down. And on privacy, we're aligning with India's DPDP Act 2023 — PII never appears on the public dashboard, and photos are only ever served through signed, time-limited URLs.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CivicLens isn't trying to be a bigger complaint form. It's trying to make three things true by construction: every complaint gets routed correctly, every complaint has a deadline the system itself enforces, and every action taken on it is permanently and publicly auditable. Route it, time it, prove it. That's CivicLens.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30352" y="6510528"/>
            <a:ext cx="11137392" cy="0"/>
          </a:xfrm>
          <a:prstGeom prst="line">
            <a:avLst/>
          </a:prstGeom>
          <a:noFill/>
          <a:ln w="12700">
            <a:solidFill>
              <a:srgbClr val="D6DEE9"/>
            </a:solidFill>
            <a:prstDash val="solid"/>
          </a:ln>
        </p:spPr>
      </p:sp>
      <p:sp>
        <p:nvSpPr>
          <p:cNvPr id="3" name="Text 1"/>
          <p:cNvSpPr/>
          <p:nvPr/>
        </p:nvSpPr>
        <p:spPr>
          <a:xfrm>
            <a:off x="530352" y="6556248"/>
            <a:ext cx="1005840" cy="164592"/>
          </a:xfrm>
          <a:prstGeom prst="rect">
            <a:avLst/>
          </a:prstGeom>
          <a:noFill/>
          <a:ln/>
        </p:spPr>
        <p:txBody>
          <a:bodyPr wrap="square" lIns="0" tIns="0" rIns="0" bIns="0" rtlCol="0" anchor="ctr"/>
          <a:lstStyle/>
          <a:p>
            <a:pPr marL="0" indent="0">
              <a:buNone/>
            </a:pPr>
            <a:r>
              <a:rPr lang="en-US" sz="800" dirty="0">
                <a:solidFill>
                  <a:srgbClr val="64748B"/>
                </a:solidFill>
                <a:latin typeface="Aptos" pitchFamily="34" charset="0"/>
                <a:ea typeface="Aptos" pitchFamily="34" charset="-122"/>
                <a:cs typeface="Aptos" pitchFamily="34" charset="-120"/>
              </a:rPr>
              <a:t>CivicLens</a:t>
            </a:r>
            <a:endParaRPr lang="en-US" sz="800" dirty="0"/>
          </a:p>
        </p:txBody>
      </p:sp>
      <p:sp>
        <p:nvSpPr>
          <p:cNvPr id="25"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B6B"/>
        </a:solidFill>
        <a:effectLst/>
      </p:bgPr>
    </p:bg>
    <p:spTree>
      <p:nvGrpSpPr>
        <p:cNvPr id="1" name=""/>
        <p:cNvGrpSpPr/>
        <p:nvPr/>
      </p:nvGrpSpPr>
      <p:grpSpPr>
        <a:xfrm>
          <a:off x="0" y="0"/>
          <a:ext cx="0" cy="0"/>
          <a:chOff x="0" y="0"/>
          <a:chExt cx="0" cy="0"/>
        </a:xfrm>
      </p:grpSpPr>
      <p:sp>
        <p:nvSpPr>
          <p:cNvPr id="2" name="Shape 0"/>
          <p:cNvSpPr/>
          <p:nvPr/>
        </p:nvSpPr>
        <p:spPr>
          <a:xfrm>
            <a:off x="6492240" y="640080"/>
            <a:ext cx="0" cy="5349240"/>
          </a:xfrm>
          <a:prstGeom prst="line">
            <a:avLst/>
          </a:prstGeom>
          <a:noFill/>
          <a:ln w="12700">
            <a:solidFill>
              <a:srgbClr val="254E83">
                <a:alpha val="65000"/>
              </a:srgbClr>
            </a:solidFill>
            <a:prstDash val="solid"/>
          </a:ln>
        </p:spPr>
      </p:sp>
      <p:sp>
        <p:nvSpPr>
          <p:cNvPr id="3" name="Shape 1"/>
          <p:cNvSpPr/>
          <p:nvPr/>
        </p:nvSpPr>
        <p:spPr>
          <a:xfrm>
            <a:off x="6912864" y="640080"/>
            <a:ext cx="0" cy="5349240"/>
          </a:xfrm>
          <a:prstGeom prst="line">
            <a:avLst/>
          </a:prstGeom>
          <a:noFill/>
          <a:ln w="12700">
            <a:solidFill>
              <a:srgbClr val="254E83">
                <a:alpha val="65000"/>
              </a:srgbClr>
            </a:solidFill>
            <a:prstDash val="solid"/>
          </a:ln>
        </p:spPr>
      </p:sp>
      <p:sp>
        <p:nvSpPr>
          <p:cNvPr id="4" name="Shape 2"/>
          <p:cNvSpPr/>
          <p:nvPr/>
        </p:nvSpPr>
        <p:spPr>
          <a:xfrm>
            <a:off x="7333488" y="640080"/>
            <a:ext cx="0" cy="5349240"/>
          </a:xfrm>
          <a:prstGeom prst="line">
            <a:avLst/>
          </a:prstGeom>
          <a:noFill/>
          <a:ln w="12700">
            <a:solidFill>
              <a:srgbClr val="254E83">
                <a:alpha val="65000"/>
              </a:srgbClr>
            </a:solidFill>
            <a:prstDash val="solid"/>
          </a:ln>
        </p:spPr>
      </p:sp>
      <p:sp>
        <p:nvSpPr>
          <p:cNvPr id="5" name="Shape 3"/>
          <p:cNvSpPr/>
          <p:nvPr/>
        </p:nvSpPr>
        <p:spPr>
          <a:xfrm>
            <a:off x="7754112" y="640080"/>
            <a:ext cx="0" cy="5349240"/>
          </a:xfrm>
          <a:prstGeom prst="line">
            <a:avLst/>
          </a:prstGeom>
          <a:noFill/>
          <a:ln w="12700">
            <a:solidFill>
              <a:srgbClr val="254E83">
                <a:alpha val="65000"/>
              </a:srgbClr>
            </a:solidFill>
            <a:prstDash val="solid"/>
          </a:ln>
        </p:spPr>
      </p:sp>
      <p:sp>
        <p:nvSpPr>
          <p:cNvPr id="6" name="Shape 4"/>
          <p:cNvSpPr/>
          <p:nvPr/>
        </p:nvSpPr>
        <p:spPr>
          <a:xfrm>
            <a:off x="8174736" y="640080"/>
            <a:ext cx="0" cy="5349240"/>
          </a:xfrm>
          <a:prstGeom prst="line">
            <a:avLst/>
          </a:prstGeom>
          <a:noFill/>
          <a:ln w="12700">
            <a:solidFill>
              <a:srgbClr val="254E83">
                <a:alpha val="65000"/>
              </a:srgbClr>
            </a:solidFill>
            <a:prstDash val="solid"/>
          </a:ln>
        </p:spPr>
      </p:sp>
      <p:sp>
        <p:nvSpPr>
          <p:cNvPr id="7" name="Shape 5"/>
          <p:cNvSpPr/>
          <p:nvPr/>
        </p:nvSpPr>
        <p:spPr>
          <a:xfrm>
            <a:off x="8595360" y="640080"/>
            <a:ext cx="0" cy="5349240"/>
          </a:xfrm>
          <a:prstGeom prst="line">
            <a:avLst/>
          </a:prstGeom>
          <a:noFill/>
          <a:ln w="12700">
            <a:solidFill>
              <a:srgbClr val="254E83">
                <a:alpha val="65000"/>
              </a:srgbClr>
            </a:solidFill>
            <a:prstDash val="solid"/>
          </a:ln>
        </p:spPr>
      </p:sp>
      <p:sp>
        <p:nvSpPr>
          <p:cNvPr id="8" name="Shape 6"/>
          <p:cNvSpPr/>
          <p:nvPr/>
        </p:nvSpPr>
        <p:spPr>
          <a:xfrm>
            <a:off x="9015984" y="640080"/>
            <a:ext cx="0" cy="5349240"/>
          </a:xfrm>
          <a:prstGeom prst="line">
            <a:avLst/>
          </a:prstGeom>
          <a:noFill/>
          <a:ln w="12700">
            <a:solidFill>
              <a:srgbClr val="254E83">
                <a:alpha val="65000"/>
              </a:srgbClr>
            </a:solidFill>
            <a:prstDash val="solid"/>
          </a:ln>
        </p:spPr>
      </p:sp>
      <p:sp>
        <p:nvSpPr>
          <p:cNvPr id="9" name="Shape 7"/>
          <p:cNvSpPr/>
          <p:nvPr/>
        </p:nvSpPr>
        <p:spPr>
          <a:xfrm>
            <a:off x="9436608" y="640080"/>
            <a:ext cx="0" cy="5349240"/>
          </a:xfrm>
          <a:prstGeom prst="line">
            <a:avLst/>
          </a:prstGeom>
          <a:noFill/>
          <a:ln w="12700">
            <a:solidFill>
              <a:srgbClr val="254E83">
                <a:alpha val="65000"/>
              </a:srgbClr>
            </a:solidFill>
            <a:prstDash val="solid"/>
          </a:ln>
        </p:spPr>
      </p:sp>
      <p:sp>
        <p:nvSpPr>
          <p:cNvPr id="10" name="Shape 8"/>
          <p:cNvSpPr/>
          <p:nvPr/>
        </p:nvSpPr>
        <p:spPr>
          <a:xfrm>
            <a:off x="9857232" y="640080"/>
            <a:ext cx="0" cy="5349240"/>
          </a:xfrm>
          <a:prstGeom prst="line">
            <a:avLst/>
          </a:prstGeom>
          <a:noFill/>
          <a:ln w="12700">
            <a:solidFill>
              <a:srgbClr val="254E83">
                <a:alpha val="65000"/>
              </a:srgbClr>
            </a:solidFill>
            <a:prstDash val="solid"/>
          </a:ln>
        </p:spPr>
      </p:sp>
      <p:sp>
        <p:nvSpPr>
          <p:cNvPr id="11" name="Shape 9"/>
          <p:cNvSpPr/>
          <p:nvPr/>
        </p:nvSpPr>
        <p:spPr>
          <a:xfrm>
            <a:off x="10277856" y="640080"/>
            <a:ext cx="0" cy="5349240"/>
          </a:xfrm>
          <a:prstGeom prst="line">
            <a:avLst/>
          </a:prstGeom>
          <a:noFill/>
          <a:ln w="12700">
            <a:solidFill>
              <a:srgbClr val="254E83">
                <a:alpha val="65000"/>
              </a:srgbClr>
            </a:solidFill>
            <a:prstDash val="solid"/>
          </a:ln>
        </p:spPr>
      </p:sp>
      <p:sp>
        <p:nvSpPr>
          <p:cNvPr id="12" name="Shape 10"/>
          <p:cNvSpPr/>
          <p:nvPr/>
        </p:nvSpPr>
        <p:spPr>
          <a:xfrm>
            <a:off x="10698480" y="640080"/>
            <a:ext cx="0" cy="5349240"/>
          </a:xfrm>
          <a:prstGeom prst="line">
            <a:avLst/>
          </a:prstGeom>
          <a:noFill/>
          <a:ln w="12700">
            <a:solidFill>
              <a:srgbClr val="254E83">
                <a:alpha val="65000"/>
              </a:srgbClr>
            </a:solidFill>
            <a:prstDash val="solid"/>
          </a:ln>
        </p:spPr>
      </p:sp>
      <p:sp>
        <p:nvSpPr>
          <p:cNvPr id="13" name="Shape 11"/>
          <p:cNvSpPr/>
          <p:nvPr/>
        </p:nvSpPr>
        <p:spPr>
          <a:xfrm>
            <a:off x="6446520" y="868680"/>
            <a:ext cx="5029200" cy="0"/>
          </a:xfrm>
          <a:prstGeom prst="line">
            <a:avLst/>
          </a:prstGeom>
          <a:noFill/>
          <a:ln w="12700">
            <a:solidFill>
              <a:srgbClr val="254E83">
                <a:alpha val="65000"/>
              </a:srgbClr>
            </a:solidFill>
            <a:prstDash val="solid"/>
          </a:ln>
        </p:spPr>
      </p:sp>
      <p:sp>
        <p:nvSpPr>
          <p:cNvPr id="14" name="Shape 12"/>
          <p:cNvSpPr/>
          <p:nvPr/>
        </p:nvSpPr>
        <p:spPr>
          <a:xfrm>
            <a:off x="6446520" y="1307592"/>
            <a:ext cx="5029200" cy="0"/>
          </a:xfrm>
          <a:prstGeom prst="line">
            <a:avLst/>
          </a:prstGeom>
          <a:noFill/>
          <a:ln w="12700">
            <a:solidFill>
              <a:srgbClr val="254E83">
                <a:alpha val="65000"/>
              </a:srgbClr>
            </a:solidFill>
            <a:prstDash val="solid"/>
          </a:ln>
        </p:spPr>
      </p:sp>
      <p:sp>
        <p:nvSpPr>
          <p:cNvPr id="15" name="Shape 13"/>
          <p:cNvSpPr/>
          <p:nvPr/>
        </p:nvSpPr>
        <p:spPr>
          <a:xfrm>
            <a:off x="6446520" y="1746504"/>
            <a:ext cx="5029200" cy="0"/>
          </a:xfrm>
          <a:prstGeom prst="line">
            <a:avLst/>
          </a:prstGeom>
          <a:noFill/>
          <a:ln w="12700">
            <a:solidFill>
              <a:srgbClr val="254E83">
                <a:alpha val="65000"/>
              </a:srgbClr>
            </a:solidFill>
            <a:prstDash val="solid"/>
          </a:ln>
        </p:spPr>
      </p:sp>
      <p:sp>
        <p:nvSpPr>
          <p:cNvPr id="16" name="Shape 14"/>
          <p:cNvSpPr/>
          <p:nvPr/>
        </p:nvSpPr>
        <p:spPr>
          <a:xfrm>
            <a:off x="6446520" y="2185416"/>
            <a:ext cx="5029200" cy="0"/>
          </a:xfrm>
          <a:prstGeom prst="line">
            <a:avLst/>
          </a:prstGeom>
          <a:noFill/>
          <a:ln w="12700">
            <a:solidFill>
              <a:srgbClr val="254E83">
                <a:alpha val="65000"/>
              </a:srgbClr>
            </a:solidFill>
            <a:prstDash val="solid"/>
          </a:ln>
        </p:spPr>
      </p:sp>
      <p:sp>
        <p:nvSpPr>
          <p:cNvPr id="17" name="Shape 15"/>
          <p:cNvSpPr/>
          <p:nvPr/>
        </p:nvSpPr>
        <p:spPr>
          <a:xfrm>
            <a:off x="6446520" y="2624328"/>
            <a:ext cx="5029200" cy="0"/>
          </a:xfrm>
          <a:prstGeom prst="line">
            <a:avLst/>
          </a:prstGeom>
          <a:noFill/>
          <a:ln w="12700">
            <a:solidFill>
              <a:srgbClr val="254E83">
                <a:alpha val="65000"/>
              </a:srgbClr>
            </a:solidFill>
            <a:prstDash val="solid"/>
          </a:ln>
        </p:spPr>
      </p:sp>
      <p:sp>
        <p:nvSpPr>
          <p:cNvPr id="18" name="Shape 16"/>
          <p:cNvSpPr/>
          <p:nvPr/>
        </p:nvSpPr>
        <p:spPr>
          <a:xfrm>
            <a:off x="6446520" y="3063240"/>
            <a:ext cx="5029200" cy="0"/>
          </a:xfrm>
          <a:prstGeom prst="line">
            <a:avLst/>
          </a:prstGeom>
          <a:noFill/>
          <a:ln w="12700">
            <a:solidFill>
              <a:srgbClr val="254E83">
                <a:alpha val="65000"/>
              </a:srgbClr>
            </a:solidFill>
            <a:prstDash val="solid"/>
          </a:ln>
        </p:spPr>
      </p:sp>
      <p:sp>
        <p:nvSpPr>
          <p:cNvPr id="19" name="Shape 17"/>
          <p:cNvSpPr/>
          <p:nvPr/>
        </p:nvSpPr>
        <p:spPr>
          <a:xfrm>
            <a:off x="6446520" y="3502152"/>
            <a:ext cx="5029200" cy="0"/>
          </a:xfrm>
          <a:prstGeom prst="line">
            <a:avLst/>
          </a:prstGeom>
          <a:noFill/>
          <a:ln w="12700">
            <a:solidFill>
              <a:srgbClr val="254E83">
                <a:alpha val="65000"/>
              </a:srgbClr>
            </a:solidFill>
            <a:prstDash val="solid"/>
          </a:ln>
        </p:spPr>
      </p:sp>
      <p:sp>
        <p:nvSpPr>
          <p:cNvPr id="20" name="Shape 18"/>
          <p:cNvSpPr/>
          <p:nvPr/>
        </p:nvSpPr>
        <p:spPr>
          <a:xfrm>
            <a:off x="6446520" y="3941064"/>
            <a:ext cx="5029200" cy="0"/>
          </a:xfrm>
          <a:prstGeom prst="line">
            <a:avLst/>
          </a:prstGeom>
          <a:noFill/>
          <a:ln w="12700">
            <a:solidFill>
              <a:srgbClr val="254E83">
                <a:alpha val="65000"/>
              </a:srgbClr>
            </a:solidFill>
            <a:prstDash val="solid"/>
          </a:ln>
        </p:spPr>
      </p:sp>
      <p:sp>
        <p:nvSpPr>
          <p:cNvPr id="21" name="Shape 19"/>
          <p:cNvSpPr/>
          <p:nvPr/>
        </p:nvSpPr>
        <p:spPr>
          <a:xfrm>
            <a:off x="6446520" y="4379976"/>
            <a:ext cx="5029200" cy="0"/>
          </a:xfrm>
          <a:prstGeom prst="line">
            <a:avLst/>
          </a:prstGeom>
          <a:noFill/>
          <a:ln w="12700">
            <a:solidFill>
              <a:srgbClr val="254E83">
                <a:alpha val="65000"/>
              </a:srgbClr>
            </a:solidFill>
            <a:prstDash val="solid"/>
          </a:ln>
        </p:spPr>
      </p:sp>
      <p:sp>
        <p:nvSpPr>
          <p:cNvPr id="22" name="Shape 20"/>
          <p:cNvSpPr/>
          <p:nvPr/>
        </p:nvSpPr>
        <p:spPr>
          <a:xfrm>
            <a:off x="6446520" y="4818888"/>
            <a:ext cx="5029200" cy="0"/>
          </a:xfrm>
          <a:prstGeom prst="line">
            <a:avLst/>
          </a:prstGeom>
          <a:noFill/>
          <a:ln w="12700">
            <a:solidFill>
              <a:srgbClr val="254E83">
                <a:alpha val="65000"/>
              </a:srgbClr>
            </a:solidFill>
            <a:prstDash val="solid"/>
          </a:ln>
        </p:spPr>
      </p:sp>
      <p:sp>
        <p:nvSpPr>
          <p:cNvPr id="23" name="Shape 21"/>
          <p:cNvSpPr/>
          <p:nvPr/>
        </p:nvSpPr>
        <p:spPr>
          <a:xfrm>
            <a:off x="7315200" y="1325880"/>
            <a:ext cx="3611880" cy="3611880"/>
          </a:xfrm>
          <a:prstGeom prst="roundRect">
            <a:avLst>
              <a:gd name="adj" fmla="val 5570"/>
            </a:avLst>
          </a:prstGeom>
          <a:solidFill>
            <a:srgbClr val="20497D">
              <a:alpha val="85000"/>
            </a:srgbClr>
          </a:solidFill>
          <a:ln w="15240">
            <a:solidFill>
              <a:srgbClr val="6E9ACF">
                <a:alpha val="65000"/>
              </a:srgbClr>
            </a:solidFill>
            <a:prstDash val="solid"/>
          </a:ln>
        </p:spPr>
      </p:sp>
      <p:sp>
        <p:nvSpPr>
          <p:cNvPr id="24" name="Shape 22"/>
          <p:cNvSpPr/>
          <p:nvPr/>
        </p:nvSpPr>
        <p:spPr>
          <a:xfrm>
            <a:off x="8046723" y="2075688"/>
            <a:ext cx="1755648" cy="1755648"/>
          </a:xfrm>
          <a:prstGeom prst="ellipse">
            <a:avLst/>
          </a:prstGeom>
          <a:solidFill>
            <a:srgbClr val="FFFFFF">
              <a:alpha val="7000"/>
            </a:srgbClr>
          </a:solidFill>
          <a:ln w="25400">
            <a:solidFill>
              <a:srgbClr val="FFFFFF"/>
            </a:solidFill>
            <a:prstDash val="solid"/>
          </a:ln>
        </p:spPr>
      </p:sp>
      <p:sp>
        <p:nvSpPr>
          <p:cNvPr id="25" name="Shape 23"/>
          <p:cNvSpPr/>
          <p:nvPr/>
        </p:nvSpPr>
        <p:spPr>
          <a:xfrm>
            <a:off x="8375907" y="2404872"/>
            <a:ext cx="1097280" cy="1097280"/>
          </a:xfrm>
          <a:prstGeom prst="ellipse">
            <a:avLst/>
          </a:prstGeom>
          <a:solidFill>
            <a:srgbClr val="FFFFFF">
              <a:alpha val="5000"/>
            </a:srgbClr>
          </a:solidFill>
          <a:ln w="50800">
            <a:solidFill>
              <a:srgbClr val="DCE8F7"/>
            </a:solidFill>
            <a:prstDash val="solid"/>
          </a:ln>
        </p:spPr>
      </p:sp>
      <p:sp>
        <p:nvSpPr>
          <p:cNvPr id="26" name="Shape 24"/>
          <p:cNvSpPr/>
          <p:nvPr/>
        </p:nvSpPr>
        <p:spPr>
          <a:xfrm>
            <a:off x="9546338" y="3575304"/>
            <a:ext cx="740659" cy="694944"/>
          </a:xfrm>
          <a:prstGeom prst="line">
            <a:avLst/>
          </a:prstGeom>
          <a:noFill/>
          <a:ln w="50800">
            <a:solidFill>
              <a:srgbClr val="DCE8F7"/>
            </a:solidFill>
            <a:prstDash val="solid"/>
            <a:tailEnd type="none"/>
          </a:ln>
        </p:spPr>
      </p:sp>
      <p:sp>
        <p:nvSpPr>
          <p:cNvPr id="27" name="Text 25"/>
          <p:cNvSpPr/>
          <p:nvPr/>
        </p:nvSpPr>
        <p:spPr>
          <a:xfrm>
            <a:off x="658368" y="1115568"/>
            <a:ext cx="5577840" cy="658368"/>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CivicLens</a:t>
            </a:r>
            <a:endParaRPr lang="en-US" sz="3400" dirty="0"/>
          </a:p>
        </p:txBody>
      </p:sp>
      <p:sp>
        <p:nvSpPr>
          <p:cNvPr id="28" name="Text 26"/>
          <p:cNvSpPr/>
          <p:nvPr/>
        </p:nvSpPr>
        <p:spPr>
          <a:xfrm>
            <a:off x="658368" y="1874520"/>
            <a:ext cx="5577840" cy="1188720"/>
          </a:xfrm>
          <a:prstGeom prst="rect">
            <a:avLst/>
          </a:prstGeom>
          <a:noFill/>
          <a:ln/>
        </p:spPr>
        <p:txBody>
          <a:bodyPr wrap="square" lIns="0" tIns="0" rIns="0" bIns="0" rtlCol="0" anchor="ctr">
            <a:normAutofit/>
          </a:bodyPr>
          <a:lstStyle/>
          <a:p>
            <a:pPr marL="0" indent="0">
              <a:buNone/>
            </a:pPr>
            <a:r>
              <a:rPr lang="en-US" sz="2200" b="1" dirty="0">
                <a:solidFill>
                  <a:srgbClr val="EAF2FB"/>
                </a:solidFill>
                <a:latin typeface="Aptos" pitchFamily="34" charset="0"/>
                <a:ea typeface="Aptos" pitchFamily="34" charset="-122"/>
                <a:cs typeface="Aptos" pitchFamily="34" charset="-120"/>
              </a:rPr>
              <a:t>Civic Complaint Routing &amp;</a:t>
            </a:r>
            <a:endParaRPr lang="en-US" sz="2200" dirty="0"/>
          </a:p>
          <a:p>
            <a:pPr marL="0" indent="0">
              <a:buNone/>
            </a:pPr>
            <a:r>
              <a:rPr lang="en-US" sz="2200" b="1" dirty="0">
                <a:solidFill>
                  <a:srgbClr val="EAF2FB"/>
                </a:solidFill>
                <a:latin typeface="Aptos" pitchFamily="34" charset="0"/>
                <a:ea typeface="Aptos" pitchFamily="34" charset="-122"/>
                <a:cs typeface="Aptos" pitchFamily="34" charset="-120"/>
              </a:rPr>
              <a:t>Accountability Platform</a:t>
            </a:r>
            <a:endParaRPr lang="en-US" sz="2200" dirty="0"/>
          </a:p>
        </p:txBody>
      </p:sp>
      <p:sp>
        <p:nvSpPr>
          <p:cNvPr id="29" name="Text 27"/>
          <p:cNvSpPr/>
          <p:nvPr/>
        </p:nvSpPr>
        <p:spPr>
          <a:xfrm>
            <a:off x="658368" y="3364992"/>
            <a:ext cx="4389120" cy="365760"/>
          </a:xfrm>
          <a:prstGeom prst="rect">
            <a:avLst/>
          </a:prstGeom>
          <a:noFill/>
          <a:ln/>
        </p:spPr>
        <p:txBody>
          <a:bodyPr wrap="square" lIns="0" tIns="0" rIns="0" bIns="0" rtlCol="0" anchor="ctr">
            <a:normAutofit/>
          </a:bodyPr>
          <a:lstStyle/>
          <a:p>
            <a:pPr marL="0" indent="0">
              <a:buNone/>
            </a:pPr>
            <a:r>
              <a:rPr lang="en-US" sz="1500" b="1" dirty="0">
                <a:solidFill>
                  <a:srgbClr val="A9C5E7"/>
                </a:solidFill>
                <a:latin typeface="Aptos" pitchFamily="34" charset="0"/>
                <a:ea typeface="Aptos" pitchFamily="34" charset="-122"/>
                <a:cs typeface="Aptos" pitchFamily="34" charset="-120"/>
              </a:rPr>
              <a:t>Route it. Time it. Prove it.</a:t>
            </a:r>
            <a:endParaRPr lang="en-US" sz="1500" dirty="0"/>
          </a:p>
        </p:txBody>
      </p:sp>
      <p:sp>
        <p:nvSpPr>
          <p:cNvPr id="30" name="Text 28"/>
          <p:cNvSpPr/>
          <p:nvPr/>
        </p:nvSpPr>
        <p:spPr>
          <a:xfrm>
            <a:off x="658368" y="5166360"/>
            <a:ext cx="5212080" cy="256032"/>
          </a:xfrm>
          <a:prstGeom prst="rect">
            <a:avLst/>
          </a:prstGeom>
          <a:noFill/>
          <a:ln/>
        </p:spPr>
        <p:txBody>
          <a:bodyPr wrap="square" lIns="0" tIns="0" rIns="0" bIns="0" rtlCol="0" anchor="ctr">
            <a:normAutofit/>
          </a:bodyPr>
          <a:lstStyle/>
          <a:p>
            <a:pPr marL="0" indent="0">
              <a:buNone/>
            </a:pPr>
            <a:r>
              <a:rPr lang="en-US" sz="1150" dirty="0">
                <a:solidFill>
                  <a:srgbClr val="D6E3F2"/>
                </a:solidFill>
                <a:latin typeface="Aptos" pitchFamily="34" charset="0"/>
                <a:ea typeface="Aptos" pitchFamily="34" charset="-122"/>
                <a:cs typeface="Aptos" pitchFamily="34" charset="-120"/>
              </a:rPr>
              <a:t>Aadish Jain · Adarsh Sharma · Kovid Kumar</a:t>
            </a:r>
            <a:endParaRPr lang="en-US" sz="1150" dirty="0"/>
          </a:p>
        </p:txBody>
      </p:sp>
      <p:sp>
        <p:nvSpPr>
          <p:cNvPr id="31" name="Text 29"/>
          <p:cNvSpPr/>
          <p:nvPr/>
        </p:nvSpPr>
        <p:spPr>
          <a:xfrm>
            <a:off x="658368" y="5468112"/>
            <a:ext cx="5852160" cy="219456"/>
          </a:xfrm>
          <a:prstGeom prst="rect">
            <a:avLst/>
          </a:prstGeom>
          <a:noFill/>
          <a:ln/>
        </p:spPr>
        <p:txBody>
          <a:bodyPr wrap="square" lIns="0" tIns="0" rIns="0" bIns="0" rtlCol="0" anchor="ctr">
            <a:normAutofit/>
          </a:bodyPr>
          <a:lstStyle/>
          <a:p>
            <a:pPr marL="0" indent="0">
              <a:buNone/>
            </a:pPr>
            <a:r>
              <a:rPr lang="en-US" sz="1050" dirty="0">
                <a:solidFill>
                  <a:srgbClr val="BFD2E8"/>
                </a:solidFill>
                <a:latin typeface="Aptos" pitchFamily="34" charset="0"/>
                <a:ea typeface="Aptos" pitchFamily="34" charset="-122"/>
                <a:cs typeface="Aptos" pitchFamily="34" charset="-120"/>
              </a:rPr>
              <a:t>CSE · Thapar Institute of Engineering and Technology, Patiala</a:t>
            </a:r>
            <a:endParaRPr lang="en-US" sz="1050" dirty="0"/>
          </a:p>
        </p:txBody>
      </p:sp>
      <p:sp>
        <p:nvSpPr>
          <p:cNvPr id="32" name="Text 30"/>
          <p:cNvSpPr/>
          <p:nvPr/>
        </p:nvSpPr>
        <p:spPr>
          <a:xfrm>
            <a:off x="658368" y="5760720"/>
            <a:ext cx="5577840" cy="219456"/>
          </a:xfrm>
          <a:prstGeom prst="rect">
            <a:avLst/>
          </a:prstGeom>
          <a:noFill/>
          <a:ln/>
        </p:spPr>
        <p:txBody>
          <a:bodyPr wrap="square" lIns="0" tIns="0" rIns="0" bIns="0" rtlCol="0" anchor="ctr">
            <a:normAutofit/>
          </a:bodyPr>
          <a:lstStyle/>
          <a:p>
            <a:pPr marL="0" indent="0">
              <a:buNone/>
            </a:pPr>
            <a:r>
              <a:rPr lang="en-US" sz="1050" dirty="0">
                <a:solidFill>
                  <a:srgbClr val="BFD2E8"/>
                </a:solidFill>
                <a:latin typeface="Aptos" pitchFamily="34" charset="0"/>
                <a:ea typeface="Aptos" pitchFamily="34" charset="-122"/>
                <a:cs typeface="Aptos" pitchFamily="34" charset="-120"/>
              </a:rPr>
              <a:t>Presented to Hardik Gujral  ·  21 Aug 2026</a:t>
            </a:r>
            <a:endParaRPr lang="en-US" sz="1050" dirty="0"/>
          </a:p>
        </p:txBody>
      </p:sp>
      <p:sp>
        <p:nvSpPr>
          <p:cNvPr id="33" name="Text 31"/>
          <p:cNvSpPr/>
          <p:nvPr/>
        </p:nvSpPr>
        <p:spPr>
          <a:xfrm>
            <a:off x="11100816" y="6419088"/>
            <a:ext cx="502920" cy="164592"/>
          </a:xfrm>
          <a:prstGeom prst="rect">
            <a:avLst/>
          </a:prstGeom>
          <a:noFill/>
          <a:ln/>
        </p:spPr>
        <p:txBody>
          <a:bodyPr wrap="square" lIns="0" tIns="0" rIns="0" bIns="0" rtlCol="0" anchor="ctr">
            <a:normAutofit/>
          </a:bodyPr>
          <a:lstStyle/>
          <a:p>
            <a:pPr marL="0" indent="0" algn="r">
              <a:buNone/>
            </a:pPr>
            <a:r>
              <a:rPr lang="en-US" sz="800" dirty="0">
                <a:solidFill>
                  <a:srgbClr val="BFD2E8"/>
                </a:solidFill>
                <a:latin typeface="Aptos" pitchFamily="34" charset="0"/>
                <a:ea typeface="Aptos" pitchFamily="34" charset="-122"/>
                <a:cs typeface="Aptos" pitchFamily="34" charset="-120"/>
              </a:rPr>
              <a:t>01</a:t>
            </a:r>
            <a:endParaRPr lang="en-US" sz="800" dirty="0"/>
          </a:p>
        </p:txBody>
      </p:sp>
      <p:sp>
        <p:nvSpPr>
          <p:cNvPr id="34"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01 · THE CASE FOR CHANGE</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The complaint is easy. The accountability is not.</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Four failure modes make civic reporting slow, opaque, and hard to scale.</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THE PROBLEM</a:t>
            </a:r>
            <a:endParaRPr lang="en-US" sz="950" dirty="0"/>
          </a:p>
        </p:txBody>
      </p:sp>
      <p:sp>
        <p:nvSpPr>
          <p:cNvPr id="7" name="Shape 5"/>
          <p:cNvSpPr/>
          <p:nvPr/>
        </p:nvSpPr>
        <p:spPr>
          <a:xfrm>
            <a:off x="566928" y="1920240"/>
            <a:ext cx="2596896" cy="3246120"/>
          </a:xfrm>
          <a:prstGeom prst="roundRect">
            <a:avLst>
              <a:gd name="adj" fmla="val 4225"/>
            </a:avLst>
          </a:prstGeom>
          <a:solidFill>
            <a:srgbClr val="FFFFFF"/>
          </a:solidFill>
          <a:ln w="12700">
            <a:solidFill>
              <a:srgbClr val="D6DEE9"/>
            </a:solidFill>
            <a:prstDash val="solid"/>
          </a:ln>
        </p:spPr>
      </p:sp>
      <p:sp>
        <p:nvSpPr>
          <p:cNvPr id="8" name="Shape 6"/>
          <p:cNvSpPr/>
          <p:nvPr/>
        </p:nvSpPr>
        <p:spPr>
          <a:xfrm>
            <a:off x="749808" y="2139696"/>
            <a:ext cx="402336" cy="402336"/>
          </a:xfrm>
          <a:prstGeom prst="ellipse">
            <a:avLst/>
          </a:prstGeom>
          <a:solidFill>
            <a:srgbClr val="B24343"/>
          </a:solidFill>
          <a:ln w="12700">
            <a:solidFill>
              <a:srgbClr val="B24343"/>
            </a:solidFill>
            <a:prstDash val="solid"/>
          </a:ln>
        </p:spPr>
      </p:sp>
      <p:sp>
        <p:nvSpPr>
          <p:cNvPr id="9" name="Text 7"/>
          <p:cNvSpPr/>
          <p:nvPr/>
        </p:nvSpPr>
        <p:spPr>
          <a:xfrm>
            <a:off x="749808" y="2157984"/>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10" name="Text 8"/>
          <p:cNvSpPr/>
          <p:nvPr/>
        </p:nvSpPr>
        <p:spPr>
          <a:xfrm>
            <a:off x="1316736" y="2229058"/>
            <a:ext cx="1783080" cy="228600"/>
          </a:xfrm>
          <a:prstGeom prst="rect">
            <a:avLst/>
          </a:prstGeom>
          <a:noFill/>
          <a:ln/>
        </p:spPr>
        <p:txBody>
          <a:bodyPr wrap="square" lIns="0" tIns="0" rIns="0" bIns="0" rtlCol="0" anchor="ctr">
            <a:normAutofit/>
          </a:bodyPr>
          <a:lstStyle/>
          <a:p>
            <a:pPr marL="0" indent="0">
              <a:buNone/>
            </a:pPr>
            <a:r>
              <a:rPr lang="en-US" sz="1100" b="1" kern="0" spc="80" dirty="0">
                <a:solidFill>
                  <a:srgbClr val="B24343"/>
                </a:solidFill>
                <a:latin typeface="Aptos" pitchFamily="34" charset="0"/>
                <a:ea typeface="Aptos" pitchFamily="34" charset="-122"/>
                <a:cs typeface="Aptos" pitchFamily="34" charset="-120"/>
              </a:rPr>
              <a:t>MIS-ROUTED</a:t>
            </a:r>
            <a:endParaRPr lang="en-US" sz="1100" dirty="0"/>
          </a:p>
        </p:txBody>
      </p:sp>
      <p:sp>
        <p:nvSpPr>
          <p:cNvPr id="11" name="Text 9"/>
          <p:cNvSpPr/>
          <p:nvPr/>
        </p:nvSpPr>
        <p:spPr>
          <a:xfrm>
            <a:off x="749808" y="2688336"/>
            <a:ext cx="2212848" cy="1280160"/>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ptos" pitchFamily="34" charset="0"/>
                <a:ea typeface="Aptos" pitchFamily="34" charset="-122"/>
                <a:cs typeface="Aptos" pitchFamily="34" charset="-120"/>
              </a:rPr>
              <a:t>No automated, location-aware mapping to the responsible department.</a:t>
            </a:r>
            <a:endParaRPr lang="en-US" sz="1500" dirty="0"/>
          </a:p>
        </p:txBody>
      </p:sp>
      <p:sp>
        <p:nvSpPr>
          <p:cNvPr id="12" name="Shape 10"/>
          <p:cNvSpPr/>
          <p:nvPr/>
        </p:nvSpPr>
        <p:spPr>
          <a:xfrm>
            <a:off x="749808" y="4187952"/>
            <a:ext cx="2194560" cy="0"/>
          </a:xfrm>
          <a:prstGeom prst="line">
            <a:avLst/>
          </a:prstGeom>
          <a:noFill/>
          <a:ln w="12700">
            <a:solidFill>
              <a:srgbClr val="D6DEE9"/>
            </a:solidFill>
            <a:prstDash val="solid"/>
          </a:ln>
        </p:spPr>
      </p:sp>
      <p:sp>
        <p:nvSpPr>
          <p:cNvPr id="13" name="Text 11"/>
          <p:cNvSpPr/>
          <p:nvPr/>
        </p:nvSpPr>
        <p:spPr>
          <a:xfrm>
            <a:off x="749808" y="4370832"/>
            <a:ext cx="2194560" cy="228600"/>
          </a:xfrm>
          <a:prstGeom prst="rect">
            <a:avLst/>
          </a:prstGeom>
          <a:noFill/>
          <a:ln/>
        </p:spPr>
        <p:txBody>
          <a:bodyPr wrap="square" lIns="0" tIns="0" rIns="0" bIns="0" rtlCol="0" anchor="ctr">
            <a:normAutofit/>
          </a:bodyPr>
          <a:lstStyle/>
          <a:p>
            <a:pPr marL="0" indent="0">
              <a:buNone/>
            </a:pPr>
            <a:r>
              <a:rPr lang="en-US" sz="1050" dirty="0">
                <a:solidFill>
                  <a:srgbClr val="64748B"/>
                </a:solidFill>
                <a:latin typeface="Aptos" pitchFamily="34" charset="0"/>
                <a:ea typeface="Aptos" pitchFamily="34" charset="-122"/>
                <a:cs typeface="Aptos" pitchFamily="34" charset="-120"/>
              </a:rPr>
              <a:t>Wrong queue</a:t>
            </a:r>
            <a:endParaRPr lang="en-US" sz="1050" dirty="0"/>
          </a:p>
        </p:txBody>
      </p:sp>
      <p:sp>
        <p:nvSpPr>
          <p:cNvPr id="14" name="Shape 12"/>
          <p:cNvSpPr/>
          <p:nvPr/>
        </p:nvSpPr>
        <p:spPr>
          <a:xfrm>
            <a:off x="3383280" y="1920240"/>
            <a:ext cx="2596896" cy="3246120"/>
          </a:xfrm>
          <a:prstGeom prst="roundRect">
            <a:avLst>
              <a:gd name="adj" fmla="val 4225"/>
            </a:avLst>
          </a:prstGeom>
          <a:solidFill>
            <a:srgbClr val="FFFFFF"/>
          </a:solidFill>
          <a:ln w="12700">
            <a:solidFill>
              <a:srgbClr val="D6DEE9"/>
            </a:solidFill>
            <a:prstDash val="solid"/>
          </a:ln>
        </p:spPr>
      </p:sp>
      <p:sp>
        <p:nvSpPr>
          <p:cNvPr id="15" name="Shape 13"/>
          <p:cNvSpPr/>
          <p:nvPr/>
        </p:nvSpPr>
        <p:spPr>
          <a:xfrm>
            <a:off x="3566160" y="2139696"/>
            <a:ext cx="402336" cy="402336"/>
          </a:xfrm>
          <a:prstGeom prst="ellipse">
            <a:avLst/>
          </a:prstGeom>
          <a:solidFill>
            <a:srgbClr val="B7791F"/>
          </a:solidFill>
          <a:ln w="12700">
            <a:solidFill>
              <a:srgbClr val="B7791F"/>
            </a:solidFill>
            <a:prstDash val="solid"/>
          </a:ln>
        </p:spPr>
      </p:sp>
      <p:sp>
        <p:nvSpPr>
          <p:cNvPr id="16" name="Text 14"/>
          <p:cNvSpPr/>
          <p:nvPr/>
        </p:nvSpPr>
        <p:spPr>
          <a:xfrm>
            <a:off x="3566160" y="2157984"/>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17" name="Text 15"/>
          <p:cNvSpPr/>
          <p:nvPr/>
        </p:nvSpPr>
        <p:spPr>
          <a:xfrm>
            <a:off x="4110228" y="2221992"/>
            <a:ext cx="1783080" cy="228600"/>
          </a:xfrm>
          <a:prstGeom prst="rect">
            <a:avLst/>
          </a:prstGeom>
          <a:noFill/>
          <a:ln/>
        </p:spPr>
        <p:txBody>
          <a:bodyPr wrap="square" lIns="0" tIns="0" rIns="0" bIns="0" rtlCol="0" anchor="ctr">
            <a:normAutofit/>
          </a:bodyPr>
          <a:lstStyle/>
          <a:p>
            <a:pPr marL="0" indent="0">
              <a:buNone/>
            </a:pPr>
            <a:r>
              <a:rPr lang="en-US" sz="1100" b="1" kern="0" spc="80" dirty="0">
                <a:solidFill>
                  <a:srgbClr val="B7791F"/>
                </a:solidFill>
                <a:latin typeface="Aptos" pitchFamily="34" charset="0"/>
                <a:ea typeface="Aptos" pitchFamily="34" charset="-122"/>
                <a:cs typeface="Aptos" pitchFamily="34" charset="-120"/>
              </a:rPr>
              <a:t>NO LIVE STATUS</a:t>
            </a:r>
            <a:endParaRPr lang="en-US" sz="1100" dirty="0"/>
          </a:p>
        </p:txBody>
      </p:sp>
      <p:sp>
        <p:nvSpPr>
          <p:cNvPr id="18" name="Text 16"/>
          <p:cNvSpPr/>
          <p:nvPr/>
        </p:nvSpPr>
        <p:spPr>
          <a:xfrm>
            <a:off x="3566160" y="2688336"/>
            <a:ext cx="2212848" cy="1280160"/>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ptos" pitchFamily="34" charset="0"/>
                <a:ea typeface="Aptos" pitchFamily="34" charset="-122"/>
                <a:cs typeface="Aptos" pitchFamily="34" charset="-120"/>
              </a:rPr>
              <a:t>Citizens cannot see who last acted, what changed, or when.</a:t>
            </a:r>
            <a:endParaRPr lang="en-US" sz="1500" dirty="0"/>
          </a:p>
        </p:txBody>
      </p:sp>
      <p:sp>
        <p:nvSpPr>
          <p:cNvPr id="19" name="Shape 17"/>
          <p:cNvSpPr/>
          <p:nvPr/>
        </p:nvSpPr>
        <p:spPr>
          <a:xfrm>
            <a:off x="3566160" y="4187952"/>
            <a:ext cx="2194560" cy="0"/>
          </a:xfrm>
          <a:prstGeom prst="line">
            <a:avLst/>
          </a:prstGeom>
          <a:noFill/>
          <a:ln w="12700">
            <a:solidFill>
              <a:srgbClr val="D6DEE9"/>
            </a:solidFill>
            <a:prstDash val="solid"/>
          </a:ln>
        </p:spPr>
      </p:sp>
      <p:sp>
        <p:nvSpPr>
          <p:cNvPr id="20" name="Text 18"/>
          <p:cNvSpPr/>
          <p:nvPr/>
        </p:nvSpPr>
        <p:spPr>
          <a:xfrm>
            <a:off x="3566160" y="4370832"/>
            <a:ext cx="2194560" cy="228600"/>
          </a:xfrm>
          <a:prstGeom prst="rect">
            <a:avLst/>
          </a:prstGeom>
          <a:noFill/>
          <a:ln/>
        </p:spPr>
        <p:txBody>
          <a:bodyPr wrap="square" lIns="0" tIns="0" rIns="0" bIns="0" rtlCol="0" anchor="ctr">
            <a:normAutofit/>
          </a:bodyPr>
          <a:lstStyle/>
          <a:p>
            <a:pPr marL="0" indent="0">
              <a:buNone/>
            </a:pPr>
            <a:r>
              <a:rPr lang="en-US" sz="1050" dirty="0">
                <a:solidFill>
                  <a:srgbClr val="64748B"/>
                </a:solidFill>
                <a:latin typeface="Aptos" pitchFamily="34" charset="0"/>
                <a:ea typeface="Aptos" pitchFamily="34" charset="-122"/>
                <a:cs typeface="Aptos" pitchFamily="34" charset="-120"/>
              </a:rPr>
              <a:t>No visibility</a:t>
            </a:r>
            <a:endParaRPr lang="en-US" sz="1050" dirty="0"/>
          </a:p>
        </p:txBody>
      </p:sp>
      <p:sp>
        <p:nvSpPr>
          <p:cNvPr id="21" name="Shape 19"/>
          <p:cNvSpPr/>
          <p:nvPr/>
        </p:nvSpPr>
        <p:spPr>
          <a:xfrm>
            <a:off x="6199632" y="1920240"/>
            <a:ext cx="2596896" cy="3246120"/>
          </a:xfrm>
          <a:prstGeom prst="roundRect">
            <a:avLst>
              <a:gd name="adj" fmla="val 4225"/>
            </a:avLst>
          </a:prstGeom>
          <a:solidFill>
            <a:srgbClr val="FFFFFF"/>
          </a:solidFill>
          <a:ln w="12700">
            <a:solidFill>
              <a:srgbClr val="D6DEE9"/>
            </a:solidFill>
            <a:prstDash val="solid"/>
          </a:ln>
        </p:spPr>
      </p:sp>
      <p:sp>
        <p:nvSpPr>
          <p:cNvPr id="22" name="Shape 20"/>
          <p:cNvSpPr/>
          <p:nvPr/>
        </p:nvSpPr>
        <p:spPr>
          <a:xfrm>
            <a:off x="6382512" y="2139696"/>
            <a:ext cx="402336" cy="402336"/>
          </a:xfrm>
          <a:prstGeom prst="ellipse">
            <a:avLst/>
          </a:prstGeom>
          <a:solidFill>
            <a:srgbClr val="6E5AA6"/>
          </a:solidFill>
          <a:ln w="12700">
            <a:solidFill>
              <a:srgbClr val="6E5AA6"/>
            </a:solidFill>
            <a:prstDash val="solid"/>
          </a:ln>
        </p:spPr>
      </p:sp>
      <p:sp>
        <p:nvSpPr>
          <p:cNvPr id="23" name="Text 21"/>
          <p:cNvSpPr/>
          <p:nvPr/>
        </p:nvSpPr>
        <p:spPr>
          <a:xfrm>
            <a:off x="6382512" y="2157984"/>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03</a:t>
            </a:r>
            <a:endParaRPr lang="en-US" sz="1100" dirty="0"/>
          </a:p>
        </p:txBody>
      </p:sp>
      <p:sp>
        <p:nvSpPr>
          <p:cNvPr id="24" name="Text 22"/>
          <p:cNvSpPr/>
          <p:nvPr/>
        </p:nvSpPr>
        <p:spPr>
          <a:xfrm>
            <a:off x="6899148" y="2215342"/>
            <a:ext cx="1783080" cy="228600"/>
          </a:xfrm>
          <a:prstGeom prst="rect">
            <a:avLst/>
          </a:prstGeom>
          <a:noFill/>
          <a:ln/>
        </p:spPr>
        <p:txBody>
          <a:bodyPr wrap="square" lIns="0" tIns="0" rIns="0" bIns="0" rtlCol="0" anchor="ctr">
            <a:normAutofit fontScale="85000" lnSpcReduction="10000"/>
          </a:bodyPr>
          <a:lstStyle/>
          <a:p>
            <a:pPr marL="0" indent="0">
              <a:buNone/>
            </a:pPr>
            <a:r>
              <a:rPr lang="en-US" sz="1100" b="1" kern="0" spc="80" dirty="0">
                <a:solidFill>
                  <a:srgbClr val="6E5AA6"/>
                </a:solidFill>
                <a:latin typeface="Aptos" pitchFamily="34" charset="0"/>
                <a:ea typeface="Aptos" pitchFamily="34" charset="-122"/>
                <a:cs typeface="Aptos" pitchFamily="34" charset="-120"/>
              </a:rPr>
              <a:t>NO STRUCTURAL DEADLINE</a:t>
            </a:r>
            <a:endParaRPr lang="en-US" sz="1100" dirty="0"/>
          </a:p>
        </p:txBody>
      </p:sp>
      <p:sp>
        <p:nvSpPr>
          <p:cNvPr id="25" name="Text 23"/>
          <p:cNvSpPr/>
          <p:nvPr/>
        </p:nvSpPr>
        <p:spPr>
          <a:xfrm>
            <a:off x="6382512" y="2688336"/>
            <a:ext cx="2212848" cy="1280160"/>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ptos" pitchFamily="34" charset="0"/>
                <a:ea typeface="Aptos" pitchFamily="34" charset="-122"/>
                <a:cs typeface="Aptos" pitchFamily="34" charset="-120"/>
              </a:rPr>
              <a:t>Resolution timelines are discretionary; breaches are not auto-escalated.</a:t>
            </a:r>
            <a:endParaRPr lang="en-US" sz="1500" dirty="0"/>
          </a:p>
        </p:txBody>
      </p:sp>
      <p:sp>
        <p:nvSpPr>
          <p:cNvPr id="26" name="Shape 24"/>
          <p:cNvSpPr/>
          <p:nvPr/>
        </p:nvSpPr>
        <p:spPr>
          <a:xfrm>
            <a:off x="6382512" y="4187952"/>
            <a:ext cx="2194560" cy="0"/>
          </a:xfrm>
          <a:prstGeom prst="line">
            <a:avLst/>
          </a:prstGeom>
          <a:noFill/>
          <a:ln w="12700">
            <a:solidFill>
              <a:srgbClr val="D6DEE9"/>
            </a:solidFill>
            <a:prstDash val="solid"/>
          </a:ln>
        </p:spPr>
      </p:sp>
      <p:sp>
        <p:nvSpPr>
          <p:cNvPr id="27" name="Text 25"/>
          <p:cNvSpPr/>
          <p:nvPr/>
        </p:nvSpPr>
        <p:spPr>
          <a:xfrm>
            <a:off x="6382512" y="4370832"/>
            <a:ext cx="2194560" cy="228600"/>
          </a:xfrm>
          <a:prstGeom prst="rect">
            <a:avLst/>
          </a:prstGeom>
          <a:noFill/>
          <a:ln/>
        </p:spPr>
        <p:txBody>
          <a:bodyPr wrap="square" lIns="0" tIns="0" rIns="0" bIns="0" rtlCol="0" anchor="ctr">
            <a:normAutofit/>
          </a:bodyPr>
          <a:lstStyle/>
          <a:p>
            <a:pPr marL="0" indent="0">
              <a:buNone/>
            </a:pPr>
            <a:r>
              <a:rPr lang="en-US" sz="1050" dirty="0">
                <a:solidFill>
                  <a:srgbClr val="64748B"/>
                </a:solidFill>
                <a:latin typeface="Aptos" pitchFamily="34" charset="0"/>
                <a:ea typeface="Aptos" pitchFamily="34" charset="-122"/>
                <a:cs typeface="Aptos" pitchFamily="34" charset="-120"/>
              </a:rPr>
              <a:t>No enforcement</a:t>
            </a:r>
            <a:endParaRPr lang="en-US" sz="1050" dirty="0"/>
          </a:p>
        </p:txBody>
      </p:sp>
      <p:sp>
        <p:nvSpPr>
          <p:cNvPr id="28" name="Shape 26"/>
          <p:cNvSpPr/>
          <p:nvPr/>
        </p:nvSpPr>
        <p:spPr>
          <a:xfrm>
            <a:off x="9015984" y="1920240"/>
            <a:ext cx="2596896" cy="3246120"/>
          </a:xfrm>
          <a:prstGeom prst="roundRect">
            <a:avLst>
              <a:gd name="adj" fmla="val 4225"/>
            </a:avLst>
          </a:prstGeom>
          <a:solidFill>
            <a:srgbClr val="FFFFFF"/>
          </a:solidFill>
          <a:ln w="12700">
            <a:solidFill>
              <a:srgbClr val="D6DEE9"/>
            </a:solidFill>
            <a:prstDash val="solid"/>
          </a:ln>
        </p:spPr>
      </p:sp>
      <p:sp>
        <p:nvSpPr>
          <p:cNvPr id="29" name="Shape 27"/>
          <p:cNvSpPr/>
          <p:nvPr/>
        </p:nvSpPr>
        <p:spPr>
          <a:xfrm>
            <a:off x="9198864" y="2139696"/>
            <a:ext cx="402336" cy="402336"/>
          </a:xfrm>
          <a:prstGeom prst="ellipse">
            <a:avLst/>
          </a:prstGeom>
          <a:solidFill>
            <a:srgbClr val="2F7D59"/>
          </a:solidFill>
          <a:ln w="12700">
            <a:solidFill>
              <a:srgbClr val="2F7D59"/>
            </a:solidFill>
            <a:prstDash val="solid"/>
          </a:ln>
        </p:spPr>
      </p:sp>
      <p:sp>
        <p:nvSpPr>
          <p:cNvPr id="30" name="Text 28"/>
          <p:cNvSpPr/>
          <p:nvPr/>
        </p:nvSpPr>
        <p:spPr>
          <a:xfrm>
            <a:off x="9198864" y="2157984"/>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04</a:t>
            </a:r>
            <a:endParaRPr lang="en-US" sz="1100" dirty="0"/>
          </a:p>
        </p:txBody>
      </p:sp>
      <p:sp>
        <p:nvSpPr>
          <p:cNvPr id="31" name="Text 29"/>
          <p:cNvSpPr/>
          <p:nvPr/>
        </p:nvSpPr>
        <p:spPr>
          <a:xfrm>
            <a:off x="9715500" y="2202457"/>
            <a:ext cx="1783080" cy="228600"/>
          </a:xfrm>
          <a:prstGeom prst="rect">
            <a:avLst/>
          </a:prstGeom>
          <a:noFill/>
          <a:ln/>
        </p:spPr>
        <p:txBody>
          <a:bodyPr wrap="square" lIns="0" tIns="0" rIns="0" bIns="0" rtlCol="0" anchor="ctr">
            <a:normAutofit/>
          </a:bodyPr>
          <a:lstStyle/>
          <a:p>
            <a:pPr marL="0" indent="0">
              <a:buNone/>
            </a:pPr>
            <a:r>
              <a:rPr lang="en-US" sz="1100" b="1" kern="0" spc="80" dirty="0">
                <a:solidFill>
                  <a:srgbClr val="2F7D59"/>
                </a:solidFill>
                <a:latin typeface="Aptos" pitchFamily="34" charset="0"/>
                <a:ea typeface="Aptos" pitchFamily="34" charset="-122"/>
                <a:cs typeface="Aptos" pitchFamily="34" charset="-120"/>
              </a:rPr>
              <a:t>SPAM / FLOODING</a:t>
            </a:r>
            <a:endParaRPr lang="en-US" sz="1100" dirty="0"/>
          </a:p>
        </p:txBody>
      </p:sp>
      <p:sp>
        <p:nvSpPr>
          <p:cNvPr id="32" name="Text 30"/>
          <p:cNvSpPr/>
          <p:nvPr/>
        </p:nvSpPr>
        <p:spPr>
          <a:xfrm>
            <a:off x="9198864" y="2688336"/>
            <a:ext cx="2212848" cy="1280160"/>
          </a:xfrm>
          <a:prstGeom prst="rect">
            <a:avLst/>
          </a:prstGeom>
          <a:noFill/>
          <a:ln/>
        </p:spPr>
        <p:txBody>
          <a:bodyPr wrap="square" lIns="0" tIns="0" rIns="0" bIns="0" rtlCol="0" anchor="ctr">
            <a:normAutofit/>
          </a:bodyPr>
          <a:lstStyle/>
          <a:p>
            <a:pPr marL="0" indent="0">
              <a:buNone/>
            </a:pPr>
            <a:r>
              <a:rPr lang="en-US" sz="1500" b="1" dirty="0">
                <a:solidFill>
                  <a:srgbClr val="0F172A"/>
                </a:solidFill>
                <a:latin typeface="Aptos" pitchFamily="34" charset="0"/>
                <a:ea typeface="Aptos" pitchFamily="34" charset="-122"/>
                <a:cs typeface="Aptos" pitchFamily="34" charset="-120"/>
              </a:rPr>
              <a:t>Open submission invites abuse that manual moderation cannot scale to.</a:t>
            </a:r>
            <a:endParaRPr lang="en-US" sz="1500" dirty="0"/>
          </a:p>
        </p:txBody>
      </p:sp>
      <p:sp>
        <p:nvSpPr>
          <p:cNvPr id="33" name="Shape 31"/>
          <p:cNvSpPr/>
          <p:nvPr/>
        </p:nvSpPr>
        <p:spPr>
          <a:xfrm>
            <a:off x="9198864" y="4187952"/>
            <a:ext cx="2194560" cy="0"/>
          </a:xfrm>
          <a:prstGeom prst="line">
            <a:avLst/>
          </a:prstGeom>
          <a:noFill/>
          <a:ln w="12700">
            <a:solidFill>
              <a:srgbClr val="D6DEE9"/>
            </a:solidFill>
            <a:prstDash val="solid"/>
          </a:ln>
        </p:spPr>
      </p:sp>
      <p:sp>
        <p:nvSpPr>
          <p:cNvPr id="34" name="Text 32"/>
          <p:cNvSpPr/>
          <p:nvPr/>
        </p:nvSpPr>
        <p:spPr>
          <a:xfrm>
            <a:off x="9198864" y="4370832"/>
            <a:ext cx="2194560" cy="228600"/>
          </a:xfrm>
          <a:prstGeom prst="rect">
            <a:avLst/>
          </a:prstGeom>
          <a:noFill/>
          <a:ln/>
        </p:spPr>
        <p:txBody>
          <a:bodyPr wrap="square" lIns="0" tIns="0" rIns="0" bIns="0" rtlCol="0" anchor="ctr">
            <a:normAutofit/>
          </a:bodyPr>
          <a:lstStyle/>
          <a:p>
            <a:pPr marL="0" indent="0">
              <a:buNone/>
            </a:pPr>
            <a:r>
              <a:rPr lang="en-US" sz="1050" dirty="0">
                <a:solidFill>
                  <a:srgbClr val="64748B"/>
                </a:solidFill>
                <a:latin typeface="Aptos" pitchFamily="34" charset="0"/>
                <a:ea typeface="Aptos" pitchFamily="34" charset="-122"/>
                <a:cs typeface="Aptos" pitchFamily="34" charset="-120"/>
              </a:rPr>
              <a:t>No scalable trust</a:t>
            </a:r>
            <a:endParaRPr lang="en-US" sz="1050" dirty="0"/>
          </a:p>
        </p:txBody>
      </p:sp>
      <p:sp>
        <p:nvSpPr>
          <p:cNvPr id="35" name="Shape 33"/>
          <p:cNvSpPr/>
          <p:nvPr/>
        </p:nvSpPr>
        <p:spPr>
          <a:xfrm>
            <a:off x="566928" y="5468112"/>
            <a:ext cx="11027664" cy="585216"/>
          </a:xfrm>
          <a:prstGeom prst="roundRect">
            <a:avLst>
              <a:gd name="adj" fmla="val 18750"/>
            </a:avLst>
          </a:prstGeom>
          <a:solidFill>
            <a:srgbClr val="183B6B"/>
          </a:solidFill>
          <a:ln w="12700">
            <a:solidFill>
              <a:srgbClr val="183B6B"/>
            </a:solidFill>
            <a:prstDash val="solid"/>
          </a:ln>
        </p:spPr>
      </p:sp>
      <p:sp>
        <p:nvSpPr>
          <p:cNvPr id="36" name="Text 34"/>
          <p:cNvSpPr/>
          <p:nvPr/>
        </p:nvSpPr>
        <p:spPr>
          <a:xfrm>
            <a:off x="768096" y="5632704"/>
            <a:ext cx="10652760" cy="21945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Design response → remove ambiguity from routing, make deadlines automatic, and build trust controls into the workflow.</a:t>
            </a:r>
            <a:endParaRPr lang="en-US" sz="1300" dirty="0"/>
          </a:p>
        </p:txBody>
      </p:sp>
      <p:sp>
        <p:nvSpPr>
          <p:cNvPr id="37"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02 · THE SOLUTION</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One fast front door. A structured path behind it.</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The citizen gets immediate confirmation; the heavy work runs asynchronously.</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ONE FLOW</a:t>
            </a:r>
            <a:endParaRPr lang="en-US" sz="950" dirty="0"/>
          </a:p>
        </p:txBody>
      </p:sp>
      <p:sp>
        <p:nvSpPr>
          <p:cNvPr id="7" name="Shape 5"/>
          <p:cNvSpPr/>
          <p:nvPr/>
        </p:nvSpPr>
        <p:spPr>
          <a:xfrm>
            <a:off x="566928" y="2148840"/>
            <a:ext cx="1572768" cy="749808"/>
          </a:xfrm>
          <a:prstGeom prst="roundRect">
            <a:avLst>
              <a:gd name="adj" fmla="val 14634"/>
            </a:avLst>
          </a:prstGeom>
          <a:solidFill>
            <a:srgbClr val="183B6B"/>
          </a:solidFill>
          <a:ln w="12700">
            <a:solidFill>
              <a:srgbClr val="183B6B"/>
            </a:solidFill>
            <a:prstDash val="solid"/>
          </a:ln>
        </p:spPr>
      </p:sp>
      <p:sp>
        <p:nvSpPr>
          <p:cNvPr id="8" name="Text 6"/>
          <p:cNvSpPr/>
          <p:nvPr/>
        </p:nvSpPr>
        <p:spPr>
          <a:xfrm>
            <a:off x="658368" y="2240280"/>
            <a:ext cx="1389888" cy="56692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Capture</a:t>
            </a:r>
            <a:endParaRPr lang="en-US" sz="1300" dirty="0"/>
          </a:p>
        </p:txBody>
      </p:sp>
      <p:sp>
        <p:nvSpPr>
          <p:cNvPr id="9" name="Text 7"/>
          <p:cNvSpPr/>
          <p:nvPr/>
        </p:nvSpPr>
        <p:spPr>
          <a:xfrm>
            <a:off x="640080" y="2980944"/>
            <a:ext cx="1426464" cy="301752"/>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Live camera</a:t>
            </a:r>
            <a:endParaRPr lang="en-US" sz="950" dirty="0"/>
          </a:p>
        </p:txBody>
      </p:sp>
      <p:sp>
        <p:nvSpPr>
          <p:cNvPr id="10" name="Shape 8"/>
          <p:cNvSpPr/>
          <p:nvPr/>
        </p:nvSpPr>
        <p:spPr>
          <a:xfrm>
            <a:off x="2157984" y="2523744"/>
            <a:ext cx="347472" cy="0"/>
          </a:xfrm>
          <a:prstGeom prst="line">
            <a:avLst/>
          </a:prstGeom>
          <a:noFill/>
          <a:ln w="21590">
            <a:solidFill>
              <a:srgbClr val="2F5D9B"/>
            </a:solidFill>
            <a:prstDash val="solid"/>
            <a:headEnd type="none"/>
            <a:tailEnd type="triangle"/>
          </a:ln>
        </p:spPr>
      </p:sp>
      <p:sp>
        <p:nvSpPr>
          <p:cNvPr id="11" name="Shape 9"/>
          <p:cNvSpPr/>
          <p:nvPr/>
        </p:nvSpPr>
        <p:spPr>
          <a:xfrm>
            <a:off x="2441448" y="2148840"/>
            <a:ext cx="1572768" cy="749808"/>
          </a:xfrm>
          <a:prstGeom prst="roundRect">
            <a:avLst>
              <a:gd name="adj" fmla="val 14634"/>
            </a:avLst>
          </a:prstGeom>
          <a:solidFill>
            <a:srgbClr val="FFFFFF"/>
          </a:solidFill>
          <a:ln w="12700">
            <a:solidFill>
              <a:srgbClr val="D6DEE9"/>
            </a:solidFill>
            <a:prstDash val="solid"/>
          </a:ln>
        </p:spPr>
      </p:sp>
      <p:sp>
        <p:nvSpPr>
          <p:cNvPr id="12" name="Text 10"/>
          <p:cNvSpPr/>
          <p:nvPr/>
        </p:nvSpPr>
        <p:spPr>
          <a:xfrm>
            <a:off x="2532888" y="2240280"/>
            <a:ext cx="1389888" cy="566928"/>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Classify</a:t>
            </a:r>
            <a:endParaRPr lang="en-US" sz="1300" dirty="0"/>
          </a:p>
        </p:txBody>
      </p:sp>
      <p:sp>
        <p:nvSpPr>
          <p:cNvPr id="13" name="Text 11"/>
          <p:cNvSpPr/>
          <p:nvPr/>
        </p:nvSpPr>
        <p:spPr>
          <a:xfrm>
            <a:off x="2514600" y="2980944"/>
            <a:ext cx="1426464" cy="301752"/>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AI + confidence</a:t>
            </a:r>
            <a:endParaRPr lang="en-US" sz="950" dirty="0"/>
          </a:p>
        </p:txBody>
      </p:sp>
      <p:sp>
        <p:nvSpPr>
          <p:cNvPr id="14" name="Shape 12"/>
          <p:cNvSpPr/>
          <p:nvPr/>
        </p:nvSpPr>
        <p:spPr>
          <a:xfrm>
            <a:off x="4032504" y="2523744"/>
            <a:ext cx="347472" cy="0"/>
          </a:xfrm>
          <a:prstGeom prst="line">
            <a:avLst/>
          </a:prstGeom>
          <a:noFill/>
          <a:ln w="21590">
            <a:solidFill>
              <a:srgbClr val="2F5D9B"/>
            </a:solidFill>
            <a:prstDash val="solid"/>
            <a:headEnd type="none"/>
            <a:tailEnd type="triangle"/>
          </a:ln>
        </p:spPr>
      </p:sp>
      <p:sp>
        <p:nvSpPr>
          <p:cNvPr id="15" name="Shape 13"/>
          <p:cNvSpPr/>
          <p:nvPr/>
        </p:nvSpPr>
        <p:spPr>
          <a:xfrm>
            <a:off x="4315968" y="2148840"/>
            <a:ext cx="1572768" cy="749808"/>
          </a:xfrm>
          <a:prstGeom prst="roundRect">
            <a:avLst>
              <a:gd name="adj" fmla="val 14634"/>
            </a:avLst>
          </a:prstGeom>
          <a:solidFill>
            <a:srgbClr val="FFFFFF"/>
          </a:solidFill>
          <a:ln w="12700">
            <a:solidFill>
              <a:srgbClr val="D6DEE9"/>
            </a:solidFill>
            <a:prstDash val="solid"/>
          </a:ln>
        </p:spPr>
      </p:sp>
      <p:sp>
        <p:nvSpPr>
          <p:cNvPr id="16" name="Text 14"/>
          <p:cNvSpPr/>
          <p:nvPr/>
        </p:nvSpPr>
        <p:spPr>
          <a:xfrm>
            <a:off x="4407408" y="2240280"/>
            <a:ext cx="1389888" cy="566928"/>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Geofence</a:t>
            </a:r>
            <a:endParaRPr lang="en-US" sz="1300" dirty="0"/>
          </a:p>
        </p:txBody>
      </p:sp>
      <p:sp>
        <p:nvSpPr>
          <p:cNvPr id="17" name="Text 15"/>
          <p:cNvSpPr/>
          <p:nvPr/>
        </p:nvSpPr>
        <p:spPr>
          <a:xfrm>
            <a:off x="4389120" y="2980944"/>
            <a:ext cx="1426464" cy="301752"/>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Ward via PostGIS</a:t>
            </a:r>
            <a:endParaRPr lang="en-US" sz="950" dirty="0"/>
          </a:p>
        </p:txBody>
      </p:sp>
      <p:sp>
        <p:nvSpPr>
          <p:cNvPr id="18" name="Shape 16"/>
          <p:cNvSpPr/>
          <p:nvPr/>
        </p:nvSpPr>
        <p:spPr>
          <a:xfrm>
            <a:off x="5907024" y="2523744"/>
            <a:ext cx="347472" cy="0"/>
          </a:xfrm>
          <a:prstGeom prst="line">
            <a:avLst/>
          </a:prstGeom>
          <a:noFill/>
          <a:ln w="21590">
            <a:solidFill>
              <a:srgbClr val="2F5D9B"/>
            </a:solidFill>
            <a:prstDash val="solid"/>
            <a:headEnd type="none"/>
            <a:tailEnd type="triangle"/>
          </a:ln>
        </p:spPr>
      </p:sp>
      <p:sp>
        <p:nvSpPr>
          <p:cNvPr id="19" name="Shape 17"/>
          <p:cNvSpPr/>
          <p:nvPr/>
        </p:nvSpPr>
        <p:spPr>
          <a:xfrm>
            <a:off x="6190488" y="2148840"/>
            <a:ext cx="1572768" cy="749808"/>
          </a:xfrm>
          <a:prstGeom prst="roundRect">
            <a:avLst>
              <a:gd name="adj" fmla="val 14634"/>
            </a:avLst>
          </a:prstGeom>
          <a:solidFill>
            <a:srgbClr val="FFFFFF"/>
          </a:solidFill>
          <a:ln w="12700">
            <a:solidFill>
              <a:srgbClr val="D6DEE9"/>
            </a:solidFill>
            <a:prstDash val="solid"/>
          </a:ln>
        </p:spPr>
      </p:sp>
      <p:sp>
        <p:nvSpPr>
          <p:cNvPr id="20" name="Text 18"/>
          <p:cNvSpPr/>
          <p:nvPr/>
        </p:nvSpPr>
        <p:spPr>
          <a:xfrm>
            <a:off x="6281928" y="2240280"/>
            <a:ext cx="1389888" cy="566928"/>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Route</a:t>
            </a:r>
            <a:endParaRPr lang="en-US" sz="1300" dirty="0"/>
          </a:p>
        </p:txBody>
      </p:sp>
      <p:sp>
        <p:nvSpPr>
          <p:cNvPr id="21" name="Text 19"/>
          <p:cNvSpPr/>
          <p:nvPr/>
        </p:nvSpPr>
        <p:spPr>
          <a:xfrm>
            <a:off x="6263640" y="2980944"/>
            <a:ext cx="1426464" cy="301752"/>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Department + official</a:t>
            </a:r>
            <a:endParaRPr lang="en-US" sz="950" dirty="0"/>
          </a:p>
        </p:txBody>
      </p:sp>
      <p:sp>
        <p:nvSpPr>
          <p:cNvPr id="22" name="Shape 20"/>
          <p:cNvSpPr/>
          <p:nvPr/>
        </p:nvSpPr>
        <p:spPr>
          <a:xfrm>
            <a:off x="7781544" y="2523744"/>
            <a:ext cx="347472" cy="0"/>
          </a:xfrm>
          <a:prstGeom prst="line">
            <a:avLst/>
          </a:prstGeom>
          <a:noFill/>
          <a:ln w="21590">
            <a:solidFill>
              <a:srgbClr val="2F5D9B"/>
            </a:solidFill>
            <a:prstDash val="solid"/>
            <a:headEnd type="none"/>
            <a:tailEnd type="triangle"/>
          </a:ln>
        </p:spPr>
      </p:sp>
      <p:sp>
        <p:nvSpPr>
          <p:cNvPr id="23" name="Shape 21"/>
          <p:cNvSpPr/>
          <p:nvPr/>
        </p:nvSpPr>
        <p:spPr>
          <a:xfrm>
            <a:off x="8065008" y="2148840"/>
            <a:ext cx="1572768" cy="749808"/>
          </a:xfrm>
          <a:prstGeom prst="roundRect">
            <a:avLst>
              <a:gd name="adj" fmla="val 14634"/>
            </a:avLst>
          </a:prstGeom>
          <a:solidFill>
            <a:srgbClr val="FFFFFF"/>
          </a:solidFill>
          <a:ln w="12700">
            <a:solidFill>
              <a:srgbClr val="D6DEE9"/>
            </a:solidFill>
            <a:prstDash val="solid"/>
          </a:ln>
        </p:spPr>
      </p:sp>
      <p:sp>
        <p:nvSpPr>
          <p:cNvPr id="24" name="Text 22"/>
          <p:cNvSpPr/>
          <p:nvPr/>
        </p:nvSpPr>
        <p:spPr>
          <a:xfrm>
            <a:off x="8156448" y="2240280"/>
            <a:ext cx="1389888" cy="566928"/>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Time</a:t>
            </a:r>
            <a:endParaRPr lang="en-US" sz="1300" dirty="0"/>
          </a:p>
        </p:txBody>
      </p:sp>
      <p:sp>
        <p:nvSpPr>
          <p:cNvPr id="25" name="Text 23"/>
          <p:cNvSpPr/>
          <p:nvPr/>
        </p:nvSpPr>
        <p:spPr>
          <a:xfrm>
            <a:off x="8138160" y="2980944"/>
            <a:ext cx="1426464" cy="301752"/>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SLA clock</a:t>
            </a:r>
            <a:endParaRPr lang="en-US" sz="950" dirty="0"/>
          </a:p>
        </p:txBody>
      </p:sp>
      <p:sp>
        <p:nvSpPr>
          <p:cNvPr id="26" name="Shape 24"/>
          <p:cNvSpPr/>
          <p:nvPr/>
        </p:nvSpPr>
        <p:spPr>
          <a:xfrm>
            <a:off x="9656064" y="2523744"/>
            <a:ext cx="347472" cy="0"/>
          </a:xfrm>
          <a:prstGeom prst="line">
            <a:avLst/>
          </a:prstGeom>
          <a:noFill/>
          <a:ln w="21590">
            <a:solidFill>
              <a:srgbClr val="2F5D9B"/>
            </a:solidFill>
            <a:prstDash val="solid"/>
            <a:headEnd type="none"/>
            <a:tailEnd type="triangle"/>
          </a:ln>
        </p:spPr>
      </p:sp>
      <p:sp>
        <p:nvSpPr>
          <p:cNvPr id="27" name="Shape 25"/>
          <p:cNvSpPr/>
          <p:nvPr/>
        </p:nvSpPr>
        <p:spPr>
          <a:xfrm>
            <a:off x="9939528" y="2148840"/>
            <a:ext cx="1572768" cy="749808"/>
          </a:xfrm>
          <a:prstGeom prst="roundRect">
            <a:avLst>
              <a:gd name="adj" fmla="val 14634"/>
            </a:avLst>
          </a:prstGeom>
          <a:solidFill>
            <a:srgbClr val="FFFFFF"/>
          </a:solidFill>
          <a:ln w="12700">
            <a:solidFill>
              <a:srgbClr val="D6DEE9"/>
            </a:solidFill>
            <a:prstDash val="solid"/>
          </a:ln>
        </p:spPr>
      </p:sp>
      <p:sp>
        <p:nvSpPr>
          <p:cNvPr id="28" name="Text 26"/>
          <p:cNvSpPr/>
          <p:nvPr/>
        </p:nvSpPr>
        <p:spPr>
          <a:xfrm>
            <a:off x="10030968" y="2240280"/>
            <a:ext cx="1389888" cy="566928"/>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ptos" pitchFamily="34" charset="0"/>
                <a:ea typeface="Aptos" pitchFamily="34" charset="-122"/>
                <a:cs typeface="Aptos" pitchFamily="34" charset="-120"/>
              </a:rPr>
              <a:t>Prove</a:t>
            </a:r>
            <a:endParaRPr lang="en-US" sz="1300" dirty="0"/>
          </a:p>
        </p:txBody>
      </p:sp>
      <p:sp>
        <p:nvSpPr>
          <p:cNvPr id="29" name="Text 27"/>
          <p:cNvSpPr/>
          <p:nvPr/>
        </p:nvSpPr>
        <p:spPr>
          <a:xfrm>
            <a:off x="10012680" y="2980944"/>
            <a:ext cx="1426464" cy="301752"/>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Audit trail</a:t>
            </a:r>
            <a:endParaRPr lang="en-US" sz="950" dirty="0"/>
          </a:p>
        </p:txBody>
      </p:sp>
      <p:sp>
        <p:nvSpPr>
          <p:cNvPr id="30" name="Shape 28"/>
          <p:cNvSpPr/>
          <p:nvPr/>
        </p:nvSpPr>
        <p:spPr>
          <a:xfrm>
            <a:off x="566928" y="3794760"/>
            <a:ext cx="11027664" cy="1217811"/>
          </a:xfrm>
          <a:prstGeom prst="roundRect">
            <a:avLst>
              <a:gd name="adj" fmla="val 7407"/>
            </a:avLst>
          </a:prstGeom>
          <a:solidFill>
            <a:srgbClr val="EEF4FB"/>
          </a:solidFill>
          <a:ln w="12700">
            <a:solidFill>
              <a:srgbClr val="DCE8F7"/>
            </a:solidFill>
            <a:prstDash val="solid"/>
          </a:ln>
        </p:spPr>
      </p:sp>
      <p:sp>
        <p:nvSpPr>
          <p:cNvPr id="31" name="Text 29"/>
          <p:cNvSpPr/>
          <p:nvPr/>
        </p:nvSpPr>
        <p:spPr>
          <a:xfrm>
            <a:off x="868680" y="4078224"/>
            <a:ext cx="1417320" cy="512064"/>
          </a:xfrm>
          <a:prstGeom prst="rect">
            <a:avLst/>
          </a:prstGeom>
          <a:noFill/>
          <a:ln/>
        </p:spPr>
        <p:txBody>
          <a:bodyPr wrap="square" lIns="0" tIns="0" rIns="0" bIns="0" rtlCol="0" anchor="ctr">
            <a:normAutofit/>
          </a:bodyPr>
          <a:lstStyle/>
          <a:p>
            <a:pPr marL="0" indent="0">
              <a:buNone/>
            </a:pPr>
            <a:r>
              <a:rPr lang="en-US" sz="3100" b="1" dirty="0">
                <a:solidFill>
                  <a:srgbClr val="183B6B"/>
                </a:solidFill>
                <a:latin typeface="Aptos Display" pitchFamily="34" charset="0"/>
                <a:ea typeface="Aptos Display" pitchFamily="34" charset="-122"/>
                <a:cs typeface="Aptos Display" pitchFamily="34" charset="-120"/>
              </a:rPr>
              <a:t>&lt; 60 sec</a:t>
            </a:r>
            <a:endParaRPr lang="en-US" sz="3100" dirty="0"/>
          </a:p>
        </p:txBody>
      </p:sp>
      <p:sp>
        <p:nvSpPr>
          <p:cNvPr id="32" name="Text 30"/>
          <p:cNvSpPr/>
          <p:nvPr/>
        </p:nvSpPr>
        <p:spPr>
          <a:xfrm>
            <a:off x="2615184" y="3968496"/>
            <a:ext cx="6949440" cy="7498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ptos" pitchFamily="34" charset="0"/>
                <a:ea typeface="Aptos" pitchFamily="34" charset="-122"/>
                <a:cs typeface="Aptos" pitchFamily="34" charset="-120"/>
              </a:rPr>
              <a:t>Complaint ID + estimated SLA deadline returned immediately</a:t>
            </a:r>
            <a:r>
              <a:rPr lang="en-US" sz="1600" dirty="0"/>
              <a:t> </a:t>
            </a:r>
            <a:r>
              <a:rPr lang="en-US" sz="1600" b="1" dirty="0">
                <a:solidFill>
                  <a:srgbClr val="0F172A"/>
                </a:solidFill>
                <a:latin typeface="Aptos" pitchFamily="34" charset="0"/>
                <a:ea typeface="Aptos" pitchFamily="34" charset="-122"/>
                <a:cs typeface="Aptos" pitchFamily="34" charset="-120"/>
              </a:rPr>
              <a:t>— before AI classification finishes.</a:t>
            </a:r>
            <a:endParaRPr lang="en-US" sz="1600" dirty="0"/>
          </a:p>
        </p:txBody>
      </p:sp>
      <p:sp>
        <p:nvSpPr>
          <p:cNvPr id="35" name="Text 33"/>
          <p:cNvSpPr/>
          <p:nvPr/>
        </p:nvSpPr>
        <p:spPr>
          <a:xfrm>
            <a:off x="9546336" y="4308078"/>
            <a:ext cx="1810512" cy="210312"/>
          </a:xfrm>
          <a:prstGeom prst="rect">
            <a:avLst/>
          </a:prstGeom>
          <a:noFill/>
          <a:ln/>
        </p:spPr>
        <p:txBody>
          <a:bodyPr wrap="square" lIns="0" tIns="0" rIns="0" bIns="0" rtlCol="0" anchor="ctr">
            <a:normAutofit/>
          </a:bodyPr>
          <a:lstStyle/>
          <a:p>
            <a:pPr marL="0" indent="0" algn="ctr">
              <a:buNone/>
            </a:pPr>
            <a:r>
              <a:rPr lang="en-US" sz="880" dirty="0">
                <a:solidFill>
                  <a:srgbClr val="64748B"/>
                </a:solidFill>
                <a:latin typeface="Aptos" pitchFamily="34" charset="0"/>
                <a:ea typeface="Aptos" pitchFamily="34" charset="-122"/>
                <a:cs typeface="Aptos" pitchFamily="34" charset="-120"/>
              </a:rPr>
              <a:t>The queue absorbs the slow path.</a:t>
            </a:r>
            <a:endParaRPr lang="en-US" sz="880" dirty="0"/>
          </a:p>
        </p:txBody>
      </p:sp>
      <p:sp>
        <p:nvSpPr>
          <p:cNvPr id="36" name="Text 34"/>
          <p:cNvSpPr/>
          <p:nvPr/>
        </p:nvSpPr>
        <p:spPr>
          <a:xfrm>
            <a:off x="749808" y="5596125"/>
            <a:ext cx="10680192" cy="292608"/>
          </a:xfrm>
          <a:prstGeom prst="rect">
            <a:avLst/>
          </a:prstGeom>
          <a:noFill/>
          <a:ln/>
        </p:spPr>
        <p:txBody>
          <a:bodyPr wrap="square" lIns="0" tIns="0" rIns="0" bIns="0" rtlCol="0" anchor="ctr">
            <a:normAutofit/>
          </a:bodyPr>
          <a:lstStyle/>
          <a:p>
            <a:pPr marL="0" indent="0" algn="ctr">
              <a:buNone/>
            </a:pPr>
            <a:r>
              <a:rPr lang="en-US" sz="1100" b="1" dirty="0">
                <a:solidFill>
                  <a:srgbClr val="475569"/>
                </a:solidFill>
                <a:latin typeface="Aptos" pitchFamily="34" charset="0"/>
                <a:ea typeface="Aptos" pitchFamily="34" charset="-122"/>
                <a:cs typeface="Aptos" pitchFamily="34" charset="-120"/>
              </a:rPr>
              <a:t>Camera → classify → geofence → route → SLA → status → resolution</a:t>
            </a:r>
            <a:endParaRPr lang="en-US" sz="1100" dirty="0"/>
          </a:p>
        </p:txBody>
      </p:sp>
      <p:sp>
        <p:nvSpPr>
          <p:cNvPr id="37"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03 · LIFECYCLE</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A complaint is a state machine, not a form submission.</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The workflow explicitly handles escalation, dispute, and verification.</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LIFECYCLE</a:t>
            </a:r>
            <a:endParaRPr lang="en-US" sz="950" dirty="0"/>
          </a:p>
        </p:txBody>
      </p:sp>
      <p:sp>
        <p:nvSpPr>
          <p:cNvPr id="7" name="Shape 5"/>
          <p:cNvSpPr/>
          <p:nvPr/>
        </p:nvSpPr>
        <p:spPr>
          <a:xfrm>
            <a:off x="777240" y="2148840"/>
            <a:ext cx="1481328" cy="658368"/>
          </a:xfrm>
          <a:prstGeom prst="roundRect">
            <a:avLst>
              <a:gd name="adj" fmla="val 16667"/>
            </a:avLst>
          </a:prstGeom>
          <a:solidFill>
            <a:srgbClr val="EEF4FB"/>
          </a:solidFill>
          <a:ln w="12700">
            <a:solidFill>
              <a:srgbClr val="DCE8F7"/>
            </a:solidFill>
            <a:prstDash val="solid"/>
          </a:ln>
        </p:spPr>
      </p:sp>
      <p:sp>
        <p:nvSpPr>
          <p:cNvPr id="8" name="Text 6"/>
          <p:cNvSpPr/>
          <p:nvPr/>
        </p:nvSpPr>
        <p:spPr>
          <a:xfrm>
            <a:off x="868680" y="2240280"/>
            <a:ext cx="1298448" cy="475488"/>
          </a:xfrm>
          <a:prstGeom prst="rect">
            <a:avLst/>
          </a:prstGeom>
          <a:noFill/>
          <a:ln/>
        </p:spPr>
        <p:txBody>
          <a:bodyPr wrap="square" lIns="0" tIns="0" rIns="0" bIns="0" rtlCol="0" anchor="ctr">
            <a:normAutofit/>
          </a:bodyPr>
          <a:lstStyle/>
          <a:p>
            <a:pPr marL="0" indent="0" algn="ctr">
              <a:buNone/>
            </a:pPr>
            <a:r>
              <a:rPr lang="en-US" sz="1250" b="1" dirty="0">
                <a:solidFill>
                  <a:srgbClr val="183B6B"/>
                </a:solidFill>
                <a:latin typeface="Aptos" pitchFamily="34" charset="0"/>
                <a:ea typeface="Aptos" pitchFamily="34" charset="-122"/>
                <a:cs typeface="Aptos" pitchFamily="34" charset="-120"/>
              </a:rPr>
              <a:t>Submitted</a:t>
            </a:r>
            <a:endParaRPr lang="en-US" sz="1250" dirty="0"/>
          </a:p>
        </p:txBody>
      </p:sp>
      <p:sp>
        <p:nvSpPr>
          <p:cNvPr id="9" name="Shape 7"/>
          <p:cNvSpPr/>
          <p:nvPr/>
        </p:nvSpPr>
        <p:spPr>
          <a:xfrm>
            <a:off x="2276856" y="2478024"/>
            <a:ext cx="475488" cy="0"/>
          </a:xfrm>
          <a:prstGeom prst="line">
            <a:avLst/>
          </a:prstGeom>
          <a:noFill/>
          <a:ln w="19050">
            <a:solidFill>
              <a:srgbClr val="2F5D9B"/>
            </a:solidFill>
            <a:prstDash val="solid"/>
            <a:headEnd type="none"/>
            <a:tailEnd type="triangle"/>
          </a:ln>
        </p:spPr>
      </p:sp>
      <p:sp>
        <p:nvSpPr>
          <p:cNvPr id="10" name="Shape 8"/>
          <p:cNvSpPr/>
          <p:nvPr/>
        </p:nvSpPr>
        <p:spPr>
          <a:xfrm>
            <a:off x="2788920" y="2148840"/>
            <a:ext cx="1481328" cy="658368"/>
          </a:xfrm>
          <a:prstGeom prst="roundRect">
            <a:avLst>
              <a:gd name="adj" fmla="val 16667"/>
            </a:avLst>
          </a:prstGeom>
          <a:solidFill>
            <a:srgbClr val="FFFFFF"/>
          </a:solidFill>
          <a:ln w="12700">
            <a:solidFill>
              <a:srgbClr val="D6DEE9"/>
            </a:solidFill>
            <a:prstDash val="solid"/>
          </a:ln>
        </p:spPr>
      </p:sp>
      <p:sp>
        <p:nvSpPr>
          <p:cNvPr id="11" name="Text 9"/>
          <p:cNvSpPr/>
          <p:nvPr/>
        </p:nvSpPr>
        <p:spPr>
          <a:xfrm>
            <a:off x="2880360" y="2240280"/>
            <a:ext cx="1298448" cy="475488"/>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Aptos" pitchFamily="34" charset="0"/>
                <a:ea typeface="Aptos" pitchFamily="34" charset="-122"/>
                <a:cs typeface="Aptos" pitchFamily="34" charset="-120"/>
              </a:rPr>
              <a:t>Assigned</a:t>
            </a:r>
            <a:endParaRPr lang="en-US" sz="1250" dirty="0"/>
          </a:p>
        </p:txBody>
      </p:sp>
      <p:sp>
        <p:nvSpPr>
          <p:cNvPr id="12" name="Shape 10"/>
          <p:cNvSpPr/>
          <p:nvPr/>
        </p:nvSpPr>
        <p:spPr>
          <a:xfrm>
            <a:off x="4288536" y="2478024"/>
            <a:ext cx="475488" cy="0"/>
          </a:xfrm>
          <a:prstGeom prst="line">
            <a:avLst/>
          </a:prstGeom>
          <a:noFill/>
          <a:ln w="19050">
            <a:solidFill>
              <a:srgbClr val="2F5D9B"/>
            </a:solidFill>
            <a:prstDash val="solid"/>
            <a:headEnd type="none"/>
            <a:tailEnd type="triangle"/>
          </a:ln>
        </p:spPr>
      </p:sp>
      <p:sp>
        <p:nvSpPr>
          <p:cNvPr id="13" name="Shape 11"/>
          <p:cNvSpPr/>
          <p:nvPr/>
        </p:nvSpPr>
        <p:spPr>
          <a:xfrm>
            <a:off x="4800600" y="2148840"/>
            <a:ext cx="1481328" cy="658368"/>
          </a:xfrm>
          <a:prstGeom prst="roundRect">
            <a:avLst>
              <a:gd name="adj" fmla="val 16667"/>
            </a:avLst>
          </a:prstGeom>
          <a:solidFill>
            <a:srgbClr val="FFFFFF"/>
          </a:solidFill>
          <a:ln w="12700">
            <a:solidFill>
              <a:srgbClr val="D6DEE9"/>
            </a:solidFill>
            <a:prstDash val="solid"/>
          </a:ln>
        </p:spPr>
      </p:sp>
      <p:sp>
        <p:nvSpPr>
          <p:cNvPr id="14" name="Text 12"/>
          <p:cNvSpPr/>
          <p:nvPr/>
        </p:nvSpPr>
        <p:spPr>
          <a:xfrm>
            <a:off x="4892040" y="2240280"/>
            <a:ext cx="1298448" cy="475488"/>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Aptos" pitchFamily="34" charset="0"/>
                <a:ea typeface="Aptos" pitchFamily="34" charset="-122"/>
                <a:cs typeface="Aptos" pitchFamily="34" charset="-120"/>
              </a:rPr>
              <a:t>In Progress</a:t>
            </a:r>
            <a:endParaRPr lang="en-US" sz="1250" dirty="0"/>
          </a:p>
        </p:txBody>
      </p:sp>
      <p:sp>
        <p:nvSpPr>
          <p:cNvPr id="15" name="Shape 13"/>
          <p:cNvSpPr/>
          <p:nvPr/>
        </p:nvSpPr>
        <p:spPr>
          <a:xfrm>
            <a:off x="6300216" y="2478024"/>
            <a:ext cx="521208" cy="0"/>
          </a:xfrm>
          <a:prstGeom prst="line">
            <a:avLst/>
          </a:prstGeom>
          <a:noFill/>
          <a:ln w="19050">
            <a:solidFill>
              <a:srgbClr val="2F5D9B"/>
            </a:solidFill>
            <a:prstDash val="solid"/>
            <a:headEnd type="none"/>
            <a:tailEnd type="triangle"/>
          </a:ln>
        </p:spPr>
      </p:sp>
      <p:sp>
        <p:nvSpPr>
          <p:cNvPr id="16" name="Shape 14"/>
          <p:cNvSpPr/>
          <p:nvPr/>
        </p:nvSpPr>
        <p:spPr>
          <a:xfrm>
            <a:off x="6858000" y="2148840"/>
            <a:ext cx="1481328" cy="658368"/>
          </a:xfrm>
          <a:prstGeom prst="roundRect">
            <a:avLst>
              <a:gd name="adj" fmla="val 16667"/>
            </a:avLst>
          </a:prstGeom>
          <a:solidFill>
            <a:srgbClr val="FFFFFF"/>
          </a:solidFill>
          <a:ln w="12700">
            <a:solidFill>
              <a:srgbClr val="D6DEE9"/>
            </a:solidFill>
            <a:prstDash val="solid"/>
          </a:ln>
        </p:spPr>
      </p:sp>
      <p:sp>
        <p:nvSpPr>
          <p:cNvPr id="17" name="Text 15"/>
          <p:cNvSpPr/>
          <p:nvPr/>
        </p:nvSpPr>
        <p:spPr>
          <a:xfrm>
            <a:off x="6949440" y="2240280"/>
            <a:ext cx="1298448" cy="475488"/>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Aptos" pitchFamily="34" charset="0"/>
                <a:ea typeface="Aptos" pitchFamily="34" charset="-122"/>
                <a:cs typeface="Aptos" pitchFamily="34" charset="-120"/>
              </a:rPr>
              <a:t>Resolved</a:t>
            </a:r>
            <a:endParaRPr lang="en-US" sz="1250" dirty="0"/>
          </a:p>
        </p:txBody>
      </p:sp>
      <p:sp>
        <p:nvSpPr>
          <p:cNvPr id="18" name="Shape 16"/>
          <p:cNvSpPr/>
          <p:nvPr/>
        </p:nvSpPr>
        <p:spPr>
          <a:xfrm>
            <a:off x="8357616" y="2478024"/>
            <a:ext cx="493776" cy="0"/>
          </a:xfrm>
          <a:prstGeom prst="line">
            <a:avLst/>
          </a:prstGeom>
          <a:noFill/>
          <a:ln w="19050">
            <a:solidFill>
              <a:srgbClr val="2F5D9B"/>
            </a:solidFill>
            <a:prstDash val="solid"/>
            <a:headEnd type="none"/>
            <a:tailEnd type="triangle"/>
          </a:ln>
        </p:spPr>
      </p:sp>
      <p:sp>
        <p:nvSpPr>
          <p:cNvPr id="19" name="Shape 17"/>
          <p:cNvSpPr/>
          <p:nvPr/>
        </p:nvSpPr>
        <p:spPr>
          <a:xfrm>
            <a:off x="8887968" y="2148840"/>
            <a:ext cx="1481328" cy="658368"/>
          </a:xfrm>
          <a:prstGeom prst="roundRect">
            <a:avLst>
              <a:gd name="adj" fmla="val 16667"/>
            </a:avLst>
          </a:prstGeom>
          <a:solidFill>
            <a:srgbClr val="FFFFFF"/>
          </a:solidFill>
          <a:ln w="12700">
            <a:solidFill>
              <a:srgbClr val="D6DEE9"/>
            </a:solidFill>
            <a:prstDash val="solid"/>
          </a:ln>
        </p:spPr>
      </p:sp>
      <p:sp>
        <p:nvSpPr>
          <p:cNvPr id="20" name="Text 18"/>
          <p:cNvSpPr/>
          <p:nvPr/>
        </p:nvSpPr>
        <p:spPr>
          <a:xfrm>
            <a:off x="8979408" y="2240280"/>
            <a:ext cx="1298448" cy="475488"/>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Aptos" pitchFamily="34" charset="0"/>
                <a:ea typeface="Aptos" pitchFamily="34" charset="-122"/>
                <a:cs typeface="Aptos" pitchFamily="34" charset="-120"/>
              </a:rPr>
              <a:t>Closed</a:t>
            </a:r>
            <a:endParaRPr lang="en-US" sz="1250" dirty="0"/>
          </a:p>
        </p:txBody>
      </p:sp>
      <p:sp>
        <p:nvSpPr>
          <p:cNvPr id="21" name="Shape 19"/>
          <p:cNvSpPr/>
          <p:nvPr/>
        </p:nvSpPr>
        <p:spPr>
          <a:xfrm>
            <a:off x="5541264" y="2834640"/>
            <a:ext cx="0" cy="868680"/>
          </a:xfrm>
          <a:prstGeom prst="line">
            <a:avLst/>
          </a:prstGeom>
          <a:noFill/>
          <a:ln w="19050">
            <a:solidFill>
              <a:srgbClr val="B24343"/>
            </a:solidFill>
            <a:prstDash val="solid"/>
            <a:headEnd type="none"/>
            <a:tailEnd type="triangle"/>
          </a:ln>
        </p:spPr>
      </p:sp>
      <p:sp>
        <p:nvSpPr>
          <p:cNvPr id="22" name="Shape 20"/>
          <p:cNvSpPr/>
          <p:nvPr/>
        </p:nvSpPr>
        <p:spPr>
          <a:xfrm>
            <a:off x="4672584" y="3767328"/>
            <a:ext cx="1737360" cy="603504"/>
          </a:xfrm>
          <a:prstGeom prst="roundRect">
            <a:avLst>
              <a:gd name="adj" fmla="val 18182"/>
            </a:avLst>
          </a:prstGeom>
          <a:solidFill>
            <a:srgbClr val="FDEDED"/>
          </a:solidFill>
          <a:ln w="12700">
            <a:solidFill>
              <a:srgbClr val="B24343"/>
            </a:solidFill>
            <a:prstDash val="solid"/>
          </a:ln>
        </p:spPr>
      </p:sp>
      <p:sp>
        <p:nvSpPr>
          <p:cNvPr id="23" name="Text 21"/>
          <p:cNvSpPr/>
          <p:nvPr/>
        </p:nvSpPr>
        <p:spPr>
          <a:xfrm>
            <a:off x="4764024" y="3858768"/>
            <a:ext cx="1554480" cy="420624"/>
          </a:xfrm>
          <a:prstGeom prst="rect">
            <a:avLst/>
          </a:prstGeom>
          <a:noFill/>
          <a:ln/>
        </p:spPr>
        <p:txBody>
          <a:bodyPr wrap="square" lIns="0" tIns="0" rIns="0" bIns="0" rtlCol="0" anchor="ctr">
            <a:normAutofit/>
          </a:bodyPr>
          <a:lstStyle/>
          <a:p>
            <a:pPr marL="0" indent="0" algn="ctr">
              <a:buNone/>
            </a:pPr>
            <a:r>
              <a:rPr lang="en-US" sz="1200" b="1" dirty="0">
                <a:solidFill>
                  <a:srgbClr val="B24343"/>
                </a:solidFill>
                <a:latin typeface="Aptos" pitchFamily="34" charset="0"/>
                <a:ea typeface="Aptos" pitchFamily="34" charset="-122"/>
                <a:cs typeface="Aptos" pitchFamily="34" charset="-120"/>
              </a:rPr>
              <a:t>Escalated</a:t>
            </a:r>
            <a:endParaRPr lang="en-US" sz="1200" dirty="0"/>
          </a:p>
        </p:txBody>
      </p:sp>
      <p:sp>
        <p:nvSpPr>
          <p:cNvPr id="24" name="Text 22"/>
          <p:cNvSpPr/>
          <p:nvPr/>
        </p:nvSpPr>
        <p:spPr>
          <a:xfrm>
            <a:off x="4709160" y="4462272"/>
            <a:ext cx="1664208" cy="512064"/>
          </a:xfrm>
          <a:prstGeom prst="rect">
            <a:avLst/>
          </a:prstGeom>
          <a:noFill/>
          <a:ln/>
        </p:spPr>
        <p:txBody>
          <a:bodyPr wrap="square" lIns="0" tIns="0" rIns="0" bIns="0" rtlCol="0" anchor="ctr">
            <a:normAutofit/>
          </a:bodyPr>
          <a:lstStyle/>
          <a:p>
            <a:pPr marL="0" indent="0" algn="ctr">
              <a:buNone/>
            </a:pPr>
            <a:r>
              <a:rPr lang="en-US" sz="1050" dirty="0">
                <a:solidFill>
                  <a:srgbClr val="B24343"/>
                </a:solidFill>
                <a:latin typeface="Aptos" pitchFamily="34" charset="0"/>
                <a:ea typeface="Aptos" pitchFamily="34" charset="-122"/>
                <a:cs typeface="Aptos" pitchFamily="34" charset="-120"/>
              </a:rPr>
              <a:t>SLA breach</a:t>
            </a:r>
            <a:endParaRPr lang="en-US" sz="1050" dirty="0"/>
          </a:p>
          <a:p>
            <a:pPr marL="0" indent="0" algn="ctr">
              <a:buNone/>
            </a:pPr>
            <a:r>
              <a:rPr lang="en-US" sz="1050" dirty="0">
                <a:solidFill>
                  <a:srgbClr val="B24343"/>
                </a:solidFill>
                <a:latin typeface="Aptos" pitchFamily="34" charset="0"/>
                <a:ea typeface="Aptos" pitchFamily="34" charset="-122"/>
                <a:cs typeface="Aptos" pitchFamily="34" charset="-120"/>
              </a:rPr>
              <a:t>→ supervisor</a:t>
            </a:r>
            <a:endParaRPr lang="en-US" sz="1050" dirty="0"/>
          </a:p>
        </p:txBody>
      </p:sp>
      <p:sp>
        <p:nvSpPr>
          <p:cNvPr id="25" name="Shape 23"/>
          <p:cNvSpPr/>
          <p:nvPr/>
        </p:nvSpPr>
        <p:spPr>
          <a:xfrm>
            <a:off x="7589520" y="2834640"/>
            <a:ext cx="0" cy="868680"/>
          </a:xfrm>
          <a:prstGeom prst="line">
            <a:avLst/>
          </a:prstGeom>
          <a:noFill/>
          <a:ln w="19050">
            <a:solidFill>
              <a:srgbClr val="B7791F"/>
            </a:solidFill>
            <a:prstDash val="solid"/>
            <a:headEnd type="none"/>
            <a:tailEnd type="triangle"/>
          </a:ln>
        </p:spPr>
      </p:sp>
      <p:sp>
        <p:nvSpPr>
          <p:cNvPr id="26" name="Shape 24"/>
          <p:cNvSpPr/>
          <p:nvPr/>
        </p:nvSpPr>
        <p:spPr>
          <a:xfrm>
            <a:off x="6720840" y="3767328"/>
            <a:ext cx="1737360" cy="603504"/>
          </a:xfrm>
          <a:prstGeom prst="roundRect">
            <a:avLst>
              <a:gd name="adj" fmla="val 18182"/>
            </a:avLst>
          </a:prstGeom>
          <a:solidFill>
            <a:srgbClr val="FFF7E8"/>
          </a:solidFill>
          <a:ln w="12700">
            <a:solidFill>
              <a:srgbClr val="B7791F"/>
            </a:solidFill>
            <a:prstDash val="solid"/>
          </a:ln>
        </p:spPr>
      </p:sp>
      <p:sp>
        <p:nvSpPr>
          <p:cNvPr id="27" name="Text 25"/>
          <p:cNvSpPr/>
          <p:nvPr/>
        </p:nvSpPr>
        <p:spPr>
          <a:xfrm>
            <a:off x="6812280" y="3858768"/>
            <a:ext cx="1554480" cy="420624"/>
          </a:xfrm>
          <a:prstGeom prst="rect">
            <a:avLst/>
          </a:prstGeom>
          <a:noFill/>
          <a:ln/>
        </p:spPr>
        <p:txBody>
          <a:bodyPr wrap="square" lIns="0" tIns="0" rIns="0" bIns="0" rtlCol="0" anchor="ctr">
            <a:normAutofit/>
          </a:bodyPr>
          <a:lstStyle/>
          <a:p>
            <a:pPr marL="0" indent="0" algn="ctr">
              <a:buNone/>
            </a:pPr>
            <a:r>
              <a:rPr lang="en-US" sz="1200" b="1" dirty="0">
                <a:solidFill>
                  <a:srgbClr val="B7791F"/>
                </a:solidFill>
                <a:latin typeface="Aptos" pitchFamily="34" charset="0"/>
                <a:ea typeface="Aptos" pitchFamily="34" charset="-122"/>
                <a:cs typeface="Aptos" pitchFamily="34" charset="-120"/>
              </a:rPr>
              <a:t>Reopened</a:t>
            </a:r>
            <a:endParaRPr lang="en-US" sz="1200" dirty="0"/>
          </a:p>
        </p:txBody>
      </p:sp>
      <p:sp>
        <p:nvSpPr>
          <p:cNvPr id="28" name="Text 26"/>
          <p:cNvSpPr/>
          <p:nvPr/>
        </p:nvSpPr>
        <p:spPr>
          <a:xfrm>
            <a:off x="6766560" y="4462272"/>
            <a:ext cx="1664208" cy="512064"/>
          </a:xfrm>
          <a:prstGeom prst="rect">
            <a:avLst/>
          </a:prstGeom>
          <a:noFill/>
          <a:ln/>
        </p:spPr>
        <p:txBody>
          <a:bodyPr wrap="square" lIns="0" tIns="0" rIns="0" bIns="0" rtlCol="0" anchor="ctr">
            <a:normAutofit/>
          </a:bodyPr>
          <a:lstStyle/>
          <a:p>
            <a:pPr marL="0" indent="0" algn="ctr">
              <a:buNone/>
            </a:pPr>
            <a:r>
              <a:rPr lang="en-US" sz="1050" dirty="0">
                <a:solidFill>
                  <a:srgbClr val="B7791F"/>
                </a:solidFill>
                <a:latin typeface="Aptos" pitchFamily="34" charset="0"/>
                <a:ea typeface="Aptos" pitchFamily="34" charset="-122"/>
                <a:cs typeface="Aptos" pitchFamily="34" charset="-120"/>
              </a:rPr>
              <a:t>Citizen disputes</a:t>
            </a:r>
            <a:endParaRPr lang="en-US" sz="1050" dirty="0"/>
          </a:p>
          <a:p>
            <a:pPr marL="0" indent="0" algn="ctr">
              <a:buNone/>
            </a:pPr>
            <a:r>
              <a:rPr lang="en-US" sz="1050" dirty="0">
                <a:solidFill>
                  <a:srgbClr val="B7791F"/>
                </a:solidFill>
                <a:latin typeface="Aptos" pitchFamily="34" charset="0"/>
                <a:ea typeface="Aptos" pitchFamily="34" charset="-122"/>
                <a:cs typeface="Aptos" pitchFamily="34" charset="-120"/>
              </a:rPr>
              <a:t>resolution</a:t>
            </a:r>
            <a:endParaRPr lang="en-US" sz="1050" dirty="0"/>
          </a:p>
        </p:txBody>
      </p:sp>
      <p:sp>
        <p:nvSpPr>
          <p:cNvPr id="29" name="Shape 27"/>
          <p:cNvSpPr/>
          <p:nvPr/>
        </p:nvSpPr>
        <p:spPr>
          <a:xfrm>
            <a:off x="566928" y="5376672"/>
            <a:ext cx="11027664" cy="658368"/>
          </a:xfrm>
          <a:prstGeom prst="roundRect">
            <a:avLst>
              <a:gd name="adj" fmla="val 16667"/>
            </a:avLst>
          </a:prstGeom>
          <a:solidFill>
            <a:srgbClr val="E9F6EF"/>
          </a:solidFill>
          <a:ln w="12700">
            <a:solidFill>
              <a:srgbClr val="2F7D59"/>
            </a:solidFill>
            <a:prstDash val="solid"/>
          </a:ln>
        </p:spPr>
      </p:sp>
      <p:sp>
        <p:nvSpPr>
          <p:cNvPr id="30" name="Text 28"/>
          <p:cNvSpPr/>
          <p:nvPr/>
        </p:nvSpPr>
        <p:spPr>
          <a:xfrm>
            <a:off x="868680" y="5559552"/>
            <a:ext cx="3063240" cy="237744"/>
          </a:xfrm>
          <a:prstGeom prst="rect">
            <a:avLst/>
          </a:prstGeom>
          <a:noFill/>
          <a:ln/>
        </p:spPr>
        <p:txBody>
          <a:bodyPr wrap="square" lIns="0" tIns="0" rIns="0" bIns="0" rtlCol="0" anchor="ctr">
            <a:normAutofit/>
          </a:bodyPr>
          <a:lstStyle/>
          <a:p>
            <a:pPr marL="0" indent="0">
              <a:buNone/>
            </a:pPr>
            <a:r>
              <a:rPr lang="en-US" sz="1350" b="1" dirty="0">
                <a:solidFill>
                  <a:srgbClr val="2F7D59"/>
                </a:solidFill>
                <a:latin typeface="Aptos" pitchFamily="34" charset="0"/>
                <a:ea typeface="Aptos" pitchFamily="34" charset="-122"/>
                <a:cs typeface="Aptos" pitchFamily="34" charset="-120"/>
              </a:rPr>
              <a:t>Report  →  Verified Complaint</a:t>
            </a:r>
            <a:endParaRPr lang="en-US" sz="1350" dirty="0"/>
          </a:p>
        </p:txBody>
      </p:sp>
      <p:sp>
        <p:nvSpPr>
          <p:cNvPr id="31" name="Text 29"/>
          <p:cNvSpPr/>
          <p:nvPr/>
        </p:nvSpPr>
        <p:spPr>
          <a:xfrm>
            <a:off x="3858768" y="5541264"/>
            <a:ext cx="7269480" cy="256032"/>
          </a:xfrm>
          <a:prstGeom prst="rect">
            <a:avLst/>
          </a:prstGeom>
          <a:noFill/>
          <a:ln/>
        </p:spPr>
        <p:txBody>
          <a:bodyPr wrap="square" lIns="0" tIns="0" rIns="0" bIns="0" rtlCol="0" anchor="ctr">
            <a:normAutofit/>
          </a:bodyPr>
          <a:lstStyle/>
          <a:p>
            <a:pPr marL="0" indent="0">
              <a:buNone/>
            </a:pPr>
            <a:r>
              <a:rPr lang="en-US" sz="1120" dirty="0">
                <a:solidFill>
                  <a:srgbClr val="0F172A"/>
                </a:solidFill>
                <a:latin typeface="Aptos" pitchFamily="34" charset="0"/>
                <a:ea typeface="Aptos" pitchFamily="34" charset="-122"/>
                <a:cs typeface="Aptos" pitchFamily="34" charset="-120"/>
              </a:rPr>
              <a:t>SLA clock + public metrics start only after independent confirmation or field verification.</a:t>
            </a:r>
            <a:endParaRPr lang="en-US" sz="1120" dirty="0"/>
          </a:p>
        </p:txBody>
      </p:sp>
      <p:sp>
        <p:nvSpPr>
          <p:cNvPr id="32"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04 · AI / LLM</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AI decides — but uncertainty goes to a human.</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The pipeline is constrained by confidence thresholds and explicit guardrails.</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AI PIPELINE</a:t>
            </a:r>
            <a:endParaRPr lang="en-US" sz="950" dirty="0"/>
          </a:p>
        </p:txBody>
      </p:sp>
      <p:sp>
        <p:nvSpPr>
          <p:cNvPr id="7" name="Shape 5"/>
          <p:cNvSpPr/>
          <p:nvPr/>
        </p:nvSpPr>
        <p:spPr>
          <a:xfrm>
            <a:off x="621792" y="2048256"/>
            <a:ext cx="1298448" cy="658368"/>
          </a:xfrm>
          <a:prstGeom prst="roundRect">
            <a:avLst>
              <a:gd name="adj" fmla="val 16667"/>
            </a:avLst>
          </a:prstGeom>
          <a:solidFill>
            <a:srgbClr val="183B6B"/>
          </a:solidFill>
          <a:ln w="12700">
            <a:solidFill>
              <a:srgbClr val="183B6B"/>
            </a:solidFill>
            <a:prstDash val="solid"/>
          </a:ln>
        </p:spPr>
      </p:sp>
      <p:sp>
        <p:nvSpPr>
          <p:cNvPr id="8" name="Text 6"/>
          <p:cNvSpPr/>
          <p:nvPr/>
        </p:nvSpPr>
        <p:spPr>
          <a:xfrm>
            <a:off x="713232" y="2139696"/>
            <a:ext cx="1115568" cy="47548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Photo</a:t>
            </a:r>
            <a:endParaRPr lang="en-US" sz="1300" dirty="0"/>
          </a:p>
        </p:txBody>
      </p:sp>
      <p:sp>
        <p:nvSpPr>
          <p:cNvPr id="9" name="Shape 7"/>
          <p:cNvSpPr/>
          <p:nvPr/>
        </p:nvSpPr>
        <p:spPr>
          <a:xfrm>
            <a:off x="1920240" y="2377440"/>
            <a:ext cx="384048" cy="0"/>
          </a:xfrm>
          <a:prstGeom prst="line">
            <a:avLst/>
          </a:prstGeom>
          <a:noFill/>
          <a:ln w="19050">
            <a:solidFill>
              <a:srgbClr val="2F5D9B"/>
            </a:solidFill>
            <a:prstDash val="solid"/>
            <a:headEnd type="none"/>
            <a:tailEnd type="triangle"/>
          </a:ln>
        </p:spPr>
      </p:sp>
      <p:sp>
        <p:nvSpPr>
          <p:cNvPr id="10" name="Shape 8"/>
          <p:cNvSpPr/>
          <p:nvPr/>
        </p:nvSpPr>
        <p:spPr>
          <a:xfrm>
            <a:off x="2322576" y="2048256"/>
            <a:ext cx="1444752" cy="658368"/>
          </a:xfrm>
          <a:prstGeom prst="roundRect">
            <a:avLst>
              <a:gd name="adj" fmla="val 16667"/>
            </a:avLst>
          </a:prstGeom>
          <a:solidFill>
            <a:srgbClr val="FFFFFF"/>
          </a:solidFill>
          <a:ln w="12700">
            <a:solidFill>
              <a:srgbClr val="D6DEE9"/>
            </a:solidFill>
            <a:prstDash val="solid"/>
          </a:ln>
        </p:spPr>
      </p:sp>
      <p:sp>
        <p:nvSpPr>
          <p:cNvPr id="11" name="Text 9"/>
          <p:cNvSpPr/>
          <p:nvPr/>
        </p:nvSpPr>
        <p:spPr>
          <a:xfrm>
            <a:off x="2414016" y="2139696"/>
            <a:ext cx="1261872" cy="475488"/>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Aptos" pitchFamily="34" charset="0"/>
                <a:ea typeface="Aptos" pitchFamily="34" charset="-122"/>
                <a:cs typeface="Aptos" pitchFamily="34" charset="-120"/>
              </a:rPr>
              <a:t>Vision model</a:t>
            </a:r>
            <a:endParaRPr lang="en-US" sz="1200" dirty="0"/>
          </a:p>
        </p:txBody>
      </p:sp>
      <p:sp>
        <p:nvSpPr>
          <p:cNvPr id="12" name="Shape 10"/>
          <p:cNvSpPr/>
          <p:nvPr/>
        </p:nvSpPr>
        <p:spPr>
          <a:xfrm>
            <a:off x="3767328" y="2377440"/>
            <a:ext cx="402336" cy="0"/>
          </a:xfrm>
          <a:prstGeom prst="line">
            <a:avLst/>
          </a:prstGeom>
          <a:noFill/>
          <a:ln w="19050">
            <a:solidFill>
              <a:srgbClr val="2F5D9B"/>
            </a:solidFill>
            <a:prstDash val="solid"/>
            <a:headEnd type="none"/>
            <a:tailEnd type="triangle"/>
          </a:ln>
        </p:spPr>
      </p:sp>
      <p:sp>
        <p:nvSpPr>
          <p:cNvPr id="13" name="Shape 11"/>
          <p:cNvSpPr/>
          <p:nvPr/>
        </p:nvSpPr>
        <p:spPr>
          <a:xfrm>
            <a:off x="4187952" y="1901952"/>
            <a:ext cx="1773936" cy="960120"/>
          </a:xfrm>
          <a:prstGeom prst="roundRect">
            <a:avLst>
              <a:gd name="adj" fmla="val 11429"/>
            </a:avLst>
          </a:prstGeom>
          <a:solidFill>
            <a:srgbClr val="EEF4FB"/>
          </a:solidFill>
          <a:ln w="12700">
            <a:solidFill>
              <a:srgbClr val="DCE8F7"/>
            </a:solidFill>
            <a:prstDash val="solid"/>
          </a:ln>
        </p:spPr>
      </p:sp>
      <p:sp>
        <p:nvSpPr>
          <p:cNvPr id="14" name="Text 12"/>
          <p:cNvSpPr/>
          <p:nvPr/>
        </p:nvSpPr>
        <p:spPr>
          <a:xfrm>
            <a:off x="4279392" y="1993392"/>
            <a:ext cx="1591056" cy="777240"/>
          </a:xfrm>
          <a:prstGeom prst="rect">
            <a:avLst/>
          </a:prstGeom>
          <a:noFill/>
          <a:ln/>
        </p:spPr>
        <p:txBody>
          <a:bodyPr wrap="square" lIns="0" tIns="0" rIns="0" bIns="0" rtlCol="0" anchor="ctr">
            <a:normAutofit/>
          </a:bodyPr>
          <a:lstStyle/>
          <a:p>
            <a:pPr marL="0" indent="0" algn="ctr">
              <a:buNone/>
            </a:pPr>
            <a:r>
              <a:rPr lang="en-US" sz="1200" b="1" dirty="0">
                <a:solidFill>
                  <a:srgbClr val="183B6B"/>
                </a:solidFill>
                <a:latin typeface="Aptos" pitchFamily="34" charset="0"/>
                <a:ea typeface="Aptos" pitchFamily="34" charset="-122"/>
                <a:cs typeface="Aptos" pitchFamily="34" charset="-120"/>
              </a:rPr>
              <a:t>Category</a:t>
            </a:r>
            <a:endParaRPr lang="en-US" sz="1200" dirty="0"/>
          </a:p>
          <a:p>
            <a:pPr marL="0" indent="0" algn="ctr">
              <a:buNone/>
            </a:pPr>
            <a:r>
              <a:rPr lang="en-US" sz="1200" b="1" dirty="0">
                <a:solidFill>
                  <a:srgbClr val="183B6B"/>
                </a:solidFill>
                <a:latin typeface="Aptos" pitchFamily="34" charset="0"/>
                <a:ea typeface="Aptos" pitchFamily="34" charset="-122"/>
                <a:cs typeface="Aptos" pitchFamily="34" charset="-120"/>
              </a:rPr>
              <a:t>Severity</a:t>
            </a:r>
            <a:endParaRPr lang="en-US" sz="1200" dirty="0"/>
          </a:p>
          <a:p>
            <a:pPr marL="0" indent="0" algn="ctr">
              <a:buNone/>
            </a:pPr>
            <a:r>
              <a:rPr lang="en-US" sz="1200" b="1" dirty="0">
                <a:solidFill>
                  <a:srgbClr val="183B6B"/>
                </a:solidFill>
                <a:latin typeface="Aptos" pitchFamily="34" charset="0"/>
                <a:ea typeface="Aptos" pitchFamily="34" charset="-122"/>
                <a:cs typeface="Aptos" pitchFamily="34" charset="-120"/>
              </a:rPr>
              <a:t>Confidence</a:t>
            </a:r>
            <a:endParaRPr lang="en-US" sz="1200" dirty="0"/>
          </a:p>
        </p:txBody>
      </p:sp>
      <p:sp>
        <p:nvSpPr>
          <p:cNvPr id="15" name="Shape 13"/>
          <p:cNvSpPr/>
          <p:nvPr/>
        </p:nvSpPr>
        <p:spPr>
          <a:xfrm>
            <a:off x="5980176" y="2377440"/>
            <a:ext cx="347472" cy="0"/>
          </a:xfrm>
          <a:prstGeom prst="line">
            <a:avLst/>
          </a:prstGeom>
          <a:noFill/>
          <a:ln w="19050">
            <a:solidFill>
              <a:srgbClr val="2F5D9B"/>
            </a:solidFill>
            <a:prstDash val="solid"/>
            <a:headEnd type="none"/>
            <a:tailEnd type="triangle"/>
          </a:ln>
        </p:spPr>
      </p:sp>
      <p:sp>
        <p:nvSpPr>
          <p:cNvPr id="16" name="Shape 14"/>
          <p:cNvSpPr/>
          <p:nvPr/>
        </p:nvSpPr>
        <p:spPr>
          <a:xfrm>
            <a:off x="6355080" y="2011680"/>
            <a:ext cx="1133856" cy="749808"/>
          </a:xfrm>
          <a:prstGeom prst="diamond">
            <a:avLst/>
          </a:prstGeom>
          <a:solidFill>
            <a:srgbClr val="FFFFFF"/>
          </a:solidFill>
          <a:ln w="15240">
            <a:solidFill>
              <a:srgbClr val="2F5D9B"/>
            </a:solidFill>
            <a:prstDash val="solid"/>
          </a:ln>
        </p:spPr>
      </p:sp>
      <p:sp>
        <p:nvSpPr>
          <p:cNvPr id="17" name="Text 15"/>
          <p:cNvSpPr/>
          <p:nvPr/>
        </p:nvSpPr>
        <p:spPr>
          <a:xfrm>
            <a:off x="6501384" y="2249424"/>
            <a:ext cx="841248" cy="219456"/>
          </a:xfrm>
          <a:prstGeom prst="rect">
            <a:avLst/>
          </a:prstGeom>
          <a:noFill/>
          <a:ln/>
        </p:spPr>
        <p:txBody>
          <a:bodyPr wrap="square" lIns="0" tIns="0" rIns="0" bIns="0" rtlCol="0" anchor="ctr">
            <a:normAutofit/>
          </a:bodyPr>
          <a:lstStyle/>
          <a:p>
            <a:pPr marL="0" indent="0" algn="ctr">
              <a:buNone/>
            </a:pPr>
            <a:r>
              <a:rPr lang="en-US" sz="1200" b="1" dirty="0">
                <a:solidFill>
                  <a:srgbClr val="183B6B"/>
                </a:solidFill>
                <a:latin typeface="Aptos" pitchFamily="34" charset="0"/>
                <a:ea typeface="Aptos" pitchFamily="34" charset="-122"/>
                <a:cs typeface="Aptos" pitchFamily="34" charset="-120"/>
              </a:rPr>
              <a:t>≥ 0.6?</a:t>
            </a:r>
            <a:endParaRPr lang="en-US" sz="1200" dirty="0"/>
          </a:p>
        </p:txBody>
      </p:sp>
      <p:sp>
        <p:nvSpPr>
          <p:cNvPr id="18" name="Shape 16"/>
          <p:cNvSpPr/>
          <p:nvPr/>
        </p:nvSpPr>
        <p:spPr>
          <a:xfrm>
            <a:off x="7479792" y="2377440"/>
            <a:ext cx="402336" cy="0"/>
          </a:xfrm>
          <a:prstGeom prst="line">
            <a:avLst/>
          </a:prstGeom>
          <a:noFill/>
          <a:ln w="20320">
            <a:solidFill>
              <a:srgbClr val="2F7D59"/>
            </a:solidFill>
            <a:prstDash val="solid"/>
            <a:headEnd type="none"/>
            <a:tailEnd type="triangle"/>
          </a:ln>
        </p:spPr>
      </p:sp>
      <p:sp>
        <p:nvSpPr>
          <p:cNvPr id="19" name="Shape 17"/>
          <p:cNvSpPr/>
          <p:nvPr/>
        </p:nvSpPr>
        <p:spPr>
          <a:xfrm>
            <a:off x="7900416" y="2048256"/>
            <a:ext cx="1417320" cy="658368"/>
          </a:xfrm>
          <a:prstGeom prst="roundRect">
            <a:avLst>
              <a:gd name="adj" fmla="val 16667"/>
            </a:avLst>
          </a:prstGeom>
          <a:solidFill>
            <a:srgbClr val="E9F6EF"/>
          </a:solidFill>
          <a:ln w="12700">
            <a:solidFill>
              <a:srgbClr val="2F7D59"/>
            </a:solidFill>
            <a:prstDash val="solid"/>
          </a:ln>
        </p:spPr>
      </p:sp>
      <p:sp>
        <p:nvSpPr>
          <p:cNvPr id="20" name="Text 18"/>
          <p:cNvSpPr/>
          <p:nvPr/>
        </p:nvSpPr>
        <p:spPr>
          <a:xfrm>
            <a:off x="7991856" y="2139696"/>
            <a:ext cx="1234440" cy="475488"/>
          </a:xfrm>
          <a:prstGeom prst="rect">
            <a:avLst/>
          </a:prstGeom>
          <a:noFill/>
          <a:ln/>
        </p:spPr>
        <p:txBody>
          <a:bodyPr wrap="square" lIns="0" tIns="0" rIns="0" bIns="0" rtlCol="0" anchor="ctr">
            <a:normAutofit/>
          </a:bodyPr>
          <a:lstStyle/>
          <a:p>
            <a:pPr marL="0" indent="0" algn="ctr">
              <a:buNone/>
            </a:pPr>
            <a:r>
              <a:rPr lang="en-US" sz="1200" b="1" dirty="0">
                <a:solidFill>
                  <a:srgbClr val="2F7D59"/>
                </a:solidFill>
                <a:latin typeface="Aptos" pitchFamily="34" charset="0"/>
                <a:ea typeface="Aptos" pitchFamily="34" charset="-122"/>
                <a:cs typeface="Aptos" pitchFamily="34" charset="-120"/>
              </a:rPr>
              <a:t>Auto-process</a:t>
            </a:r>
            <a:endParaRPr lang="en-US" sz="1200" dirty="0"/>
          </a:p>
        </p:txBody>
      </p:sp>
      <p:sp>
        <p:nvSpPr>
          <p:cNvPr id="21" name="Shape 19"/>
          <p:cNvSpPr/>
          <p:nvPr/>
        </p:nvSpPr>
        <p:spPr>
          <a:xfrm>
            <a:off x="6922008" y="2779776"/>
            <a:ext cx="0" cy="1005840"/>
          </a:xfrm>
          <a:prstGeom prst="line">
            <a:avLst/>
          </a:prstGeom>
          <a:noFill/>
          <a:ln w="19050">
            <a:solidFill>
              <a:srgbClr val="B24343"/>
            </a:solidFill>
            <a:prstDash val="solid"/>
            <a:headEnd type="none"/>
            <a:tailEnd type="triangle"/>
          </a:ln>
        </p:spPr>
      </p:sp>
      <p:sp>
        <p:nvSpPr>
          <p:cNvPr id="22" name="Shape 20"/>
          <p:cNvSpPr/>
          <p:nvPr/>
        </p:nvSpPr>
        <p:spPr>
          <a:xfrm>
            <a:off x="6007608" y="3822192"/>
            <a:ext cx="1828800" cy="713232"/>
          </a:xfrm>
          <a:prstGeom prst="roundRect">
            <a:avLst>
              <a:gd name="adj" fmla="val 15385"/>
            </a:avLst>
          </a:prstGeom>
          <a:solidFill>
            <a:srgbClr val="FDEDED"/>
          </a:solidFill>
          <a:ln w="12700">
            <a:solidFill>
              <a:srgbClr val="B24343"/>
            </a:solidFill>
            <a:prstDash val="solid"/>
          </a:ln>
        </p:spPr>
      </p:sp>
      <p:sp>
        <p:nvSpPr>
          <p:cNvPr id="23" name="Text 21"/>
          <p:cNvSpPr/>
          <p:nvPr/>
        </p:nvSpPr>
        <p:spPr>
          <a:xfrm>
            <a:off x="6099048" y="3913632"/>
            <a:ext cx="1645920" cy="530352"/>
          </a:xfrm>
          <a:prstGeom prst="rect">
            <a:avLst/>
          </a:prstGeom>
          <a:noFill/>
          <a:ln/>
        </p:spPr>
        <p:txBody>
          <a:bodyPr wrap="square" lIns="0" tIns="0" rIns="0" bIns="0" rtlCol="0" anchor="ctr">
            <a:normAutofit/>
          </a:bodyPr>
          <a:lstStyle/>
          <a:p>
            <a:pPr marL="0" indent="0" algn="ctr">
              <a:buNone/>
            </a:pPr>
            <a:r>
              <a:rPr lang="en-US" sz="1150" b="1" dirty="0">
                <a:solidFill>
                  <a:srgbClr val="B24343"/>
                </a:solidFill>
                <a:latin typeface="Aptos" pitchFamily="34" charset="0"/>
                <a:ea typeface="Aptos" pitchFamily="34" charset="-122"/>
                <a:cs typeface="Aptos" pitchFamily="34" charset="-120"/>
              </a:rPr>
              <a:t>Low-confidence</a:t>
            </a:r>
            <a:endParaRPr lang="en-US" sz="1150" dirty="0"/>
          </a:p>
          <a:p>
            <a:pPr marL="0" indent="0" algn="ctr">
              <a:buNone/>
            </a:pPr>
            <a:r>
              <a:rPr lang="en-US" sz="1150" b="1" dirty="0">
                <a:solidFill>
                  <a:srgbClr val="B24343"/>
                </a:solidFill>
                <a:latin typeface="Aptos" pitchFamily="34" charset="0"/>
                <a:ea typeface="Aptos" pitchFamily="34" charset="-122"/>
                <a:cs typeface="Aptos" pitchFamily="34" charset="-120"/>
              </a:rPr>
              <a:t>review queue</a:t>
            </a:r>
            <a:endParaRPr lang="en-US" sz="1150" dirty="0"/>
          </a:p>
        </p:txBody>
      </p:sp>
      <p:sp>
        <p:nvSpPr>
          <p:cNvPr id="24" name="Shape 22"/>
          <p:cNvSpPr/>
          <p:nvPr/>
        </p:nvSpPr>
        <p:spPr>
          <a:xfrm>
            <a:off x="9528048" y="1810512"/>
            <a:ext cx="2066544" cy="2816352"/>
          </a:xfrm>
          <a:prstGeom prst="roundRect">
            <a:avLst>
              <a:gd name="adj" fmla="val 5310"/>
            </a:avLst>
          </a:prstGeom>
          <a:solidFill>
            <a:srgbClr val="FFFFFF"/>
          </a:solidFill>
          <a:ln w="12700">
            <a:solidFill>
              <a:srgbClr val="D6DEE9"/>
            </a:solidFill>
            <a:prstDash val="solid"/>
          </a:ln>
        </p:spPr>
      </p:sp>
      <p:sp>
        <p:nvSpPr>
          <p:cNvPr id="25" name="Text 23"/>
          <p:cNvSpPr/>
          <p:nvPr/>
        </p:nvSpPr>
        <p:spPr>
          <a:xfrm>
            <a:off x="9765792" y="2011680"/>
            <a:ext cx="1600200" cy="201168"/>
          </a:xfrm>
          <a:prstGeom prst="rect">
            <a:avLst/>
          </a:prstGeom>
          <a:noFill/>
          <a:ln/>
        </p:spPr>
        <p:txBody>
          <a:bodyPr wrap="square" lIns="0" tIns="0" rIns="0" bIns="0" rtlCol="0" anchor="ctr">
            <a:normAutofit/>
          </a:bodyPr>
          <a:lstStyle/>
          <a:p>
            <a:pPr marL="0" indent="0">
              <a:buNone/>
            </a:pPr>
            <a:r>
              <a:rPr lang="en-US" sz="1000" b="1" kern="0" spc="110" dirty="0">
                <a:solidFill>
                  <a:srgbClr val="2F5D9B"/>
                </a:solidFill>
                <a:latin typeface="Aptos" pitchFamily="34" charset="0"/>
                <a:ea typeface="Aptos" pitchFamily="34" charset="-122"/>
                <a:cs typeface="Aptos" pitchFamily="34" charset="-120"/>
              </a:rPr>
              <a:t>GUARDRAILS</a:t>
            </a:r>
            <a:endParaRPr lang="en-US" sz="1000" dirty="0"/>
          </a:p>
        </p:txBody>
      </p:sp>
      <p:sp>
        <p:nvSpPr>
          <p:cNvPr id="26" name="Text 24"/>
          <p:cNvSpPr/>
          <p:nvPr/>
        </p:nvSpPr>
        <p:spPr>
          <a:xfrm>
            <a:off x="9765792" y="2523744"/>
            <a:ext cx="310896" cy="219456"/>
          </a:xfrm>
          <a:prstGeom prst="rect">
            <a:avLst/>
          </a:prstGeom>
          <a:noFill/>
          <a:ln/>
        </p:spPr>
        <p:txBody>
          <a:bodyPr wrap="square" lIns="0" tIns="0" rIns="0" bIns="0" rtlCol="0" anchor="ctr">
            <a:normAutofit/>
          </a:bodyPr>
          <a:lstStyle/>
          <a:p>
            <a:pPr marL="0" indent="0">
              <a:buNone/>
            </a:pPr>
            <a:r>
              <a:rPr lang="en-US" sz="1000" b="1" dirty="0">
                <a:solidFill>
                  <a:srgbClr val="2F5D9B"/>
                </a:solidFill>
                <a:latin typeface="Aptos" pitchFamily="34" charset="0"/>
                <a:ea typeface="Aptos" pitchFamily="34" charset="-122"/>
                <a:cs typeface="Aptos" pitchFamily="34" charset="-120"/>
              </a:rPr>
              <a:t>01</a:t>
            </a:r>
            <a:endParaRPr lang="en-US" sz="1000" dirty="0"/>
          </a:p>
        </p:txBody>
      </p:sp>
      <p:sp>
        <p:nvSpPr>
          <p:cNvPr id="27" name="Text 25"/>
          <p:cNvSpPr/>
          <p:nvPr/>
        </p:nvSpPr>
        <p:spPr>
          <a:xfrm>
            <a:off x="10168128" y="2487168"/>
            <a:ext cx="1133856" cy="786384"/>
          </a:xfrm>
          <a:prstGeom prst="rect">
            <a:avLst/>
          </a:prstGeom>
          <a:noFill/>
          <a:ln/>
        </p:spPr>
        <p:txBody>
          <a:bodyPr wrap="square" lIns="0" tIns="0" rIns="0" bIns="0" rtlCol="0" anchor="ctr">
            <a:normAutofit/>
          </a:bodyPr>
          <a:lstStyle/>
          <a:p>
            <a:pPr marL="0" indent="0">
              <a:buNone/>
            </a:pPr>
            <a:r>
              <a:rPr lang="en-US" sz="1020" dirty="0">
                <a:solidFill>
                  <a:srgbClr val="0F172A"/>
                </a:solidFill>
                <a:latin typeface="Aptos" pitchFamily="34" charset="0"/>
                <a:ea typeface="Aptos" pitchFamily="34" charset="-122"/>
                <a:cs typeface="Aptos" pitchFamily="34" charset="-120"/>
              </a:rPr>
              <a:t>Draft only from structured output + citizen note.</a:t>
            </a:r>
            <a:endParaRPr lang="en-US" sz="1020" dirty="0"/>
          </a:p>
        </p:txBody>
      </p:sp>
      <p:sp>
        <p:nvSpPr>
          <p:cNvPr id="28" name="Text 26"/>
          <p:cNvSpPr/>
          <p:nvPr/>
        </p:nvSpPr>
        <p:spPr>
          <a:xfrm>
            <a:off x="9765792" y="3456432"/>
            <a:ext cx="310896" cy="219456"/>
          </a:xfrm>
          <a:prstGeom prst="rect">
            <a:avLst/>
          </a:prstGeom>
          <a:noFill/>
          <a:ln/>
        </p:spPr>
        <p:txBody>
          <a:bodyPr wrap="square" lIns="0" tIns="0" rIns="0" bIns="0" rtlCol="0" anchor="ctr">
            <a:normAutofit/>
          </a:bodyPr>
          <a:lstStyle/>
          <a:p>
            <a:pPr marL="0" indent="0">
              <a:buNone/>
            </a:pPr>
            <a:r>
              <a:rPr lang="en-US" sz="1000" b="1" dirty="0">
                <a:solidFill>
                  <a:srgbClr val="2F5D9B"/>
                </a:solidFill>
                <a:latin typeface="Aptos" pitchFamily="34" charset="0"/>
                <a:ea typeface="Aptos" pitchFamily="34" charset="-122"/>
                <a:cs typeface="Aptos" pitchFamily="34" charset="-120"/>
              </a:rPr>
              <a:t>02</a:t>
            </a:r>
            <a:endParaRPr lang="en-US" sz="1000" dirty="0"/>
          </a:p>
        </p:txBody>
      </p:sp>
      <p:sp>
        <p:nvSpPr>
          <p:cNvPr id="29" name="Text 27"/>
          <p:cNvSpPr/>
          <p:nvPr/>
        </p:nvSpPr>
        <p:spPr>
          <a:xfrm>
            <a:off x="10168128" y="3419856"/>
            <a:ext cx="1143000" cy="896112"/>
          </a:xfrm>
          <a:prstGeom prst="rect">
            <a:avLst/>
          </a:prstGeom>
          <a:noFill/>
          <a:ln/>
        </p:spPr>
        <p:txBody>
          <a:bodyPr wrap="square" lIns="0" tIns="0" rIns="0" bIns="0" rtlCol="0" anchor="ctr">
            <a:normAutofit/>
          </a:bodyPr>
          <a:lstStyle/>
          <a:p>
            <a:pPr marL="0" indent="0">
              <a:buNone/>
            </a:pPr>
            <a:r>
              <a:rPr lang="en-US" sz="1020" dirty="0">
                <a:solidFill>
                  <a:srgbClr val="0F172A"/>
                </a:solidFill>
                <a:latin typeface="Aptos" pitchFamily="34" charset="0"/>
                <a:ea typeface="Aptos" pitchFamily="34" charset="-122"/>
                <a:cs typeface="Aptos" pitchFamily="34" charset="-120"/>
              </a:rPr>
              <a:t>Text/signage in photos is content, never instructions.</a:t>
            </a:r>
            <a:endParaRPr lang="en-US" sz="1020" dirty="0"/>
          </a:p>
        </p:txBody>
      </p:sp>
      <p:sp>
        <p:nvSpPr>
          <p:cNvPr id="30" name="Shape 28"/>
          <p:cNvSpPr/>
          <p:nvPr/>
        </p:nvSpPr>
        <p:spPr>
          <a:xfrm>
            <a:off x="685800" y="5010912"/>
            <a:ext cx="960120" cy="292608"/>
          </a:xfrm>
          <a:prstGeom prst="roundRect">
            <a:avLst>
              <a:gd name="adj" fmla="val 46875"/>
            </a:avLst>
          </a:prstGeom>
          <a:solidFill>
            <a:srgbClr val="EEF4FB"/>
          </a:solidFill>
          <a:ln w="12700">
            <a:solidFill>
              <a:srgbClr val="EEF4FB"/>
            </a:solidFill>
            <a:prstDash val="solid"/>
          </a:ln>
        </p:spPr>
      </p:sp>
      <p:sp>
        <p:nvSpPr>
          <p:cNvPr id="31" name="Text 29"/>
          <p:cNvSpPr/>
          <p:nvPr/>
        </p:nvSpPr>
        <p:spPr>
          <a:xfrm>
            <a:off x="777240" y="5056632"/>
            <a:ext cx="777240"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POTHOLE</a:t>
            </a:r>
            <a:endParaRPr lang="en-US" sz="950" dirty="0"/>
          </a:p>
        </p:txBody>
      </p:sp>
      <p:sp>
        <p:nvSpPr>
          <p:cNvPr id="32" name="Shape 30"/>
          <p:cNvSpPr/>
          <p:nvPr/>
        </p:nvSpPr>
        <p:spPr>
          <a:xfrm>
            <a:off x="1755648" y="5010912"/>
            <a:ext cx="1005840" cy="292608"/>
          </a:xfrm>
          <a:prstGeom prst="roundRect">
            <a:avLst>
              <a:gd name="adj" fmla="val 46875"/>
            </a:avLst>
          </a:prstGeom>
          <a:solidFill>
            <a:srgbClr val="EEF4FB"/>
          </a:solidFill>
          <a:ln w="12700">
            <a:solidFill>
              <a:srgbClr val="EEF4FB"/>
            </a:solidFill>
            <a:prstDash val="solid"/>
          </a:ln>
        </p:spPr>
      </p:sp>
      <p:sp>
        <p:nvSpPr>
          <p:cNvPr id="33" name="Text 31"/>
          <p:cNvSpPr/>
          <p:nvPr/>
        </p:nvSpPr>
        <p:spPr>
          <a:xfrm>
            <a:off x="1847088" y="5056632"/>
            <a:ext cx="822960"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GARBAGE</a:t>
            </a:r>
            <a:endParaRPr lang="en-US" sz="950" dirty="0"/>
          </a:p>
        </p:txBody>
      </p:sp>
      <p:sp>
        <p:nvSpPr>
          <p:cNvPr id="34" name="Shape 32"/>
          <p:cNvSpPr/>
          <p:nvPr/>
        </p:nvSpPr>
        <p:spPr>
          <a:xfrm>
            <a:off x="2871216" y="5010912"/>
            <a:ext cx="1188720" cy="292608"/>
          </a:xfrm>
          <a:prstGeom prst="roundRect">
            <a:avLst>
              <a:gd name="adj" fmla="val 46875"/>
            </a:avLst>
          </a:prstGeom>
          <a:solidFill>
            <a:srgbClr val="EEF4FB"/>
          </a:solidFill>
          <a:ln w="12700">
            <a:solidFill>
              <a:srgbClr val="EEF4FB"/>
            </a:solidFill>
            <a:prstDash val="solid"/>
          </a:ln>
        </p:spPr>
      </p:sp>
      <p:sp>
        <p:nvSpPr>
          <p:cNvPr id="35" name="Text 33"/>
          <p:cNvSpPr/>
          <p:nvPr/>
        </p:nvSpPr>
        <p:spPr>
          <a:xfrm>
            <a:off x="2962656" y="5056632"/>
            <a:ext cx="1005840"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STREETLIGHT</a:t>
            </a:r>
            <a:endParaRPr lang="en-US" sz="950" dirty="0"/>
          </a:p>
        </p:txBody>
      </p:sp>
      <p:sp>
        <p:nvSpPr>
          <p:cNvPr id="36" name="Shape 34"/>
          <p:cNvSpPr/>
          <p:nvPr/>
        </p:nvSpPr>
        <p:spPr>
          <a:xfrm>
            <a:off x="4187952" y="5010912"/>
            <a:ext cx="1188720" cy="292608"/>
          </a:xfrm>
          <a:prstGeom prst="roundRect">
            <a:avLst>
              <a:gd name="adj" fmla="val 46875"/>
            </a:avLst>
          </a:prstGeom>
          <a:solidFill>
            <a:srgbClr val="EEF4FB"/>
          </a:solidFill>
          <a:ln w="12700">
            <a:solidFill>
              <a:srgbClr val="EEF4FB"/>
            </a:solidFill>
            <a:prstDash val="solid"/>
          </a:ln>
        </p:spPr>
      </p:sp>
      <p:sp>
        <p:nvSpPr>
          <p:cNvPr id="37" name="Text 35"/>
          <p:cNvSpPr/>
          <p:nvPr/>
        </p:nvSpPr>
        <p:spPr>
          <a:xfrm>
            <a:off x="4279392" y="5056632"/>
            <a:ext cx="1005840"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WATER_LEAK</a:t>
            </a:r>
            <a:endParaRPr lang="en-US" sz="950" dirty="0"/>
          </a:p>
        </p:txBody>
      </p:sp>
      <p:sp>
        <p:nvSpPr>
          <p:cNvPr id="38" name="Shape 36"/>
          <p:cNvSpPr/>
          <p:nvPr/>
        </p:nvSpPr>
        <p:spPr>
          <a:xfrm>
            <a:off x="5504688" y="5010912"/>
            <a:ext cx="822960" cy="292608"/>
          </a:xfrm>
          <a:prstGeom prst="roundRect">
            <a:avLst>
              <a:gd name="adj" fmla="val 46875"/>
            </a:avLst>
          </a:prstGeom>
          <a:solidFill>
            <a:srgbClr val="EEF4FB"/>
          </a:solidFill>
          <a:ln w="12700">
            <a:solidFill>
              <a:srgbClr val="EEF4FB"/>
            </a:solidFill>
            <a:prstDash val="solid"/>
          </a:ln>
        </p:spPr>
      </p:sp>
      <p:sp>
        <p:nvSpPr>
          <p:cNvPr id="39" name="Text 37"/>
          <p:cNvSpPr/>
          <p:nvPr/>
        </p:nvSpPr>
        <p:spPr>
          <a:xfrm>
            <a:off x="5596128" y="5056632"/>
            <a:ext cx="640080"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OTHER</a:t>
            </a:r>
            <a:endParaRPr lang="en-US" sz="950" dirty="0"/>
          </a:p>
        </p:txBody>
      </p:sp>
      <p:sp>
        <p:nvSpPr>
          <p:cNvPr id="40" name="Text 38"/>
          <p:cNvSpPr/>
          <p:nvPr/>
        </p:nvSpPr>
        <p:spPr>
          <a:xfrm>
            <a:off x="694944" y="5532120"/>
            <a:ext cx="4663440" cy="256032"/>
          </a:xfrm>
          <a:prstGeom prst="rect">
            <a:avLst/>
          </a:prstGeom>
          <a:noFill/>
          <a:ln/>
        </p:spPr>
        <p:txBody>
          <a:bodyPr wrap="square" lIns="0" tIns="0" rIns="0" bIns="0" rtlCol="0" anchor="ctr">
            <a:normAutofit/>
          </a:bodyPr>
          <a:lstStyle/>
          <a:p>
            <a:pPr marL="0" indent="0">
              <a:buNone/>
            </a:pPr>
            <a:r>
              <a:rPr lang="en-US" sz="1100" dirty="0">
                <a:solidFill>
                  <a:srgbClr val="64748B"/>
                </a:solidFill>
                <a:latin typeface="Aptos" pitchFamily="34" charset="0"/>
                <a:ea typeface="Aptos" pitchFamily="34" charset="-122"/>
                <a:cs typeface="Aptos" pitchFamily="34" charset="-120"/>
              </a:rPr>
              <a:t>Default confidence threshold: 0.6 (configurable)</a:t>
            </a:r>
            <a:endParaRPr lang="en-US" sz="1100" dirty="0"/>
          </a:p>
        </p:txBody>
      </p:sp>
      <p:sp>
        <p:nvSpPr>
          <p:cNvPr id="41"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05 · TRUST LAYER</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Routing correctness + abuse resistance are first-class features.</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Two engineering pillars keep the system useful when volume and ambiguity rise.</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TRUST</a:t>
            </a:r>
            <a:endParaRPr lang="en-US" sz="950" dirty="0"/>
          </a:p>
        </p:txBody>
      </p:sp>
      <p:sp>
        <p:nvSpPr>
          <p:cNvPr id="7" name="Shape 5"/>
          <p:cNvSpPr/>
          <p:nvPr/>
        </p:nvSpPr>
        <p:spPr>
          <a:xfrm>
            <a:off x="566928" y="1874520"/>
            <a:ext cx="5175504" cy="4133088"/>
          </a:xfrm>
          <a:prstGeom prst="roundRect">
            <a:avLst>
              <a:gd name="adj" fmla="val 2655"/>
            </a:avLst>
          </a:prstGeom>
          <a:solidFill>
            <a:srgbClr val="FFFFFF"/>
          </a:solidFill>
          <a:ln w="12700">
            <a:solidFill>
              <a:srgbClr val="D6DEE9"/>
            </a:solidFill>
            <a:prstDash val="solid"/>
          </a:ln>
        </p:spPr>
      </p:sp>
      <p:sp>
        <p:nvSpPr>
          <p:cNvPr id="8" name="Text 6"/>
          <p:cNvSpPr/>
          <p:nvPr/>
        </p:nvSpPr>
        <p:spPr>
          <a:xfrm>
            <a:off x="841248" y="2084832"/>
            <a:ext cx="2103120" cy="201168"/>
          </a:xfrm>
          <a:prstGeom prst="rect">
            <a:avLst/>
          </a:prstGeom>
          <a:noFill/>
          <a:ln/>
        </p:spPr>
        <p:txBody>
          <a:bodyPr wrap="square" lIns="0" tIns="0" rIns="0" bIns="0" rtlCol="0" anchor="ctr">
            <a:normAutofit/>
          </a:bodyPr>
          <a:lstStyle/>
          <a:p>
            <a:pPr marL="0" indent="0">
              <a:buNone/>
            </a:pPr>
            <a:r>
              <a:rPr lang="en-US" sz="1000" b="1" kern="0" spc="110" dirty="0">
                <a:solidFill>
                  <a:srgbClr val="2F5D9B"/>
                </a:solidFill>
                <a:latin typeface="Aptos" pitchFamily="34" charset="0"/>
                <a:ea typeface="Aptos" pitchFamily="34" charset="-122"/>
                <a:cs typeface="Aptos" pitchFamily="34" charset="-120"/>
              </a:rPr>
              <a:t>LOCATION &amp; ROUTING</a:t>
            </a:r>
            <a:endParaRPr lang="en-US" sz="1000" dirty="0"/>
          </a:p>
        </p:txBody>
      </p:sp>
      <p:sp>
        <p:nvSpPr>
          <p:cNvPr id="9" name="Shape 7"/>
          <p:cNvSpPr/>
          <p:nvPr/>
        </p:nvSpPr>
        <p:spPr>
          <a:xfrm>
            <a:off x="896112" y="2697480"/>
            <a:ext cx="1234440" cy="1024128"/>
          </a:xfrm>
          <a:prstGeom prst="roundRect">
            <a:avLst>
              <a:gd name="adj" fmla="val 10714"/>
            </a:avLst>
          </a:prstGeom>
          <a:solidFill>
            <a:srgbClr val="F5F8FC"/>
          </a:solidFill>
          <a:ln w="12700">
            <a:solidFill>
              <a:srgbClr val="DCE8F7"/>
            </a:solidFill>
            <a:prstDash val="solid"/>
          </a:ln>
        </p:spPr>
      </p:sp>
      <p:sp>
        <p:nvSpPr>
          <p:cNvPr id="10" name="Text 8"/>
          <p:cNvSpPr/>
          <p:nvPr/>
        </p:nvSpPr>
        <p:spPr>
          <a:xfrm>
            <a:off x="896112" y="3099816"/>
            <a:ext cx="1234440" cy="201168"/>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W1</a:t>
            </a:r>
            <a:endParaRPr lang="en-US" sz="950" dirty="0"/>
          </a:p>
        </p:txBody>
      </p:sp>
      <p:sp>
        <p:nvSpPr>
          <p:cNvPr id="11" name="Shape 9"/>
          <p:cNvSpPr/>
          <p:nvPr/>
        </p:nvSpPr>
        <p:spPr>
          <a:xfrm>
            <a:off x="2011680" y="2578608"/>
            <a:ext cx="1243584" cy="1115568"/>
          </a:xfrm>
          <a:prstGeom prst="roundRect">
            <a:avLst>
              <a:gd name="adj" fmla="val 9836"/>
            </a:avLst>
          </a:prstGeom>
          <a:solidFill>
            <a:srgbClr val="EAF2FB"/>
          </a:solidFill>
          <a:ln w="12700">
            <a:solidFill>
              <a:srgbClr val="DCE8F7"/>
            </a:solidFill>
            <a:prstDash val="solid"/>
          </a:ln>
        </p:spPr>
      </p:sp>
      <p:sp>
        <p:nvSpPr>
          <p:cNvPr id="12" name="Text 10"/>
          <p:cNvSpPr/>
          <p:nvPr/>
        </p:nvSpPr>
        <p:spPr>
          <a:xfrm>
            <a:off x="2011680" y="2980944"/>
            <a:ext cx="1243584" cy="201168"/>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W2</a:t>
            </a:r>
            <a:endParaRPr lang="en-US" sz="950" dirty="0"/>
          </a:p>
        </p:txBody>
      </p:sp>
      <p:sp>
        <p:nvSpPr>
          <p:cNvPr id="13" name="Shape 11"/>
          <p:cNvSpPr/>
          <p:nvPr/>
        </p:nvSpPr>
        <p:spPr>
          <a:xfrm>
            <a:off x="3108960" y="2724912"/>
            <a:ext cx="1353312" cy="1078992"/>
          </a:xfrm>
          <a:prstGeom prst="roundRect">
            <a:avLst>
              <a:gd name="adj" fmla="val 10169"/>
            </a:avLst>
          </a:prstGeom>
          <a:solidFill>
            <a:srgbClr val="F4F7FA"/>
          </a:solidFill>
          <a:ln w="12700">
            <a:solidFill>
              <a:srgbClr val="DCE8F7"/>
            </a:solidFill>
            <a:prstDash val="solid"/>
          </a:ln>
        </p:spPr>
      </p:sp>
      <p:sp>
        <p:nvSpPr>
          <p:cNvPr id="14" name="Text 12"/>
          <p:cNvSpPr/>
          <p:nvPr/>
        </p:nvSpPr>
        <p:spPr>
          <a:xfrm>
            <a:off x="3108960" y="3127248"/>
            <a:ext cx="1353312" cy="201168"/>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W3</a:t>
            </a:r>
            <a:endParaRPr lang="en-US" sz="950" dirty="0"/>
          </a:p>
        </p:txBody>
      </p:sp>
      <p:sp>
        <p:nvSpPr>
          <p:cNvPr id="15" name="Shape 13"/>
          <p:cNvSpPr/>
          <p:nvPr/>
        </p:nvSpPr>
        <p:spPr>
          <a:xfrm>
            <a:off x="1261872" y="3749040"/>
            <a:ext cx="1389888" cy="1234440"/>
          </a:xfrm>
          <a:prstGeom prst="roundRect">
            <a:avLst>
              <a:gd name="adj" fmla="val 8889"/>
            </a:avLst>
          </a:prstGeom>
          <a:solidFill>
            <a:srgbClr val="EFF4FA"/>
          </a:solidFill>
          <a:ln w="12700">
            <a:solidFill>
              <a:srgbClr val="DCE8F7"/>
            </a:solidFill>
            <a:prstDash val="solid"/>
          </a:ln>
        </p:spPr>
      </p:sp>
      <p:sp>
        <p:nvSpPr>
          <p:cNvPr id="16" name="Text 14"/>
          <p:cNvSpPr/>
          <p:nvPr/>
        </p:nvSpPr>
        <p:spPr>
          <a:xfrm>
            <a:off x="1261872" y="4151376"/>
            <a:ext cx="1389888" cy="201168"/>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W4</a:t>
            </a:r>
            <a:endParaRPr lang="en-US" sz="950" dirty="0"/>
          </a:p>
        </p:txBody>
      </p:sp>
      <p:sp>
        <p:nvSpPr>
          <p:cNvPr id="17" name="Shape 15"/>
          <p:cNvSpPr/>
          <p:nvPr/>
        </p:nvSpPr>
        <p:spPr>
          <a:xfrm>
            <a:off x="2487168" y="3803904"/>
            <a:ext cx="1444752" cy="1170432"/>
          </a:xfrm>
          <a:prstGeom prst="roundRect">
            <a:avLst>
              <a:gd name="adj" fmla="val 9375"/>
            </a:avLst>
          </a:prstGeom>
          <a:solidFill>
            <a:srgbClr val="EAF2FB"/>
          </a:solidFill>
          <a:ln w="12700">
            <a:solidFill>
              <a:srgbClr val="DCE8F7"/>
            </a:solidFill>
            <a:prstDash val="solid"/>
          </a:ln>
        </p:spPr>
      </p:sp>
      <p:sp>
        <p:nvSpPr>
          <p:cNvPr id="18" name="Text 16"/>
          <p:cNvSpPr/>
          <p:nvPr/>
        </p:nvSpPr>
        <p:spPr>
          <a:xfrm>
            <a:off x="2487168" y="4206240"/>
            <a:ext cx="1444752" cy="201168"/>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W5</a:t>
            </a:r>
            <a:endParaRPr lang="en-US" sz="950" dirty="0"/>
          </a:p>
        </p:txBody>
      </p:sp>
      <p:sp>
        <p:nvSpPr>
          <p:cNvPr id="19" name="Shape 17"/>
          <p:cNvSpPr/>
          <p:nvPr/>
        </p:nvSpPr>
        <p:spPr>
          <a:xfrm>
            <a:off x="3703320" y="3822192"/>
            <a:ext cx="1225296" cy="1143000"/>
          </a:xfrm>
          <a:prstGeom prst="roundRect">
            <a:avLst>
              <a:gd name="adj" fmla="val 9600"/>
            </a:avLst>
          </a:prstGeom>
          <a:solidFill>
            <a:srgbClr val="F5F8FC"/>
          </a:solidFill>
          <a:ln w="12700">
            <a:solidFill>
              <a:srgbClr val="DCE8F7"/>
            </a:solidFill>
            <a:prstDash val="solid"/>
          </a:ln>
        </p:spPr>
      </p:sp>
      <p:sp>
        <p:nvSpPr>
          <p:cNvPr id="20" name="Text 18"/>
          <p:cNvSpPr/>
          <p:nvPr/>
        </p:nvSpPr>
        <p:spPr>
          <a:xfrm>
            <a:off x="3703320" y="4224528"/>
            <a:ext cx="1225296" cy="201168"/>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ptos" pitchFamily="34" charset="0"/>
                <a:ea typeface="Aptos" pitchFamily="34" charset="-122"/>
                <a:cs typeface="Aptos" pitchFamily="34" charset="-120"/>
              </a:rPr>
              <a:t>W6</a:t>
            </a:r>
            <a:endParaRPr lang="en-US" sz="950" dirty="0"/>
          </a:p>
        </p:txBody>
      </p:sp>
      <p:sp>
        <p:nvSpPr>
          <p:cNvPr id="21" name="Shape 19"/>
          <p:cNvSpPr/>
          <p:nvPr/>
        </p:nvSpPr>
        <p:spPr>
          <a:xfrm>
            <a:off x="2724912" y="3063240"/>
            <a:ext cx="292608" cy="292608"/>
          </a:xfrm>
          <a:prstGeom prst="ellipse">
            <a:avLst/>
          </a:prstGeom>
          <a:solidFill>
            <a:srgbClr val="2F5D9B"/>
          </a:solidFill>
          <a:ln w="12700">
            <a:solidFill>
              <a:srgbClr val="2F5D9B"/>
            </a:solidFill>
            <a:prstDash val="solid"/>
          </a:ln>
        </p:spPr>
      </p:sp>
      <p:sp>
        <p:nvSpPr>
          <p:cNvPr id="22" name="Text 20"/>
          <p:cNvSpPr/>
          <p:nvPr/>
        </p:nvSpPr>
        <p:spPr>
          <a:xfrm>
            <a:off x="2724912" y="3081528"/>
            <a:ext cx="292608"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23" name="Shape 21"/>
          <p:cNvSpPr/>
          <p:nvPr/>
        </p:nvSpPr>
        <p:spPr>
          <a:xfrm>
            <a:off x="3017520" y="3246120"/>
            <a:ext cx="777240" cy="0"/>
          </a:xfrm>
          <a:prstGeom prst="line">
            <a:avLst/>
          </a:prstGeom>
          <a:noFill/>
          <a:ln w="16510">
            <a:solidFill>
              <a:srgbClr val="2F5D9B"/>
            </a:solidFill>
            <a:prstDash val="solid"/>
            <a:headEnd type="none"/>
            <a:tailEnd type="triangle"/>
          </a:ln>
        </p:spPr>
      </p:sp>
      <p:sp>
        <p:nvSpPr>
          <p:cNvPr id="24" name="Shape 22"/>
          <p:cNvSpPr/>
          <p:nvPr/>
        </p:nvSpPr>
        <p:spPr>
          <a:xfrm>
            <a:off x="3822192" y="2962656"/>
            <a:ext cx="1408176" cy="603504"/>
          </a:xfrm>
          <a:prstGeom prst="roundRect">
            <a:avLst>
              <a:gd name="adj" fmla="val 18182"/>
            </a:avLst>
          </a:prstGeom>
          <a:solidFill>
            <a:srgbClr val="183B6B"/>
          </a:solidFill>
          <a:ln w="12700">
            <a:solidFill>
              <a:srgbClr val="183B6B"/>
            </a:solidFill>
            <a:prstDash val="solid"/>
          </a:ln>
        </p:spPr>
      </p:sp>
      <p:sp>
        <p:nvSpPr>
          <p:cNvPr id="25" name="Text 23"/>
          <p:cNvSpPr/>
          <p:nvPr/>
        </p:nvSpPr>
        <p:spPr>
          <a:xfrm>
            <a:off x="3913632" y="3054096"/>
            <a:ext cx="1225296" cy="420624"/>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Aptos" pitchFamily="34" charset="0"/>
                <a:ea typeface="Aptos" pitchFamily="34" charset="-122"/>
                <a:cs typeface="Aptos" pitchFamily="34" charset="-120"/>
              </a:rPr>
              <a:t>Department</a:t>
            </a:r>
            <a:endParaRPr lang="en-US" sz="1150" dirty="0"/>
          </a:p>
        </p:txBody>
      </p:sp>
      <p:sp>
        <p:nvSpPr>
          <p:cNvPr id="26" name="Text 24"/>
          <p:cNvSpPr/>
          <p:nvPr/>
        </p:nvSpPr>
        <p:spPr>
          <a:xfrm>
            <a:off x="877824" y="5212080"/>
            <a:ext cx="4462272" cy="530352"/>
          </a:xfrm>
          <a:prstGeom prst="rect">
            <a:avLst/>
          </a:prstGeom>
          <a:noFill/>
          <a:ln/>
        </p:spPr>
        <p:txBody>
          <a:bodyPr wrap="square" lIns="0" tIns="0" rIns="0" bIns="0" rtlCol="0" anchor="ctr">
            <a:normAutofit/>
          </a:bodyPr>
          <a:lstStyle/>
          <a:p>
            <a:pPr marL="0" indent="0" algn="ctr">
              <a:buNone/>
            </a:pPr>
            <a:r>
              <a:rPr lang="en-US" sz="1020" dirty="0">
                <a:solidFill>
                  <a:srgbClr val="475569"/>
                </a:solidFill>
                <a:latin typeface="Aptos" pitchFamily="34" charset="0"/>
                <a:ea typeface="Aptos" pitchFamily="34" charset="-122"/>
                <a:cs typeface="Aptos" pitchFamily="34" charset="-120"/>
              </a:rPr>
              <a:t>GPS → ward polygon →</a:t>
            </a:r>
            <a:endParaRPr lang="en-US" sz="1020" dirty="0"/>
          </a:p>
          <a:p>
            <a:pPr marL="0" indent="0" algn="ctr">
              <a:buNone/>
            </a:pPr>
            <a:r>
              <a:rPr lang="en-US" sz="1020" dirty="0">
                <a:solidFill>
                  <a:srgbClr val="475569"/>
                </a:solidFill>
                <a:latin typeface="Aptos" pitchFamily="34" charset="0"/>
                <a:ea typeface="Aptos" pitchFamily="34" charset="-122"/>
                <a:cs typeface="Aptos" pitchFamily="34" charset="-120"/>
              </a:rPr>
              <a:t>category × ward mapping →</a:t>
            </a:r>
            <a:endParaRPr lang="en-US" sz="1020" dirty="0"/>
          </a:p>
          <a:p>
            <a:pPr marL="0" indent="0" algn="ctr">
              <a:buNone/>
            </a:pPr>
            <a:r>
              <a:rPr lang="en-US" sz="1020" dirty="0">
                <a:solidFill>
                  <a:srgbClr val="475569"/>
                </a:solidFill>
                <a:latin typeface="Aptos" pitchFamily="34" charset="0"/>
                <a:ea typeface="Aptos" pitchFamily="34" charset="-122"/>
                <a:cs typeface="Aptos" pitchFamily="34" charset="-120"/>
              </a:rPr>
              <a:t>load-balanced official</a:t>
            </a:r>
            <a:endParaRPr lang="en-US" sz="1020" dirty="0"/>
          </a:p>
        </p:txBody>
      </p:sp>
      <p:sp>
        <p:nvSpPr>
          <p:cNvPr id="27" name="Shape 25"/>
          <p:cNvSpPr/>
          <p:nvPr/>
        </p:nvSpPr>
        <p:spPr>
          <a:xfrm>
            <a:off x="5961888" y="1874520"/>
            <a:ext cx="5632704" cy="4133088"/>
          </a:xfrm>
          <a:prstGeom prst="roundRect">
            <a:avLst>
              <a:gd name="adj" fmla="val 2655"/>
            </a:avLst>
          </a:prstGeom>
          <a:solidFill>
            <a:srgbClr val="FFFFFF"/>
          </a:solidFill>
          <a:ln w="12700">
            <a:solidFill>
              <a:srgbClr val="D6DEE9"/>
            </a:solidFill>
            <a:prstDash val="solid"/>
          </a:ln>
        </p:spPr>
      </p:sp>
      <p:sp>
        <p:nvSpPr>
          <p:cNvPr id="28" name="Text 26"/>
          <p:cNvSpPr/>
          <p:nvPr/>
        </p:nvSpPr>
        <p:spPr>
          <a:xfrm>
            <a:off x="6236208" y="2084832"/>
            <a:ext cx="2468880" cy="201168"/>
          </a:xfrm>
          <a:prstGeom prst="rect">
            <a:avLst/>
          </a:prstGeom>
          <a:noFill/>
          <a:ln/>
        </p:spPr>
        <p:txBody>
          <a:bodyPr wrap="square" lIns="0" tIns="0" rIns="0" bIns="0" rtlCol="0" anchor="ctr">
            <a:normAutofit/>
          </a:bodyPr>
          <a:lstStyle/>
          <a:p>
            <a:pPr marL="0" indent="0">
              <a:buNone/>
            </a:pPr>
            <a:r>
              <a:rPr lang="en-US" sz="1000" b="1" kern="0" spc="110" dirty="0">
                <a:solidFill>
                  <a:srgbClr val="2F7D59"/>
                </a:solidFill>
                <a:latin typeface="Aptos" pitchFamily="34" charset="0"/>
                <a:ea typeface="Aptos" pitchFamily="34" charset="-122"/>
                <a:cs typeface="Aptos" pitchFamily="34" charset="-120"/>
              </a:rPr>
              <a:t>ANTI-ABUSE &amp; TRUST</a:t>
            </a:r>
            <a:endParaRPr lang="en-US" sz="1000" dirty="0"/>
          </a:p>
        </p:txBody>
      </p:sp>
      <p:sp>
        <p:nvSpPr>
          <p:cNvPr id="29" name="Shape 27"/>
          <p:cNvSpPr/>
          <p:nvPr/>
        </p:nvSpPr>
        <p:spPr>
          <a:xfrm>
            <a:off x="6236208" y="2542032"/>
            <a:ext cx="310896" cy="310896"/>
          </a:xfrm>
          <a:prstGeom prst="ellipse">
            <a:avLst/>
          </a:prstGeom>
          <a:solidFill>
            <a:srgbClr val="2F7D59"/>
          </a:solidFill>
          <a:ln w="12700">
            <a:solidFill>
              <a:srgbClr val="2F7D59"/>
            </a:solidFill>
            <a:prstDash val="solid"/>
          </a:ln>
        </p:spPr>
      </p:sp>
      <p:sp>
        <p:nvSpPr>
          <p:cNvPr id="30" name="Text 28"/>
          <p:cNvSpPr/>
          <p:nvPr/>
        </p:nvSpPr>
        <p:spPr>
          <a:xfrm>
            <a:off x="6236208" y="2560320"/>
            <a:ext cx="310896"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31" name="Text 29"/>
          <p:cNvSpPr/>
          <p:nvPr/>
        </p:nvSpPr>
        <p:spPr>
          <a:xfrm>
            <a:off x="6620256" y="2599392"/>
            <a:ext cx="987552" cy="182880"/>
          </a:xfrm>
          <a:prstGeom prst="rect">
            <a:avLst/>
          </a:prstGeom>
          <a:noFill/>
          <a:ln/>
        </p:spPr>
        <p:txBody>
          <a:bodyPr wrap="square" lIns="0" tIns="0" rIns="0" bIns="0" rtlCol="0" anchor="ctr">
            <a:normAutofit/>
          </a:bodyPr>
          <a:lstStyle/>
          <a:p>
            <a:pPr marL="0" indent="0">
              <a:buNone/>
            </a:pPr>
            <a:r>
              <a:rPr lang="en-US" sz="930" b="1" kern="0" spc="80" dirty="0">
                <a:solidFill>
                  <a:srgbClr val="2F7D59"/>
                </a:solidFill>
                <a:latin typeface="Aptos" pitchFamily="34" charset="0"/>
                <a:ea typeface="Aptos" pitchFamily="34" charset="-122"/>
                <a:cs typeface="Aptos" pitchFamily="34" charset="-120"/>
              </a:rPr>
              <a:t>VERIFY</a:t>
            </a:r>
            <a:endParaRPr lang="en-US" sz="930" dirty="0"/>
          </a:p>
        </p:txBody>
      </p:sp>
      <p:sp>
        <p:nvSpPr>
          <p:cNvPr id="32" name="Text 30"/>
          <p:cNvSpPr/>
          <p:nvPr/>
        </p:nvSpPr>
        <p:spPr>
          <a:xfrm>
            <a:off x="7589520" y="2523744"/>
            <a:ext cx="3584448" cy="347472"/>
          </a:xfrm>
          <a:prstGeom prst="rect">
            <a:avLst/>
          </a:prstGeom>
          <a:noFill/>
          <a:ln/>
        </p:spPr>
        <p:txBody>
          <a:bodyPr wrap="square" lIns="0" tIns="0" rIns="0" bIns="0" rtlCol="0" anchor="ctr">
            <a:normAutofit/>
          </a:bodyPr>
          <a:lstStyle/>
          <a:p>
            <a:pPr marL="0" indent="0">
              <a:buNone/>
            </a:pPr>
            <a:r>
              <a:rPr lang="en-US" sz="960" dirty="0">
                <a:solidFill>
                  <a:srgbClr val="0F172A"/>
                </a:solidFill>
                <a:latin typeface="Aptos" pitchFamily="34" charset="0"/>
                <a:ea typeface="Aptos" pitchFamily="34" charset="-122"/>
                <a:cs typeface="Aptos" pitchFamily="34" charset="-120"/>
              </a:rPr>
              <a:t>Report becomes SLA-counted only after confirmation.</a:t>
            </a:r>
            <a:endParaRPr lang="en-US" sz="960" dirty="0"/>
          </a:p>
        </p:txBody>
      </p:sp>
      <p:sp>
        <p:nvSpPr>
          <p:cNvPr id="33" name="Shape 31"/>
          <p:cNvSpPr/>
          <p:nvPr/>
        </p:nvSpPr>
        <p:spPr>
          <a:xfrm>
            <a:off x="6236208" y="3063240"/>
            <a:ext cx="310896" cy="310896"/>
          </a:xfrm>
          <a:prstGeom prst="ellipse">
            <a:avLst/>
          </a:prstGeom>
          <a:solidFill>
            <a:srgbClr val="2F7D59"/>
          </a:solidFill>
          <a:ln w="12700">
            <a:solidFill>
              <a:srgbClr val="2F7D59"/>
            </a:solidFill>
            <a:prstDash val="solid"/>
          </a:ln>
        </p:spPr>
      </p:sp>
      <p:sp>
        <p:nvSpPr>
          <p:cNvPr id="34" name="Text 32"/>
          <p:cNvSpPr/>
          <p:nvPr/>
        </p:nvSpPr>
        <p:spPr>
          <a:xfrm>
            <a:off x="6236208" y="3081528"/>
            <a:ext cx="310896"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35" name="Text 33"/>
          <p:cNvSpPr/>
          <p:nvPr/>
        </p:nvSpPr>
        <p:spPr>
          <a:xfrm>
            <a:off x="6620256" y="3120600"/>
            <a:ext cx="987552" cy="182880"/>
          </a:xfrm>
          <a:prstGeom prst="rect">
            <a:avLst/>
          </a:prstGeom>
          <a:noFill/>
          <a:ln/>
        </p:spPr>
        <p:txBody>
          <a:bodyPr wrap="square" lIns="0" tIns="0" rIns="0" bIns="0" rtlCol="0" anchor="ctr">
            <a:normAutofit/>
          </a:bodyPr>
          <a:lstStyle/>
          <a:p>
            <a:pPr marL="0" indent="0">
              <a:buNone/>
            </a:pPr>
            <a:r>
              <a:rPr lang="en-US" sz="930" b="1" kern="0" spc="80" dirty="0">
                <a:solidFill>
                  <a:srgbClr val="2F7D59"/>
                </a:solidFill>
                <a:latin typeface="Aptos" pitchFamily="34" charset="0"/>
                <a:ea typeface="Aptos" pitchFamily="34" charset="-122"/>
                <a:cs typeface="Aptos" pitchFamily="34" charset="-120"/>
              </a:rPr>
              <a:t>TRUST</a:t>
            </a:r>
            <a:endParaRPr lang="en-US" sz="930" dirty="0"/>
          </a:p>
        </p:txBody>
      </p:sp>
      <p:sp>
        <p:nvSpPr>
          <p:cNvPr id="36" name="Text 34"/>
          <p:cNvSpPr/>
          <p:nvPr/>
        </p:nvSpPr>
        <p:spPr>
          <a:xfrm>
            <a:off x="7589520" y="3044952"/>
            <a:ext cx="3584448" cy="347472"/>
          </a:xfrm>
          <a:prstGeom prst="rect">
            <a:avLst/>
          </a:prstGeom>
          <a:noFill/>
          <a:ln/>
        </p:spPr>
        <p:txBody>
          <a:bodyPr wrap="square" lIns="0" tIns="0" rIns="0" bIns="0" rtlCol="0" anchor="ctr">
            <a:normAutofit/>
          </a:bodyPr>
          <a:lstStyle/>
          <a:p>
            <a:pPr marL="0" indent="0">
              <a:buNone/>
            </a:pPr>
            <a:r>
              <a:rPr lang="en-US" sz="960" dirty="0">
                <a:solidFill>
                  <a:srgbClr val="0F172A"/>
                </a:solidFill>
                <a:latin typeface="Aptos" pitchFamily="34" charset="0"/>
                <a:ea typeface="Aptos" pitchFamily="34" charset="-122"/>
                <a:cs typeface="Aptos" pitchFamily="34" charset="-120"/>
              </a:rPr>
              <a:t>Per-account history weights verified vs. rejected reports.</a:t>
            </a:r>
            <a:endParaRPr lang="en-US" sz="960" dirty="0"/>
          </a:p>
        </p:txBody>
      </p:sp>
      <p:sp>
        <p:nvSpPr>
          <p:cNvPr id="37" name="Shape 35"/>
          <p:cNvSpPr/>
          <p:nvPr/>
        </p:nvSpPr>
        <p:spPr>
          <a:xfrm>
            <a:off x="6236208" y="3584448"/>
            <a:ext cx="310896" cy="310896"/>
          </a:xfrm>
          <a:prstGeom prst="ellipse">
            <a:avLst/>
          </a:prstGeom>
          <a:solidFill>
            <a:srgbClr val="2F7D59"/>
          </a:solidFill>
          <a:ln w="12700">
            <a:solidFill>
              <a:srgbClr val="2F7D59"/>
            </a:solidFill>
            <a:prstDash val="solid"/>
          </a:ln>
        </p:spPr>
      </p:sp>
      <p:sp>
        <p:nvSpPr>
          <p:cNvPr id="38" name="Text 36"/>
          <p:cNvSpPr/>
          <p:nvPr/>
        </p:nvSpPr>
        <p:spPr>
          <a:xfrm>
            <a:off x="6236208" y="3602736"/>
            <a:ext cx="310896"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03</a:t>
            </a:r>
            <a:endParaRPr lang="en-US" sz="1100" dirty="0"/>
          </a:p>
        </p:txBody>
      </p:sp>
      <p:sp>
        <p:nvSpPr>
          <p:cNvPr id="39" name="Text 37"/>
          <p:cNvSpPr/>
          <p:nvPr/>
        </p:nvSpPr>
        <p:spPr>
          <a:xfrm>
            <a:off x="6620256" y="3641808"/>
            <a:ext cx="987552" cy="182880"/>
          </a:xfrm>
          <a:prstGeom prst="rect">
            <a:avLst/>
          </a:prstGeom>
          <a:noFill/>
          <a:ln/>
        </p:spPr>
        <p:txBody>
          <a:bodyPr wrap="square" lIns="0" tIns="0" rIns="0" bIns="0" rtlCol="0" anchor="ctr">
            <a:normAutofit/>
          </a:bodyPr>
          <a:lstStyle/>
          <a:p>
            <a:pPr marL="0" indent="0">
              <a:buNone/>
            </a:pPr>
            <a:r>
              <a:rPr lang="en-US" sz="930" b="1" kern="0" spc="80" dirty="0">
                <a:solidFill>
                  <a:srgbClr val="2F7D59"/>
                </a:solidFill>
                <a:latin typeface="Aptos" pitchFamily="34" charset="0"/>
                <a:ea typeface="Aptos" pitchFamily="34" charset="-122"/>
                <a:cs typeface="Aptos" pitchFamily="34" charset="-120"/>
              </a:rPr>
              <a:t>RATE-LIMIT</a:t>
            </a:r>
            <a:endParaRPr lang="en-US" sz="930" dirty="0"/>
          </a:p>
        </p:txBody>
      </p:sp>
      <p:sp>
        <p:nvSpPr>
          <p:cNvPr id="40" name="Text 38"/>
          <p:cNvSpPr/>
          <p:nvPr/>
        </p:nvSpPr>
        <p:spPr>
          <a:xfrm>
            <a:off x="7589520" y="3566160"/>
            <a:ext cx="3584448" cy="347472"/>
          </a:xfrm>
          <a:prstGeom prst="rect">
            <a:avLst/>
          </a:prstGeom>
          <a:noFill/>
          <a:ln/>
        </p:spPr>
        <p:txBody>
          <a:bodyPr wrap="square" lIns="0" tIns="0" rIns="0" bIns="0" rtlCol="0" anchor="ctr">
            <a:normAutofit/>
          </a:bodyPr>
          <a:lstStyle/>
          <a:p>
            <a:pPr marL="0" indent="0">
              <a:buNone/>
            </a:pPr>
            <a:r>
              <a:rPr lang="en-US" sz="960" dirty="0">
                <a:solidFill>
                  <a:srgbClr val="0F172A"/>
                </a:solidFill>
                <a:latin typeface="Aptos" pitchFamily="34" charset="0"/>
                <a:ea typeface="Aptos" pitchFamily="34" charset="-122"/>
                <a:cs typeface="Aptos" pitchFamily="34" charset="-120"/>
              </a:rPr>
              <a:t>Per account, device fingerprint, and phone number.</a:t>
            </a:r>
            <a:endParaRPr lang="en-US" sz="960" dirty="0"/>
          </a:p>
        </p:txBody>
      </p:sp>
      <p:sp>
        <p:nvSpPr>
          <p:cNvPr id="41" name="Shape 39"/>
          <p:cNvSpPr/>
          <p:nvPr/>
        </p:nvSpPr>
        <p:spPr>
          <a:xfrm>
            <a:off x="6236208" y="4105656"/>
            <a:ext cx="310896" cy="310896"/>
          </a:xfrm>
          <a:prstGeom prst="ellipse">
            <a:avLst/>
          </a:prstGeom>
          <a:solidFill>
            <a:srgbClr val="2F7D59"/>
          </a:solidFill>
          <a:ln w="12700">
            <a:solidFill>
              <a:srgbClr val="2F7D59"/>
            </a:solidFill>
            <a:prstDash val="solid"/>
          </a:ln>
        </p:spPr>
      </p:sp>
      <p:sp>
        <p:nvSpPr>
          <p:cNvPr id="42" name="Text 40"/>
          <p:cNvSpPr/>
          <p:nvPr/>
        </p:nvSpPr>
        <p:spPr>
          <a:xfrm>
            <a:off x="6236208" y="4123944"/>
            <a:ext cx="310896"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04</a:t>
            </a:r>
            <a:endParaRPr lang="en-US" sz="1100" dirty="0"/>
          </a:p>
        </p:txBody>
      </p:sp>
      <p:sp>
        <p:nvSpPr>
          <p:cNvPr id="43" name="Text 41"/>
          <p:cNvSpPr/>
          <p:nvPr/>
        </p:nvSpPr>
        <p:spPr>
          <a:xfrm>
            <a:off x="6620256" y="4163016"/>
            <a:ext cx="987552" cy="182880"/>
          </a:xfrm>
          <a:prstGeom prst="rect">
            <a:avLst/>
          </a:prstGeom>
          <a:noFill/>
          <a:ln/>
        </p:spPr>
        <p:txBody>
          <a:bodyPr wrap="square" lIns="0" tIns="0" rIns="0" bIns="0" rtlCol="0" anchor="ctr">
            <a:normAutofit/>
          </a:bodyPr>
          <a:lstStyle/>
          <a:p>
            <a:pPr marL="0" indent="0">
              <a:buNone/>
            </a:pPr>
            <a:r>
              <a:rPr lang="en-US" sz="930" b="1" kern="0" spc="80" dirty="0">
                <a:solidFill>
                  <a:srgbClr val="2F7D59"/>
                </a:solidFill>
                <a:latin typeface="Aptos" pitchFamily="34" charset="0"/>
                <a:ea typeface="Aptos" pitchFamily="34" charset="-122"/>
                <a:cs typeface="Aptos" pitchFamily="34" charset="-120"/>
              </a:rPr>
              <a:t>DE-DUPE</a:t>
            </a:r>
            <a:endParaRPr lang="en-US" sz="930" dirty="0"/>
          </a:p>
        </p:txBody>
      </p:sp>
      <p:sp>
        <p:nvSpPr>
          <p:cNvPr id="44" name="Text 42"/>
          <p:cNvSpPr/>
          <p:nvPr/>
        </p:nvSpPr>
        <p:spPr>
          <a:xfrm>
            <a:off x="7589520" y="4087368"/>
            <a:ext cx="3584448" cy="347472"/>
          </a:xfrm>
          <a:prstGeom prst="rect">
            <a:avLst/>
          </a:prstGeom>
          <a:noFill/>
          <a:ln/>
        </p:spPr>
        <p:txBody>
          <a:bodyPr wrap="square" lIns="0" tIns="0" rIns="0" bIns="0" rtlCol="0" anchor="ctr">
            <a:normAutofit/>
          </a:bodyPr>
          <a:lstStyle/>
          <a:p>
            <a:pPr marL="0" indent="0">
              <a:buNone/>
            </a:pPr>
            <a:r>
              <a:rPr lang="en-US" sz="960" dirty="0">
                <a:solidFill>
                  <a:srgbClr val="0F172A"/>
                </a:solidFill>
                <a:latin typeface="Aptos" pitchFamily="34" charset="0"/>
                <a:ea typeface="Aptos" pitchFamily="34" charset="-122"/>
                <a:cs typeface="Aptos" pitchFamily="34" charset="-120"/>
              </a:rPr>
              <a:t>Perceptual hash + location proximity → one canonical case.</a:t>
            </a:r>
            <a:endParaRPr lang="en-US" sz="960" dirty="0"/>
          </a:p>
        </p:txBody>
      </p:sp>
      <p:sp>
        <p:nvSpPr>
          <p:cNvPr id="45" name="Shape 43"/>
          <p:cNvSpPr/>
          <p:nvPr/>
        </p:nvSpPr>
        <p:spPr>
          <a:xfrm>
            <a:off x="6236208" y="4626864"/>
            <a:ext cx="310896" cy="310896"/>
          </a:xfrm>
          <a:prstGeom prst="ellipse">
            <a:avLst/>
          </a:prstGeom>
          <a:solidFill>
            <a:srgbClr val="2F7D59"/>
          </a:solidFill>
          <a:ln w="12700">
            <a:solidFill>
              <a:srgbClr val="2F7D59"/>
            </a:solidFill>
            <a:prstDash val="solid"/>
          </a:ln>
        </p:spPr>
      </p:sp>
      <p:sp>
        <p:nvSpPr>
          <p:cNvPr id="46" name="Text 44"/>
          <p:cNvSpPr/>
          <p:nvPr/>
        </p:nvSpPr>
        <p:spPr>
          <a:xfrm>
            <a:off x="6236208" y="4645152"/>
            <a:ext cx="310896"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05</a:t>
            </a:r>
            <a:endParaRPr lang="en-US" sz="1100" dirty="0"/>
          </a:p>
        </p:txBody>
      </p:sp>
      <p:sp>
        <p:nvSpPr>
          <p:cNvPr id="47" name="Text 45"/>
          <p:cNvSpPr/>
          <p:nvPr/>
        </p:nvSpPr>
        <p:spPr>
          <a:xfrm>
            <a:off x="6620256" y="4684224"/>
            <a:ext cx="987552" cy="182880"/>
          </a:xfrm>
          <a:prstGeom prst="rect">
            <a:avLst/>
          </a:prstGeom>
          <a:noFill/>
          <a:ln/>
        </p:spPr>
        <p:txBody>
          <a:bodyPr wrap="square" lIns="0" tIns="0" rIns="0" bIns="0" rtlCol="0" anchor="ctr">
            <a:normAutofit/>
          </a:bodyPr>
          <a:lstStyle/>
          <a:p>
            <a:pPr marL="0" indent="0">
              <a:buNone/>
            </a:pPr>
            <a:r>
              <a:rPr lang="en-US" sz="930" b="1" kern="0" spc="80" dirty="0">
                <a:solidFill>
                  <a:srgbClr val="2F7D59"/>
                </a:solidFill>
                <a:latin typeface="Aptos" pitchFamily="34" charset="0"/>
                <a:ea typeface="Aptos" pitchFamily="34" charset="-122"/>
                <a:cs typeface="Aptos" pitchFamily="34" charset="-120"/>
              </a:rPr>
              <a:t>CLUSTER</a:t>
            </a:r>
            <a:endParaRPr lang="en-US" sz="930" dirty="0"/>
          </a:p>
        </p:txBody>
      </p:sp>
      <p:sp>
        <p:nvSpPr>
          <p:cNvPr id="48" name="Text 46"/>
          <p:cNvSpPr/>
          <p:nvPr/>
        </p:nvSpPr>
        <p:spPr>
          <a:xfrm>
            <a:off x="7589520" y="4608576"/>
            <a:ext cx="3584448" cy="347472"/>
          </a:xfrm>
          <a:prstGeom prst="rect">
            <a:avLst/>
          </a:prstGeom>
          <a:noFill/>
          <a:ln/>
        </p:spPr>
        <p:txBody>
          <a:bodyPr wrap="square" lIns="0" tIns="0" rIns="0" bIns="0" rtlCol="0" anchor="ctr">
            <a:normAutofit/>
          </a:bodyPr>
          <a:lstStyle/>
          <a:p>
            <a:pPr marL="0" indent="0">
              <a:buNone/>
            </a:pPr>
            <a:r>
              <a:rPr lang="en-US" sz="960" dirty="0">
                <a:solidFill>
                  <a:srgbClr val="0F172A"/>
                </a:solidFill>
                <a:latin typeface="Aptos" pitchFamily="34" charset="0"/>
                <a:ea typeface="Aptos" pitchFamily="34" charset="-122"/>
                <a:cs typeface="Aptos" pitchFamily="34" charset="-120"/>
              </a:rPr>
              <a:t>Abnormal spatial/temporal bursts go to admin review.</a:t>
            </a:r>
            <a:endParaRPr lang="en-US" sz="960" dirty="0"/>
          </a:p>
        </p:txBody>
      </p:sp>
      <p:sp>
        <p:nvSpPr>
          <p:cNvPr id="49" name="Shape 47"/>
          <p:cNvSpPr/>
          <p:nvPr/>
        </p:nvSpPr>
        <p:spPr>
          <a:xfrm>
            <a:off x="6236208" y="5148072"/>
            <a:ext cx="310896" cy="310896"/>
          </a:xfrm>
          <a:prstGeom prst="ellipse">
            <a:avLst/>
          </a:prstGeom>
          <a:solidFill>
            <a:srgbClr val="2F7D59"/>
          </a:solidFill>
          <a:ln w="12700">
            <a:solidFill>
              <a:srgbClr val="2F7D59"/>
            </a:solidFill>
            <a:prstDash val="solid"/>
          </a:ln>
        </p:spPr>
      </p:sp>
      <p:sp>
        <p:nvSpPr>
          <p:cNvPr id="50" name="Text 48"/>
          <p:cNvSpPr/>
          <p:nvPr/>
        </p:nvSpPr>
        <p:spPr>
          <a:xfrm>
            <a:off x="6236208" y="5166360"/>
            <a:ext cx="310896" cy="27432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06</a:t>
            </a:r>
            <a:endParaRPr lang="en-US" sz="1100" dirty="0"/>
          </a:p>
        </p:txBody>
      </p:sp>
      <p:sp>
        <p:nvSpPr>
          <p:cNvPr id="51" name="Text 49"/>
          <p:cNvSpPr/>
          <p:nvPr/>
        </p:nvSpPr>
        <p:spPr>
          <a:xfrm>
            <a:off x="6620256" y="5205432"/>
            <a:ext cx="987552" cy="182880"/>
          </a:xfrm>
          <a:prstGeom prst="rect">
            <a:avLst/>
          </a:prstGeom>
          <a:noFill/>
          <a:ln/>
        </p:spPr>
        <p:txBody>
          <a:bodyPr wrap="square" lIns="0" tIns="0" rIns="0" bIns="0" rtlCol="0" anchor="ctr">
            <a:normAutofit/>
          </a:bodyPr>
          <a:lstStyle/>
          <a:p>
            <a:pPr marL="0" indent="0">
              <a:buNone/>
            </a:pPr>
            <a:r>
              <a:rPr lang="en-US" sz="930" b="1" kern="0" spc="80" dirty="0">
                <a:solidFill>
                  <a:srgbClr val="2F7D59"/>
                </a:solidFill>
                <a:latin typeface="Aptos" pitchFamily="34" charset="0"/>
                <a:ea typeface="Aptos" pitchFamily="34" charset="-122"/>
                <a:cs typeface="Aptos" pitchFamily="34" charset="-120"/>
              </a:rPr>
              <a:t>EXIF</a:t>
            </a:r>
            <a:endParaRPr lang="en-US" sz="930" dirty="0"/>
          </a:p>
        </p:txBody>
      </p:sp>
      <p:sp>
        <p:nvSpPr>
          <p:cNvPr id="52" name="Text 50"/>
          <p:cNvSpPr/>
          <p:nvPr/>
        </p:nvSpPr>
        <p:spPr>
          <a:xfrm>
            <a:off x="7589520" y="5129784"/>
            <a:ext cx="3584448" cy="347472"/>
          </a:xfrm>
          <a:prstGeom prst="rect">
            <a:avLst/>
          </a:prstGeom>
          <a:noFill/>
          <a:ln/>
        </p:spPr>
        <p:txBody>
          <a:bodyPr wrap="square" lIns="0" tIns="0" rIns="0" bIns="0" rtlCol="0" anchor="ctr">
            <a:normAutofit/>
          </a:bodyPr>
          <a:lstStyle/>
          <a:p>
            <a:pPr marL="0" indent="0">
              <a:buNone/>
            </a:pPr>
            <a:r>
              <a:rPr lang="en-US" sz="960" dirty="0">
                <a:solidFill>
                  <a:srgbClr val="0F172A"/>
                </a:solidFill>
                <a:latin typeface="Aptos" pitchFamily="34" charset="0"/>
                <a:ea typeface="Aptos" pitchFamily="34" charset="-122"/>
                <a:cs typeface="Aptos" pitchFamily="34" charset="-120"/>
              </a:rPr>
              <a:t>Capture timestamp/geotag cross-checked with metadata.</a:t>
            </a:r>
            <a:endParaRPr lang="en-US" sz="960" dirty="0"/>
          </a:p>
        </p:txBody>
      </p:sp>
      <p:sp>
        <p:nvSpPr>
          <p:cNvPr id="53" name="Text 51"/>
          <p:cNvSpPr/>
          <p:nvPr/>
        </p:nvSpPr>
        <p:spPr>
          <a:xfrm>
            <a:off x="6236208" y="5632704"/>
            <a:ext cx="5047488" cy="201168"/>
          </a:xfrm>
          <a:prstGeom prst="rect">
            <a:avLst/>
          </a:prstGeom>
          <a:noFill/>
          <a:ln/>
        </p:spPr>
        <p:txBody>
          <a:bodyPr wrap="square" lIns="0" tIns="0" rIns="0" bIns="0" rtlCol="0" anchor="ctr">
            <a:normAutofit/>
          </a:bodyPr>
          <a:lstStyle/>
          <a:p>
            <a:pPr marL="0" indent="0" algn="ctr">
              <a:buNone/>
            </a:pPr>
            <a:r>
              <a:rPr lang="en-US" sz="1080" b="1" dirty="0">
                <a:solidFill>
                  <a:srgbClr val="64748B"/>
                </a:solidFill>
                <a:latin typeface="Aptos" pitchFamily="34" charset="0"/>
                <a:ea typeface="Aptos" pitchFamily="34" charset="-122"/>
                <a:cs typeface="Aptos" pitchFamily="34" charset="-120"/>
              </a:rPr>
              <a:t>Built into the data model — not a moderation queue.</a:t>
            </a:r>
            <a:endParaRPr lang="en-US" sz="1080" dirty="0"/>
          </a:p>
        </p:txBody>
      </p:sp>
      <p:sp>
        <p:nvSpPr>
          <p:cNvPr id="54"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06 · ACCOUNTABILITY ENGINE</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Deadlines are enforced by the system, not remembered by people.</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Every verified complaint gets a computed deadline and an automatic escalation path.</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SLA</a:t>
            </a:r>
            <a:endParaRPr lang="en-US" sz="950" dirty="0"/>
          </a:p>
        </p:txBody>
      </p:sp>
      <p:sp>
        <p:nvSpPr>
          <p:cNvPr id="7" name="Shape 5"/>
          <p:cNvSpPr/>
          <p:nvPr/>
        </p:nvSpPr>
        <p:spPr>
          <a:xfrm>
            <a:off x="566928" y="1901952"/>
            <a:ext cx="3657600" cy="3877056"/>
          </a:xfrm>
          <a:prstGeom prst="roundRect">
            <a:avLst>
              <a:gd name="adj" fmla="val 3000"/>
            </a:avLst>
          </a:prstGeom>
          <a:solidFill>
            <a:srgbClr val="183B6B"/>
          </a:solidFill>
          <a:ln w="12700">
            <a:solidFill>
              <a:srgbClr val="183B6B"/>
            </a:solidFill>
            <a:prstDash val="solid"/>
          </a:ln>
        </p:spPr>
      </p:sp>
      <p:sp>
        <p:nvSpPr>
          <p:cNvPr id="8" name="Text 6"/>
          <p:cNvSpPr/>
          <p:nvPr/>
        </p:nvSpPr>
        <p:spPr>
          <a:xfrm>
            <a:off x="877824" y="2231136"/>
            <a:ext cx="1005840" cy="182880"/>
          </a:xfrm>
          <a:prstGeom prst="rect">
            <a:avLst/>
          </a:prstGeom>
          <a:noFill/>
          <a:ln/>
        </p:spPr>
        <p:txBody>
          <a:bodyPr wrap="square" lIns="0" tIns="0" rIns="0" bIns="0" rtlCol="0" anchor="ctr">
            <a:normAutofit/>
          </a:bodyPr>
          <a:lstStyle/>
          <a:p>
            <a:pPr marL="0" indent="0">
              <a:buNone/>
            </a:pPr>
            <a:r>
              <a:rPr lang="en-US" sz="1000" b="1" kern="0" spc="120" dirty="0">
                <a:solidFill>
                  <a:srgbClr val="A9C5E7"/>
                </a:solidFill>
                <a:latin typeface="Aptos" pitchFamily="34" charset="0"/>
                <a:ea typeface="Aptos" pitchFamily="34" charset="-122"/>
                <a:cs typeface="Aptos" pitchFamily="34" charset="-120"/>
              </a:rPr>
              <a:t>SLA RULE</a:t>
            </a:r>
            <a:endParaRPr lang="en-US" sz="1000" dirty="0"/>
          </a:p>
        </p:txBody>
      </p:sp>
      <p:sp>
        <p:nvSpPr>
          <p:cNvPr id="9" name="Text 7"/>
          <p:cNvSpPr/>
          <p:nvPr/>
        </p:nvSpPr>
        <p:spPr>
          <a:xfrm>
            <a:off x="877824" y="2542032"/>
            <a:ext cx="2743200" cy="274320"/>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Aptos" pitchFamily="34" charset="0"/>
                <a:ea typeface="Aptos" pitchFamily="34" charset="-122"/>
                <a:cs typeface="Aptos" pitchFamily="34" charset="-120"/>
              </a:rPr>
              <a:t>category × severity</a:t>
            </a:r>
            <a:endParaRPr lang="en-US" sz="1700" dirty="0"/>
          </a:p>
        </p:txBody>
      </p:sp>
      <p:sp>
        <p:nvSpPr>
          <p:cNvPr id="10" name="Text 8"/>
          <p:cNvSpPr/>
          <p:nvPr/>
        </p:nvSpPr>
        <p:spPr>
          <a:xfrm>
            <a:off x="877824" y="2907792"/>
            <a:ext cx="2423160" cy="201168"/>
          </a:xfrm>
          <a:prstGeom prst="rect">
            <a:avLst/>
          </a:prstGeom>
          <a:noFill/>
          <a:ln/>
        </p:spPr>
        <p:txBody>
          <a:bodyPr wrap="square" lIns="0" tIns="0" rIns="0" bIns="0" rtlCol="0" anchor="ctr">
            <a:normAutofit/>
          </a:bodyPr>
          <a:lstStyle/>
          <a:p>
            <a:pPr marL="0" indent="0">
              <a:buNone/>
            </a:pPr>
            <a:r>
              <a:rPr lang="en-US" sz="1100" dirty="0">
                <a:solidFill>
                  <a:srgbClr val="BFD2E8"/>
                </a:solidFill>
                <a:latin typeface="Aptos" pitchFamily="34" charset="0"/>
                <a:ea typeface="Aptos" pitchFamily="34" charset="-122"/>
                <a:cs typeface="Aptos" pitchFamily="34" charset="-120"/>
              </a:rPr>
              <a:t>configured by admin</a:t>
            </a:r>
            <a:endParaRPr lang="en-US" sz="1100" dirty="0"/>
          </a:p>
        </p:txBody>
      </p:sp>
      <p:sp>
        <p:nvSpPr>
          <p:cNvPr id="11" name="Text 9"/>
          <p:cNvSpPr/>
          <p:nvPr/>
        </p:nvSpPr>
        <p:spPr>
          <a:xfrm>
            <a:off x="877824" y="3547872"/>
            <a:ext cx="1920240" cy="530352"/>
          </a:xfrm>
          <a:prstGeom prst="rect">
            <a:avLst/>
          </a:prstGeom>
          <a:noFill/>
          <a:ln/>
        </p:spPr>
        <p:txBody>
          <a:bodyPr wrap="square" lIns="0" tIns="0" rIns="0" bIns="0" rtlCol="0" anchor="ctr">
            <a:normAutofit/>
          </a:bodyPr>
          <a:lstStyle/>
          <a:p>
            <a:pPr marL="0" indent="0">
              <a:buNone/>
            </a:pPr>
            <a:r>
              <a:rPr lang="en-US" sz="3300" b="1" dirty="0">
                <a:solidFill>
                  <a:srgbClr val="FFFFFF"/>
                </a:solidFill>
                <a:latin typeface="Aptos Display" pitchFamily="34" charset="0"/>
              </a:rPr>
              <a:t>7 Days</a:t>
            </a:r>
            <a:endParaRPr lang="en-US" sz="3300" dirty="0"/>
          </a:p>
        </p:txBody>
      </p:sp>
      <p:sp>
        <p:nvSpPr>
          <p:cNvPr id="12" name="Text 10"/>
          <p:cNvSpPr/>
          <p:nvPr/>
        </p:nvSpPr>
        <p:spPr>
          <a:xfrm>
            <a:off x="2743200" y="3721608"/>
            <a:ext cx="1051560" cy="237744"/>
          </a:xfrm>
          <a:prstGeom prst="rect">
            <a:avLst/>
          </a:prstGeom>
          <a:noFill/>
          <a:ln/>
        </p:spPr>
        <p:txBody>
          <a:bodyPr wrap="square" lIns="0" tIns="0" rIns="0" bIns="0" rtlCol="0" anchor="ctr">
            <a:normAutofit fontScale="92500"/>
          </a:bodyPr>
          <a:lstStyle/>
          <a:p>
            <a:pPr marL="0" indent="0" algn="r">
              <a:buNone/>
            </a:pPr>
            <a:r>
              <a:rPr lang="en-US" sz="960" dirty="0">
                <a:solidFill>
                  <a:srgbClr val="BFD2E8"/>
                </a:solidFill>
                <a:latin typeface="Aptos" pitchFamily="34" charset="0"/>
                <a:ea typeface="Aptos" pitchFamily="34" charset="-122"/>
                <a:cs typeface="Aptos" pitchFamily="34" charset="-120"/>
              </a:rPr>
              <a:t>deadline timestamp</a:t>
            </a:r>
            <a:endParaRPr lang="en-US" sz="960" dirty="0"/>
          </a:p>
        </p:txBody>
      </p:sp>
      <p:sp>
        <p:nvSpPr>
          <p:cNvPr id="13" name="Shape 11"/>
          <p:cNvSpPr/>
          <p:nvPr/>
        </p:nvSpPr>
        <p:spPr>
          <a:xfrm>
            <a:off x="914400" y="4617720"/>
            <a:ext cx="2697480" cy="0"/>
          </a:xfrm>
          <a:prstGeom prst="line">
            <a:avLst/>
          </a:prstGeom>
          <a:noFill/>
          <a:ln w="25400">
            <a:solidFill>
              <a:srgbClr val="6E9ACF"/>
            </a:solidFill>
            <a:prstDash val="solid"/>
          </a:ln>
        </p:spPr>
      </p:sp>
      <p:sp>
        <p:nvSpPr>
          <p:cNvPr id="14" name="Shape 12"/>
          <p:cNvSpPr/>
          <p:nvPr/>
        </p:nvSpPr>
        <p:spPr>
          <a:xfrm>
            <a:off x="850392" y="4553712"/>
            <a:ext cx="128016" cy="128016"/>
          </a:xfrm>
          <a:prstGeom prst="ellipse">
            <a:avLst/>
          </a:prstGeom>
          <a:solidFill>
            <a:srgbClr val="FFFFFF"/>
          </a:solidFill>
          <a:ln w="12700">
            <a:solidFill>
              <a:srgbClr val="FFFFFF"/>
            </a:solidFill>
            <a:prstDash val="solid"/>
          </a:ln>
        </p:spPr>
      </p:sp>
      <p:sp>
        <p:nvSpPr>
          <p:cNvPr id="15" name="Shape 13"/>
          <p:cNvSpPr/>
          <p:nvPr/>
        </p:nvSpPr>
        <p:spPr>
          <a:xfrm>
            <a:off x="1719072" y="4553712"/>
            <a:ext cx="128016" cy="128016"/>
          </a:xfrm>
          <a:prstGeom prst="ellipse">
            <a:avLst/>
          </a:prstGeom>
          <a:solidFill>
            <a:srgbClr val="FFFFFF"/>
          </a:solidFill>
          <a:ln w="12700">
            <a:solidFill>
              <a:srgbClr val="FFFFFF"/>
            </a:solidFill>
            <a:prstDash val="solid"/>
          </a:ln>
        </p:spPr>
      </p:sp>
      <p:sp>
        <p:nvSpPr>
          <p:cNvPr id="16" name="Shape 14"/>
          <p:cNvSpPr/>
          <p:nvPr/>
        </p:nvSpPr>
        <p:spPr>
          <a:xfrm>
            <a:off x="2587752" y="4553712"/>
            <a:ext cx="128016" cy="128016"/>
          </a:xfrm>
          <a:prstGeom prst="ellipse">
            <a:avLst/>
          </a:prstGeom>
          <a:solidFill>
            <a:srgbClr val="FFFFFF"/>
          </a:solidFill>
          <a:ln w="12700">
            <a:solidFill>
              <a:srgbClr val="FFFFFF"/>
            </a:solidFill>
            <a:prstDash val="solid"/>
          </a:ln>
        </p:spPr>
      </p:sp>
      <p:sp>
        <p:nvSpPr>
          <p:cNvPr id="17" name="Shape 15"/>
          <p:cNvSpPr/>
          <p:nvPr/>
        </p:nvSpPr>
        <p:spPr>
          <a:xfrm>
            <a:off x="3547872" y="4553712"/>
            <a:ext cx="128016" cy="128016"/>
          </a:xfrm>
          <a:prstGeom prst="ellipse">
            <a:avLst/>
          </a:prstGeom>
          <a:solidFill>
            <a:srgbClr val="FFFFFF"/>
          </a:solidFill>
          <a:ln w="12700">
            <a:solidFill>
              <a:srgbClr val="FFFFFF"/>
            </a:solidFill>
            <a:prstDash val="solid"/>
          </a:ln>
        </p:spPr>
      </p:sp>
      <p:sp>
        <p:nvSpPr>
          <p:cNvPr id="18" name="Text 16"/>
          <p:cNvSpPr/>
          <p:nvPr/>
        </p:nvSpPr>
        <p:spPr>
          <a:xfrm>
            <a:off x="832104" y="4809744"/>
            <a:ext cx="502920" cy="182880"/>
          </a:xfrm>
          <a:prstGeom prst="rect">
            <a:avLst/>
          </a:prstGeom>
          <a:noFill/>
          <a:ln/>
        </p:spPr>
        <p:txBody>
          <a:bodyPr wrap="square" lIns="0" tIns="0" rIns="0" bIns="0" rtlCol="0" anchor="ctr">
            <a:normAutofit/>
          </a:bodyPr>
          <a:lstStyle/>
          <a:p>
            <a:pPr marL="0" indent="0">
              <a:buNone/>
            </a:pPr>
            <a:r>
              <a:rPr lang="en-US" sz="850" dirty="0">
                <a:solidFill>
                  <a:srgbClr val="BFD2E8"/>
                </a:solidFill>
                <a:latin typeface="Aptos" pitchFamily="34" charset="0"/>
                <a:ea typeface="Aptos" pitchFamily="34" charset="-122"/>
                <a:cs typeface="Aptos" pitchFamily="34" charset="-120"/>
              </a:rPr>
              <a:t>verified</a:t>
            </a:r>
            <a:endParaRPr lang="en-US" sz="850" dirty="0"/>
          </a:p>
        </p:txBody>
      </p:sp>
      <p:sp>
        <p:nvSpPr>
          <p:cNvPr id="19" name="Text 17"/>
          <p:cNvSpPr/>
          <p:nvPr/>
        </p:nvSpPr>
        <p:spPr>
          <a:xfrm>
            <a:off x="1636776" y="4809744"/>
            <a:ext cx="530352" cy="182880"/>
          </a:xfrm>
          <a:prstGeom prst="rect">
            <a:avLst/>
          </a:prstGeom>
          <a:noFill/>
          <a:ln/>
        </p:spPr>
        <p:txBody>
          <a:bodyPr wrap="square" lIns="0" tIns="0" rIns="0" bIns="0" rtlCol="0" anchor="ctr">
            <a:normAutofit/>
          </a:bodyPr>
          <a:lstStyle/>
          <a:p>
            <a:pPr marL="0" indent="0">
              <a:buNone/>
            </a:pPr>
            <a:r>
              <a:rPr lang="en-US" sz="850" dirty="0">
                <a:solidFill>
                  <a:srgbClr val="BFD2E8"/>
                </a:solidFill>
                <a:latin typeface="Aptos" pitchFamily="34" charset="0"/>
                <a:ea typeface="Aptos" pitchFamily="34" charset="-122"/>
                <a:cs typeface="Aptos" pitchFamily="34" charset="-120"/>
              </a:rPr>
              <a:t>assigned</a:t>
            </a:r>
            <a:endParaRPr lang="en-US" sz="850" dirty="0"/>
          </a:p>
        </p:txBody>
      </p:sp>
      <p:sp>
        <p:nvSpPr>
          <p:cNvPr id="20" name="Text 18"/>
          <p:cNvSpPr/>
          <p:nvPr/>
        </p:nvSpPr>
        <p:spPr>
          <a:xfrm>
            <a:off x="2496312" y="4809744"/>
            <a:ext cx="502920" cy="182880"/>
          </a:xfrm>
          <a:prstGeom prst="rect">
            <a:avLst/>
          </a:prstGeom>
          <a:noFill/>
          <a:ln/>
        </p:spPr>
        <p:txBody>
          <a:bodyPr wrap="square" lIns="0" tIns="0" rIns="0" bIns="0" rtlCol="0" anchor="ctr">
            <a:normAutofit/>
          </a:bodyPr>
          <a:lstStyle/>
          <a:p>
            <a:pPr marL="0" indent="0">
              <a:buNone/>
            </a:pPr>
            <a:r>
              <a:rPr lang="en-US" sz="850" dirty="0">
                <a:solidFill>
                  <a:srgbClr val="BFD2E8"/>
                </a:solidFill>
                <a:latin typeface="Aptos" pitchFamily="34" charset="0"/>
                <a:ea typeface="Aptos" pitchFamily="34" charset="-122"/>
                <a:cs typeface="Aptos" pitchFamily="34" charset="-120"/>
              </a:rPr>
              <a:t>progress</a:t>
            </a:r>
            <a:endParaRPr lang="en-US" sz="850" dirty="0"/>
          </a:p>
        </p:txBody>
      </p:sp>
      <p:sp>
        <p:nvSpPr>
          <p:cNvPr id="21" name="Text 19"/>
          <p:cNvSpPr/>
          <p:nvPr/>
        </p:nvSpPr>
        <p:spPr>
          <a:xfrm>
            <a:off x="3401568" y="4809744"/>
            <a:ext cx="457200" cy="182880"/>
          </a:xfrm>
          <a:prstGeom prst="rect">
            <a:avLst/>
          </a:prstGeom>
          <a:noFill/>
          <a:ln/>
        </p:spPr>
        <p:txBody>
          <a:bodyPr wrap="square" lIns="0" tIns="0" rIns="0" bIns="0" rtlCol="0" anchor="ctr">
            <a:normAutofit/>
          </a:bodyPr>
          <a:lstStyle/>
          <a:p>
            <a:pPr marL="0" indent="0">
              <a:buNone/>
            </a:pPr>
            <a:r>
              <a:rPr lang="en-US" sz="850" dirty="0">
                <a:solidFill>
                  <a:srgbClr val="BFD2E8"/>
                </a:solidFill>
                <a:latin typeface="Aptos" pitchFamily="34" charset="0"/>
                <a:ea typeface="Aptos" pitchFamily="34" charset="-122"/>
                <a:cs typeface="Aptos" pitchFamily="34" charset="-120"/>
              </a:rPr>
              <a:t>breach</a:t>
            </a:r>
            <a:endParaRPr lang="en-US" sz="850" dirty="0"/>
          </a:p>
        </p:txBody>
      </p:sp>
      <p:sp>
        <p:nvSpPr>
          <p:cNvPr id="22" name="Shape 20"/>
          <p:cNvSpPr/>
          <p:nvPr/>
        </p:nvSpPr>
        <p:spPr>
          <a:xfrm>
            <a:off x="4773168" y="2304288"/>
            <a:ext cx="1719072" cy="713232"/>
          </a:xfrm>
          <a:prstGeom prst="roundRect">
            <a:avLst>
              <a:gd name="adj" fmla="val 15385"/>
            </a:avLst>
          </a:prstGeom>
          <a:solidFill>
            <a:srgbClr val="E9F6EF"/>
          </a:solidFill>
          <a:ln w="12700">
            <a:solidFill>
              <a:srgbClr val="2F7D59"/>
            </a:solidFill>
            <a:prstDash val="solid"/>
          </a:ln>
        </p:spPr>
      </p:sp>
      <p:sp>
        <p:nvSpPr>
          <p:cNvPr id="23" name="Text 21"/>
          <p:cNvSpPr/>
          <p:nvPr/>
        </p:nvSpPr>
        <p:spPr>
          <a:xfrm>
            <a:off x="4864608" y="2395728"/>
            <a:ext cx="1536192" cy="530352"/>
          </a:xfrm>
          <a:prstGeom prst="rect">
            <a:avLst/>
          </a:prstGeom>
          <a:noFill/>
          <a:ln/>
        </p:spPr>
        <p:txBody>
          <a:bodyPr wrap="square" lIns="0" tIns="0" rIns="0" bIns="0" rtlCol="0" anchor="ctr">
            <a:normAutofit/>
          </a:bodyPr>
          <a:lstStyle/>
          <a:p>
            <a:pPr marL="0" indent="0" algn="ctr">
              <a:buNone/>
            </a:pPr>
            <a:r>
              <a:rPr lang="en-US" sz="1150" b="1" dirty="0">
                <a:solidFill>
                  <a:srgbClr val="2F7D59"/>
                </a:solidFill>
                <a:latin typeface="Aptos" pitchFamily="34" charset="0"/>
                <a:ea typeface="Aptos" pitchFamily="34" charset="-122"/>
                <a:cs typeface="Aptos" pitchFamily="34" charset="-120"/>
              </a:rPr>
              <a:t>Verified complaint</a:t>
            </a:r>
            <a:endParaRPr lang="en-US" sz="1150" dirty="0"/>
          </a:p>
        </p:txBody>
      </p:sp>
      <p:sp>
        <p:nvSpPr>
          <p:cNvPr id="24" name="Shape 22"/>
          <p:cNvSpPr/>
          <p:nvPr/>
        </p:nvSpPr>
        <p:spPr>
          <a:xfrm>
            <a:off x="6501384" y="2660904"/>
            <a:ext cx="466344" cy="0"/>
          </a:xfrm>
          <a:prstGeom prst="line">
            <a:avLst/>
          </a:prstGeom>
          <a:noFill/>
          <a:ln w="19050">
            <a:solidFill>
              <a:srgbClr val="2F5D9B"/>
            </a:solidFill>
            <a:prstDash val="solid"/>
            <a:headEnd type="none"/>
            <a:tailEnd type="triangle"/>
          </a:ln>
        </p:spPr>
      </p:sp>
      <p:sp>
        <p:nvSpPr>
          <p:cNvPr id="25" name="Shape 23"/>
          <p:cNvSpPr/>
          <p:nvPr/>
        </p:nvSpPr>
        <p:spPr>
          <a:xfrm>
            <a:off x="7004304" y="2304288"/>
            <a:ext cx="1719072" cy="713232"/>
          </a:xfrm>
          <a:prstGeom prst="roundRect">
            <a:avLst>
              <a:gd name="adj" fmla="val 15385"/>
            </a:avLst>
          </a:prstGeom>
          <a:solidFill>
            <a:srgbClr val="EEF4FB"/>
          </a:solidFill>
          <a:ln w="12700">
            <a:solidFill>
              <a:srgbClr val="2F5D9B"/>
            </a:solidFill>
            <a:prstDash val="solid"/>
          </a:ln>
        </p:spPr>
      </p:sp>
      <p:sp>
        <p:nvSpPr>
          <p:cNvPr id="26" name="Text 24"/>
          <p:cNvSpPr/>
          <p:nvPr/>
        </p:nvSpPr>
        <p:spPr>
          <a:xfrm>
            <a:off x="7095744" y="2395728"/>
            <a:ext cx="1536192" cy="530352"/>
          </a:xfrm>
          <a:prstGeom prst="rect">
            <a:avLst/>
          </a:prstGeom>
          <a:noFill/>
          <a:ln/>
        </p:spPr>
        <p:txBody>
          <a:bodyPr wrap="square" lIns="0" tIns="0" rIns="0" bIns="0" rtlCol="0" anchor="ctr">
            <a:normAutofit/>
          </a:bodyPr>
          <a:lstStyle/>
          <a:p>
            <a:pPr marL="0" indent="0" algn="ctr">
              <a:buNone/>
            </a:pPr>
            <a:r>
              <a:rPr lang="en-US" sz="1150" b="1" dirty="0">
                <a:solidFill>
                  <a:srgbClr val="2F5D9B"/>
                </a:solidFill>
                <a:latin typeface="Aptos" pitchFamily="34" charset="0"/>
              </a:rPr>
              <a:t>Redis/Celery</a:t>
            </a:r>
            <a:endParaRPr lang="en-US" sz="1150" dirty="0"/>
          </a:p>
        </p:txBody>
      </p:sp>
      <p:sp>
        <p:nvSpPr>
          <p:cNvPr id="27" name="Shape 25"/>
          <p:cNvSpPr/>
          <p:nvPr/>
        </p:nvSpPr>
        <p:spPr>
          <a:xfrm>
            <a:off x="8732520" y="2660904"/>
            <a:ext cx="448056" cy="0"/>
          </a:xfrm>
          <a:prstGeom prst="line">
            <a:avLst/>
          </a:prstGeom>
          <a:noFill/>
          <a:ln w="19050">
            <a:solidFill>
              <a:srgbClr val="2F5D9B"/>
            </a:solidFill>
            <a:prstDash val="solid"/>
            <a:headEnd type="none"/>
            <a:tailEnd type="triangle"/>
          </a:ln>
        </p:spPr>
      </p:sp>
      <p:sp>
        <p:nvSpPr>
          <p:cNvPr id="28" name="Shape 26"/>
          <p:cNvSpPr/>
          <p:nvPr/>
        </p:nvSpPr>
        <p:spPr>
          <a:xfrm>
            <a:off x="9217152" y="2304288"/>
            <a:ext cx="1719072" cy="713232"/>
          </a:xfrm>
          <a:prstGeom prst="roundRect">
            <a:avLst>
              <a:gd name="adj" fmla="val 15385"/>
            </a:avLst>
          </a:prstGeom>
          <a:solidFill>
            <a:srgbClr val="FDEDED"/>
          </a:solidFill>
          <a:ln w="12700">
            <a:solidFill>
              <a:srgbClr val="B24343"/>
            </a:solidFill>
            <a:prstDash val="solid"/>
          </a:ln>
        </p:spPr>
      </p:sp>
      <p:sp>
        <p:nvSpPr>
          <p:cNvPr id="29" name="Text 27"/>
          <p:cNvSpPr/>
          <p:nvPr/>
        </p:nvSpPr>
        <p:spPr>
          <a:xfrm>
            <a:off x="9308592" y="2395728"/>
            <a:ext cx="1536192" cy="530352"/>
          </a:xfrm>
          <a:prstGeom prst="rect">
            <a:avLst/>
          </a:prstGeom>
          <a:noFill/>
          <a:ln/>
        </p:spPr>
        <p:txBody>
          <a:bodyPr wrap="square" lIns="0" tIns="0" rIns="0" bIns="0" rtlCol="0" anchor="ctr">
            <a:normAutofit/>
          </a:bodyPr>
          <a:lstStyle/>
          <a:p>
            <a:pPr marL="0" indent="0" algn="ctr">
              <a:buNone/>
            </a:pPr>
            <a:r>
              <a:rPr lang="en-US" sz="1150" b="1" dirty="0">
                <a:solidFill>
                  <a:srgbClr val="B24343"/>
                </a:solidFill>
                <a:latin typeface="Aptos" pitchFamily="34" charset="0"/>
                <a:ea typeface="Aptos" pitchFamily="34" charset="-122"/>
                <a:cs typeface="Aptos" pitchFamily="34" charset="-120"/>
              </a:rPr>
              <a:t>Breach detected</a:t>
            </a:r>
            <a:endParaRPr lang="en-US" sz="1150" dirty="0"/>
          </a:p>
        </p:txBody>
      </p:sp>
      <p:sp>
        <p:nvSpPr>
          <p:cNvPr id="30" name="Shape 28"/>
          <p:cNvSpPr/>
          <p:nvPr/>
        </p:nvSpPr>
        <p:spPr>
          <a:xfrm>
            <a:off x="9027622" y="4027518"/>
            <a:ext cx="2157984" cy="822960"/>
          </a:xfrm>
          <a:prstGeom prst="roundRect">
            <a:avLst>
              <a:gd name="adj" fmla="val 13333"/>
            </a:avLst>
          </a:prstGeom>
          <a:solidFill>
            <a:srgbClr val="FDEDED"/>
          </a:solidFill>
          <a:ln w="12700">
            <a:solidFill>
              <a:srgbClr val="B24343"/>
            </a:solidFill>
            <a:prstDash val="solid"/>
          </a:ln>
        </p:spPr>
      </p:sp>
      <p:sp>
        <p:nvSpPr>
          <p:cNvPr id="31" name="Text 29"/>
          <p:cNvSpPr/>
          <p:nvPr/>
        </p:nvSpPr>
        <p:spPr>
          <a:xfrm>
            <a:off x="9119062" y="4118958"/>
            <a:ext cx="1975104" cy="640080"/>
          </a:xfrm>
          <a:prstGeom prst="rect">
            <a:avLst/>
          </a:prstGeom>
          <a:noFill/>
          <a:ln/>
        </p:spPr>
        <p:txBody>
          <a:bodyPr wrap="square" lIns="0" tIns="0" rIns="0" bIns="0" rtlCol="0" anchor="ctr">
            <a:normAutofit/>
          </a:bodyPr>
          <a:lstStyle/>
          <a:p>
            <a:pPr marL="0" indent="0" algn="ctr">
              <a:buNone/>
            </a:pPr>
            <a:r>
              <a:rPr lang="en-US" sz="1300" b="1" dirty="0">
                <a:solidFill>
                  <a:srgbClr val="B24343"/>
                </a:solidFill>
                <a:latin typeface="Aptos" pitchFamily="34" charset="0"/>
                <a:ea typeface="Aptos" pitchFamily="34" charset="-122"/>
                <a:cs typeface="Aptos" pitchFamily="34" charset="-120"/>
              </a:rPr>
              <a:t>Auto-escalate</a:t>
            </a:r>
            <a:endParaRPr lang="en-US" sz="1300" dirty="0"/>
          </a:p>
          <a:p>
            <a:pPr marL="0" indent="0" algn="ctr">
              <a:buNone/>
            </a:pPr>
            <a:r>
              <a:rPr lang="en-US" sz="1300" b="1" dirty="0">
                <a:solidFill>
                  <a:srgbClr val="B24343"/>
                </a:solidFill>
                <a:latin typeface="Aptos" pitchFamily="34" charset="0"/>
                <a:ea typeface="Aptos" pitchFamily="34" charset="-122"/>
                <a:cs typeface="Aptos" pitchFamily="34" charset="-120"/>
              </a:rPr>
              <a:t>→ supervisor</a:t>
            </a:r>
            <a:endParaRPr lang="en-US" sz="1300" dirty="0"/>
          </a:p>
        </p:txBody>
      </p:sp>
      <p:sp>
        <p:nvSpPr>
          <p:cNvPr id="32" name="Shape 30"/>
          <p:cNvSpPr/>
          <p:nvPr/>
        </p:nvSpPr>
        <p:spPr>
          <a:xfrm>
            <a:off x="10076688" y="3044952"/>
            <a:ext cx="0" cy="932688"/>
          </a:xfrm>
          <a:prstGeom prst="line">
            <a:avLst/>
          </a:prstGeom>
          <a:noFill/>
          <a:ln w="20320">
            <a:solidFill>
              <a:srgbClr val="B24343"/>
            </a:solidFill>
            <a:prstDash val="solid"/>
            <a:headEnd type="none"/>
            <a:tailEnd type="triangle"/>
          </a:ln>
        </p:spPr>
      </p:sp>
      <p:sp>
        <p:nvSpPr>
          <p:cNvPr id="33" name="Shape 31"/>
          <p:cNvSpPr/>
          <p:nvPr/>
        </p:nvSpPr>
        <p:spPr>
          <a:xfrm>
            <a:off x="4773168" y="5230368"/>
            <a:ext cx="6821424" cy="566928"/>
          </a:xfrm>
          <a:prstGeom prst="roundRect">
            <a:avLst>
              <a:gd name="adj" fmla="val 19355"/>
            </a:avLst>
          </a:prstGeom>
          <a:solidFill>
            <a:srgbClr val="FFFFFF"/>
          </a:solidFill>
          <a:ln w="12700">
            <a:solidFill>
              <a:srgbClr val="D6DEE9"/>
            </a:solidFill>
            <a:prstDash val="solid"/>
          </a:ln>
        </p:spPr>
      </p:sp>
      <p:sp>
        <p:nvSpPr>
          <p:cNvPr id="34" name="Text 32"/>
          <p:cNvSpPr/>
          <p:nvPr/>
        </p:nvSpPr>
        <p:spPr>
          <a:xfrm>
            <a:off x="5047488" y="5413248"/>
            <a:ext cx="6272784" cy="201168"/>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Escalation is visible to the citizen + counted against department compliance.</a:t>
            </a:r>
            <a:endParaRPr lang="en-US" sz="1150" dirty="0"/>
          </a:p>
        </p:txBody>
      </p:sp>
      <p:sp>
        <p:nvSpPr>
          <p:cNvPr id="35"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07 · ARCHITECTURE</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Fast path first. Slow path off the critical path.</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Submission stays responsive while AI/CV work is handled by stateless queue consumers.</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ARCHITECTURE</a:t>
            </a:r>
            <a:endParaRPr lang="en-US" sz="950" dirty="0"/>
          </a:p>
        </p:txBody>
      </p:sp>
      <p:sp>
        <p:nvSpPr>
          <p:cNvPr id="7" name="Shape 5"/>
          <p:cNvSpPr/>
          <p:nvPr/>
        </p:nvSpPr>
        <p:spPr>
          <a:xfrm>
            <a:off x="881056" y="2883408"/>
            <a:ext cx="1536192" cy="713232"/>
          </a:xfrm>
          <a:prstGeom prst="roundRect">
            <a:avLst>
              <a:gd name="adj" fmla="val 15385"/>
            </a:avLst>
          </a:prstGeom>
          <a:solidFill>
            <a:srgbClr val="FFFFFF"/>
          </a:solidFill>
          <a:ln w="12700">
            <a:solidFill>
              <a:srgbClr val="D6DEE9"/>
            </a:solidFill>
            <a:prstDash val="solid"/>
          </a:ln>
        </p:spPr>
      </p:sp>
      <p:sp>
        <p:nvSpPr>
          <p:cNvPr id="8" name="Text 6"/>
          <p:cNvSpPr/>
          <p:nvPr/>
        </p:nvSpPr>
        <p:spPr>
          <a:xfrm>
            <a:off x="972496" y="2974848"/>
            <a:ext cx="1353312" cy="530352"/>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Aptos" pitchFamily="34" charset="0"/>
                <a:ea typeface="Aptos" pitchFamily="34" charset="-122"/>
                <a:cs typeface="Aptos" pitchFamily="34" charset="-120"/>
              </a:rPr>
              <a:t>Citizen PWA</a:t>
            </a:r>
            <a:endParaRPr lang="en-US" sz="1250" dirty="0"/>
          </a:p>
        </p:txBody>
      </p:sp>
      <p:sp>
        <p:nvSpPr>
          <p:cNvPr id="9" name="Shape 7"/>
          <p:cNvSpPr/>
          <p:nvPr/>
        </p:nvSpPr>
        <p:spPr>
          <a:xfrm>
            <a:off x="2435536" y="3240024"/>
            <a:ext cx="420624" cy="0"/>
          </a:xfrm>
          <a:prstGeom prst="line">
            <a:avLst/>
          </a:prstGeom>
          <a:noFill/>
          <a:ln w="20320">
            <a:solidFill>
              <a:srgbClr val="2F5D9B"/>
            </a:solidFill>
            <a:prstDash val="solid"/>
            <a:headEnd type="none"/>
            <a:tailEnd type="triangle"/>
          </a:ln>
        </p:spPr>
      </p:sp>
      <p:sp>
        <p:nvSpPr>
          <p:cNvPr id="10" name="Shape 8"/>
          <p:cNvSpPr/>
          <p:nvPr/>
        </p:nvSpPr>
        <p:spPr>
          <a:xfrm>
            <a:off x="2874448" y="2883408"/>
            <a:ext cx="1444752" cy="713232"/>
          </a:xfrm>
          <a:prstGeom prst="roundRect">
            <a:avLst>
              <a:gd name="adj" fmla="val 15385"/>
            </a:avLst>
          </a:prstGeom>
          <a:solidFill>
            <a:srgbClr val="183B6B"/>
          </a:solidFill>
          <a:ln w="12700">
            <a:solidFill>
              <a:srgbClr val="183B6B"/>
            </a:solidFill>
            <a:prstDash val="solid"/>
          </a:ln>
        </p:spPr>
      </p:sp>
      <p:sp>
        <p:nvSpPr>
          <p:cNvPr id="11" name="Text 9"/>
          <p:cNvSpPr/>
          <p:nvPr/>
        </p:nvSpPr>
        <p:spPr>
          <a:xfrm>
            <a:off x="2965888" y="2974848"/>
            <a:ext cx="1261872" cy="530352"/>
          </a:xfrm>
          <a:prstGeom prst="rect">
            <a:avLst/>
          </a:prstGeom>
          <a:noFill/>
          <a:ln/>
        </p:spPr>
        <p:txBody>
          <a:bodyPr wrap="square" lIns="0" tIns="0" rIns="0" bIns="0" rtlCol="0" anchor="ctr">
            <a:normAutofit/>
          </a:bodyPr>
          <a:lstStyle/>
          <a:p>
            <a:pPr marL="0" indent="0" algn="ctr">
              <a:buNone/>
            </a:pPr>
            <a:r>
              <a:rPr lang="en-US" sz="1250" b="1" dirty="0">
                <a:solidFill>
                  <a:srgbClr val="FFFFFF"/>
                </a:solidFill>
                <a:latin typeface="Aptos" pitchFamily="34" charset="0"/>
                <a:ea typeface="Aptos" pitchFamily="34" charset="-122"/>
                <a:cs typeface="Aptos" pitchFamily="34" charset="-120"/>
              </a:rPr>
              <a:t>FastAPI</a:t>
            </a:r>
            <a:endParaRPr lang="en-US" sz="1250" dirty="0"/>
          </a:p>
        </p:txBody>
      </p:sp>
      <p:sp>
        <p:nvSpPr>
          <p:cNvPr id="13" name="Shape 11"/>
          <p:cNvSpPr/>
          <p:nvPr/>
        </p:nvSpPr>
        <p:spPr>
          <a:xfrm>
            <a:off x="4896104" y="1996440"/>
            <a:ext cx="1609344" cy="713232"/>
          </a:xfrm>
          <a:prstGeom prst="roundRect">
            <a:avLst>
              <a:gd name="adj" fmla="val 15385"/>
            </a:avLst>
          </a:prstGeom>
          <a:solidFill>
            <a:srgbClr val="EEF4FB"/>
          </a:solidFill>
          <a:ln w="12700">
            <a:solidFill>
              <a:srgbClr val="DCE8F7"/>
            </a:solidFill>
            <a:prstDash val="solid"/>
          </a:ln>
        </p:spPr>
      </p:sp>
      <p:sp>
        <p:nvSpPr>
          <p:cNvPr id="14" name="Text 12"/>
          <p:cNvSpPr/>
          <p:nvPr/>
        </p:nvSpPr>
        <p:spPr>
          <a:xfrm>
            <a:off x="4987544" y="2087880"/>
            <a:ext cx="1426464" cy="530352"/>
          </a:xfrm>
          <a:prstGeom prst="rect">
            <a:avLst/>
          </a:prstGeom>
          <a:noFill/>
          <a:ln/>
        </p:spPr>
        <p:txBody>
          <a:bodyPr wrap="square" lIns="0" tIns="0" rIns="0" bIns="0" rtlCol="0" anchor="ctr">
            <a:normAutofit/>
          </a:bodyPr>
          <a:lstStyle/>
          <a:p>
            <a:pPr marL="0" indent="0" algn="ctr">
              <a:buNone/>
            </a:pPr>
            <a:r>
              <a:rPr lang="en-US" sz="1250" b="1" dirty="0">
                <a:solidFill>
                  <a:srgbClr val="183B6B"/>
                </a:solidFill>
                <a:latin typeface="Aptos" pitchFamily="34" charset="0"/>
                <a:ea typeface="Aptos" pitchFamily="34" charset="-122"/>
                <a:cs typeface="Aptos" pitchFamily="34" charset="-120"/>
              </a:rPr>
              <a:t>Redis + Celery</a:t>
            </a:r>
            <a:endParaRPr lang="en-US" sz="1250" dirty="0"/>
          </a:p>
        </p:txBody>
      </p:sp>
      <p:sp>
        <p:nvSpPr>
          <p:cNvPr id="15" name="Shape 13"/>
          <p:cNvSpPr/>
          <p:nvPr/>
        </p:nvSpPr>
        <p:spPr>
          <a:xfrm>
            <a:off x="6507111" y="2379657"/>
            <a:ext cx="570810" cy="832"/>
          </a:xfrm>
          <a:prstGeom prst="line">
            <a:avLst/>
          </a:prstGeom>
          <a:noFill/>
          <a:ln w="20320">
            <a:solidFill>
              <a:srgbClr val="2F5D9B"/>
            </a:solidFill>
            <a:prstDash val="solid"/>
            <a:headEnd type="none"/>
            <a:tailEnd type="triangle"/>
          </a:ln>
        </p:spPr>
      </p:sp>
      <p:sp>
        <p:nvSpPr>
          <p:cNvPr id="16" name="Shape 14"/>
          <p:cNvSpPr/>
          <p:nvPr/>
        </p:nvSpPr>
        <p:spPr>
          <a:xfrm>
            <a:off x="7086231" y="1931601"/>
            <a:ext cx="1572768" cy="896112"/>
          </a:xfrm>
          <a:prstGeom prst="roundRect">
            <a:avLst>
              <a:gd name="adj" fmla="val 12245"/>
            </a:avLst>
          </a:prstGeom>
          <a:solidFill>
            <a:srgbClr val="FFFFFF"/>
          </a:solidFill>
          <a:ln w="12700">
            <a:solidFill>
              <a:srgbClr val="D6DEE9"/>
            </a:solidFill>
            <a:prstDash val="solid"/>
          </a:ln>
        </p:spPr>
      </p:sp>
      <p:sp>
        <p:nvSpPr>
          <p:cNvPr id="17" name="Text 15"/>
          <p:cNvSpPr/>
          <p:nvPr/>
        </p:nvSpPr>
        <p:spPr>
          <a:xfrm>
            <a:off x="7177671" y="2023041"/>
            <a:ext cx="1389888" cy="713232"/>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CV / LLM</a:t>
            </a:r>
            <a:endParaRPr lang="en-US" sz="1150" dirty="0"/>
          </a:p>
          <a:p>
            <a:pPr marL="0" indent="0" algn="ctr">
              <a:buNone/>
            </a:pPr>
            <a:r>
              <a:rPr lang="en-US" sz="1150" b="1" dirty="0">
                <a:solidFill>
                  <a:srgbClr val="0F172A"/>
                </a:solidFill>
                <a:latin typeface="Aptos" pitchFamily="34" charset="0"/>
                <a:ea typeface="Aptos" pitchFamily="34" charset="-122"/>
                <a:cs typeface="Aptos" pitchFamily="34" charset="-120"/>
              </a:rPr>
              <a:t>worker(s)</a:t>
            </a:r>
            <a:endParaRPr lang="en-US" sz="1150" dirty="0"/>
          </a:p>
        </p:txBody>
      </p:sp>
      <p:sp>
        <p:nvSpPr>
          <p:cNvPr id="19" name="Shape 17"/>
          <p:cNvSpPr/>
          <p:nvPr/>
        </p:nvSpPr>
        <p:spPr>
          <a:xfrm>
            <a:off x="4831265" y="3575858"/>
            <a:ext cx="1645920" cy="896112"/>
          </a:xfrm>
          <a:prstGeom prst="roundRect">
            <a:avLst>
              <a:gd name="adj" fmla="val 12245"/>
            </a:avLst>
          </a:prstGeom>
          <a:solidFill>
            <a:srgbClr val="FFFFFF"/>
          </a:solidFill>
          <a:ln w="12700">
            <a:solidFill>
              <a:srgbClr val="D6DEE9"/>
            </a:solidFill>
            <a:prstDash val="solid"/>
          </a:ln>
        </p:spPr>
      </p:sp>
      <p:sp>
        <p:nvSpPr>
          <p:cNvPr id="20" name="Text 18"/>
          <p:cNvSpPr/>
          <p:nvPr/>
        </p:nvSpPr>
        <p:spPr>
          <a:xfrm>
            <a:off x="4922705" y="3667298"/>
            <a:ext cx="1463040" cy="713232"/>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Aptos" pitchFamily="34" charset="0"/>
                <a:ea typeface="Aptos" pitchFamily="34" charset="-122"/>
                <a:cs typeface="Aptos" pitchFamily="34" charset="-120"/>
              </a:rPr>
              <a:t>PostgreSQL</a:t>
            </a:r>
            <a:endParaRPr lang="en-US" sz="1150" dirty="0"/>
          </a:p>
          <a:p>
            <a:pPr marL="0" indent="0" algn="ctr">
              <a:buNone/>
            </a:pPr>
            <a:r>
              <a:rPr lang="en-US" sz="1150" b="1" dirty="0">
                <a:solidFill>
                  <a:srgbClr val="0F172A"/>
                </a:solidFill>
                <a:latin typeface="Aptos" pitchFamily="34" charset="0"/>
                <a:ea typeface="Aptos" pitchFamily="34" charset="-122"/>
                <a:cs typeface="Aptos" pitchFamily="34" charset="-120"/>
              </a:rPr>
              <a:t>+ PostGIS</a:t>
            </a:r>
            <a:endParaRPr lang="en-US" sz="1150" dirty="0"/>
          </a:p>
        </p:txBody>
      </p:sp>
      <p:sp>
        <p:nvSpPr>
          <p:cNvPr id="21" name="Shape 19"/>
          <p:cNvSpPr/>
          <p:nvPr/>
        </p:nvSpPr>
        <p:spPr>
          <a:xfrm>
            <a:off x="7128073" y="3740450"/>
            <a:ext cx="1572768" cy="640080"/>
          </a:xfrm>
          <a:prstGeom prst="roundRect">
            <a:avLst>
              <a:gd name="adj" fmla="val 17143"/>
            </a:avLst>
          </a:prstGeom>
          <a:solidFill>
            <a:srgbClr val="F1EDFA"/>
          </a:solidFill>
          <a:ln w="12700">
            <a:solidFill>
              <a:srgbClr val="6E5AA6"/>
            </a:solidFill>
            <a:prstDash val="solid"/>
          </a:ln>
        </p:spPr>
      </p:sp>
      <p:sp>
        <p:nvSpPr>
          <p:cNvPr id="22" name="Text 20"/>
          <p:cNvSpPr/>
          <p:nvPr/>
        </p:nvSpPr>
        <p:spPr>
          <a:xfrm>
            <a:off x="7219513" y="3831890"/>
            <a:ext cx="1389888" cy="457200"/>
          </a:xfrm>
          <a:prstGeom prst="rect">
            <a:avLst/>
          </a:prstGeom>
          <a:noFill/>
          <a:ln/>
        </p:spPr>
        <p:txBody>
          <a:bodyPr wrap="square" lIns="0" tIns="0" rIns="0" bIns="0" rtlCol="0" anchor="ctr">
            <a:normAutofit/>
          </a:bodyPr>
          <a:lstStyle/>
          <a:p>
            <a:pPr marL="0" indent="0" algn="ctr">
              <a:buNone/>
            </a:pPr>
            <a:r>
              <a:rPr lang="en-US" sz="1150" b="1" dirty="0">
                <a:solidFill>
                  <a:srgbClr val="6E5AA6"/>
                </a:solidFill>
                <a:latin typeface="Aptos" pitchFamily="34" charset="0"/>
                <a:ea typeface="Aptos" pitchFamily="34" charset="-122"/>
                <a:cs typeface="Aptos" pitchFamily="34" charset="-120"/>
              </a:rPr>
              <a:t>SLA scheduler</a:t>
            </a:r>
            <a:endParaRPr lang="en-US" sz="1150" dirty="0"/>
          </a:p>
        </p:txBody>
      </p:sp>
      <p:sp>
        <p:nvSpPr>
          <p:cNvPr id="24" name="Shape 22"/>
          <p:cNvSpPr/>
          <p:nvPr/>
        </p:nvSpPr>
        <p:spPr>
          <a:xfrm>
            <a:off x="6522906" y="4070881"/>
            <a:ext cx="605168" cy="0"/>
          </a:xfrm>
          <a:prstGeom prst="line">
            <a:avLst/>
          </a:prstGeom>
          <a:noFill/>
          <a:ln w="17780">
            <a:solidFill>
              <a:srgbClr val="6E5AA6"/>
            </a:solidFill>
            <a:prstDash val="solid"/>
            <a:headEnd type="none"/>
            <a:tailEnd type="triangle"/>
          </a:ln>
        </p:spPr>
      </p:sp>
      <p:sp>
        <p:nvSpPr>
          <p:cNvPr id="25" name="Shape 23"/>
          <p:cNvSpPr/>
          <p:nvPr/>
        </p:nvSpPr>
        <p:spPr>
          <a:xfrm>
            <a:off x="9361794" y="2060449"/>
            <a:ext cx="1572768" cy="640080"/>
          </a:xfrm>
          <a:prstGeom prst="roundRect">
            <a:avLst>
              <a:gd name="adj" fmla="val 17143"/>
            </a:avLst>
          </a:prstGeom>
          <a:solidFill>
            <a:srgbClr val="FFF7E8"/>
          </a:solidFill>
          <a:ln w="12700">
            <a:solidFill>
              <a:srgbClr val="B7791F"/>
            </a:solidFill>
            <a:prstDash val="solid"/>
          </a:ln>
        </p:spPr>
      </p:sp>
      <p:sp>
        <p:nvSpPr>
          <p:cNvPr id="26" name="Text 24"/>
          <p:cNvSpPr/>
          <p:nvPr/>
        </p:nvSpPr>
        <p:spPr>
          <a:xfrm>
            <a:off x="9444924" y="2151889"/>
            <a:ext cx="1389888" cy="457200"/>
          </a:xfrm>
          <a:prstGeom prst="rect">
            <a:avLst/>
          </a:prstGeom>
          <a:noFill/>
          <a:ln/>
        </p:spPr>
        <p:txBody>
          <a:bodyPr wrap="square" lIns="0" tIns="0" rIns="0" bIns="0" rtlCol="0" anchor="ctr">
            <a:normAutofit/>
          </a:bodyPr>
          <a:lstStyle/>
          <a:p>
            <a:pPr marL="0" indent="0" algn="ctr">
              <a:buNone/>
            </a:pPr>
            <a:r>
              <a:rPr lang="en-US" sz="1120" b="1" dirty="0">
                <a:solidFill>
                  <a:srgbClr val="B7791F"/>
                </a:solidFill>
                <a:latin typeface="Aptos" pitchFamily="34" charset="0"/>
                <a:ea typeface="Aptos" pitchFamily="34" charset="-122"/>
                <a:cs typeface="Aptos" pitchFamily="34" charset="-120"/>
              </a:rPr>
              <a:t>Vision / LLM API</a:t>
            </a:r>
            <a:endParaRPr lang="en-US" sz="1120" dirty="0"/>
          </a:p>
        </p:txBody>
      </p:sp>
      <p:sp>
        <p:nvSpPr>
          <p:cNvPr id="27" name="Shape 25"/>
          <p:cNvSpPr/>
          <p:nvPr/>
        </p:nvSpPr>
        <p:spPr>
          <a:xfrm>
            <a:off x="9358376" y="3740450"/>
            <a:ext cx="1572768" cy="640080"/>
          </a:xfrm>
          <a:prstGeom prst="roundRect">
            <a:avLst>
              <a:gd name="adj" fmla="val 17143"/>
            </a:avLst>
          </a:prstGeom>
          <a:solidFill>
            <a:srgbClr val="E9F6EF"/>
          </a:solidFill>
          <a:ln w="12700">
            <a:solidFill>
              <a:srgbClr val="2F7D59"/>
            </a:solidFill>
            <a:prstDash val="solid"/>
          </a:ln>
        </p:spPr>
      </p:sp>
      <p:sp>
        <p:nvSpPr>
          <p:cNvPr id="28" name="Text 26"/>
          <p:cNvSpPr/>
          <p:nvPr/>
        </p:nvSpPr>
        <p:spPr>
          <a:xfrm>
            <a:off x="9449816" y="3831890"/>
            <a:ext cx="1389888" cy="457200"/>
          </a:xfrm>
          <a:prstGeom prst="rect">
            <a:avLst/>
          </a:prstGeom>
          <a:noFill/>
          <a:ln/>
        </p:spPr>
        <p:txBody>
          <a:bodyPr wrap="square" lIns="0" tIns="0" rIns="0" bIns="0" rtlCol="0" anchor="ctr">
            <a:normAutofit/>
          </a:bodyPr>
          <a:lstStyle/>
          <a:p>
            <a:pPr marL="0" indent="0" algn="ctr">
              <a:buNone/>
            </a:pPr>
            <a:r>
              <a:rPr lang="en-US" sz="1120" b="1" dirty="0">
                <a:solidFill>
                  <a:srgbClr val="2F7D59"/>
                </a:solidFill>
                <a:latin typeface="Aptos" pitchFamily="34" charset="0"/>
                <a:ea typeface="Aptos" pitchFamily="34" charset="-122"/>
                <a:cs typeface="Aptos" pitchFamily="34" charset="-120"/>
              </a:rPr>
              <a:t>SMS / Email</a:t>
            </a:r>
            <a:endParaRPr lang="en-US" sz="1120" dirty="0"/>
          </a:p>
        </p:txBody>
      </p:sp>
      <p:sp>
        <p:nvSpPr>
          <p:cNvPr id="30" name="Shape 28"/>
          <p:cNvSpPr/>
          <p:nvPr/>
        </p:nvSpPr>
        <p:spPr>
          <a:xfrm>
            <a:off x="8700841" y="4067553"/>
            <a:ext cx="657535" cy="832"/>
          </a:xfrm>
          <a:prstGeom prst="line">
            <a:avLst/>
          </a:prstGeom>
          <a:noFill/>
          <a:ln w="16510">
            <a:solidFill>
              <a:srgbClr val="2F7D59"/>
            </a:solidFill>
            <a:prstDash val="solid"/>
            <a:headEnd type="none"/>
            <a:tailEnd type="triangle"/>
          </a:ln>
        </p:spPr>
      </p:sp>
      <p:sp>
        <p:nvSpPr>
          <p:cNvPr id="31" name="Shape 29"/>
          <p:cNvSpPr/>
          <p:nvPr/>
        </p:nvSpPr>
        <p:spPr>
          <a:xfrm>
            <a:off x="2965888" y="5266719"/>
            <a:ext cx="6583481" cy="977460"/>
          </a:xfrm>
          <a:prstGeom prst="roundRect">
            <a:avLst>
              <a:gd name="adj" fmla="val 17647"/>
            </a:avLst>
          </a:prstGeom>
          <a:solidFill>
            <a:srgbClr val="FFFFFF"/>
          </a:solidFill>
          <a:ln w="12700">
            <a:solidFill>
              <a:srgbClr val="D6DEE9"/>
            </a:solidFill>
            <a:prstDash val="solid"/>
          </a:ln>
        </p:spPr>
        <p:txBody>
          <a:bodyPr/>
          <a:lstStyle/>
          <a:p>
            <a:endParaRPr lang="en-IN" dirty="0"/>
          </a:p>
        </p:txBody>
      </p:sp>
      <p:sp>
        <p:nvSpPr>
          <p:cNvPr id="32" name="Text 30"/>
          <p:cNvSpPr/>
          <p:nvPr/>
        </p:nvSpPr>
        <p:spPr>
          <a:xfrm>
            <a:off x="3381493" y="5579276"/>
            <a:ext cx="6008503" cy="415487"/>
          </a:xfrm>
          <a:prstGeom prst="rect">
            <a:avLst/>
          </a:prstGeom>
          <a:noFill/>
          <a:ln/>
        </p:spPr>
        <p:txBody>
          <a:bodyPr wrap="square" lIns="0" tIns="0" rIns="0" bIns="0" rtlCol="0" anchor="ctr">
            <a:normAutofit/>
          </a:bodyPr>
          <a:lstStyle/>
          <a:p>
            <a:pPr marL="0" indent="0" algn="ctr">
              <a:buNone/>
            </a:pPr>
            <a:r>
              <a:rPr lang="en-US" sz="1600" b="1" dirty="0">
                <a:solidFill>
                  <a:srgbClr val="0F172A"/>
                </a:solidFill>
                <a:latin typeface="Aptos" pitchFamily="34" charset="0"/>
                <a:ea typeface="Aptos" pitchFamily="34" charset="-122"/>
                <a:cs typeface="Aptos" pitchFamily="34" charset="-120"/>
              </a:rPr>
              <a:t>API: validate → store → enqueue → return</a:t>
            </a:r>
            <a:endParaRPr lang="en-US" sz="1600" dirty="0"/>
          </a:p>
        </p:txBody>
      </p:sp>
      <p:sp>
        <p:nvSpPr>
          <p:cNvPr id="35"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8</a:t>
            </a:fld>
            <a:endParaRPr lang="en-US"/>
          </a:p>
        </p:txBody>
      </p:sp>
      <p:cxnSp>
        <p:nvCxnSpPr>
          <p:cNvPr id="38" name="Straight Connector 37">
            <a:extLst>
              <a:ext uri="{FF2B5EF4-FFF2-40B4-BE49-F238E27FC236}">
                <a16:creationId xmlns:a16="http://schemas.microsoft.com/office/drawing/2014/main" id="{4124B51B-CFAA-D860-25B4-CDC3C44097A0}"/>
              </a:ext>
            </a:extLst>
          </p:cNvPr>
          <p:cNvCxnSpPr>
            <a:stCxn id="10" idx="3"/>
          </p:cNvCxnSpPr>
          <p:nvPr/>
        </p:nvCxnSpPr>
        <p:spPr>
          <a:xfrm>
            <a:off x="4319200" y="3240024"/>
            <a:ext cx="35162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65F3531-6F1D-FD27-5A33-5EB1354F5AF5}"/>
              </a:ext>
            </a:extLst>
          </p:cNvPr>
          <p:cNvCxnSpPr/>
          <p:nvPr/>
        </p:nvCxnSpPr>
        <p:spPr>
          <a:xfrm flipV="1">
            <a:off x="4667019" y="2349731"/>
            <a:ext cx="0" cy="890293"/>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868EEA3-2110-79B3-9002-35CB25E99352}"/>
              </a:ext>
            </a:extLst>
          </p:cNvPr>
          <p:cNvCxnSpPr>
            <a:cxnSpLocks/>
          </p:cNvCxnSpPr>
          <p:nvPr/>
        </p:nvCxnSpPr>
        <p:spPr>
          <a:xfrm>
            <a:off x="4661305" y="2349247"/>
            <a:ext cx="232894" cy="5714"/>
          </a:xfrm>
          <a:prstGeom prst="straightConnector1">
            <a:avLst/>
          </a:prstGeom>
          <a:ln w="127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A55AD7D-81D3-D9F8-4384-565941C46A9E}"/>
              </a:ext>
            </a:extLst>
          </p:cNvPr>
          <p:cNvCxnSpPr/>
          <p:nvPr/>
        </p:nvCxnSpPr>
        <p:spPr>
          <a:xfrm>
            <a:off x="4667019" y="3238119"/>
            <a:ext cx="0" cy="780565"/>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DBCDB65-4E73-0BB0-0503-4D2CE95F6BD5}"/>
              </a:ext>
            </a:extLst>
          </p:cNvPr>
          <p:cNvCxnSpPr>
            <a:cxnSpLocks/>
          </p:cNvCxnSpPr>
          <p:nvPr/>
        </p:nvCxnSpPr>
        <p:spPr>
          <a:xfrm>
            <a:off x="4663440" y="4016294"/>
            <a:ext cx="167825" cy="0"/>
          </a:xfrm>
          <a:prstGeom prst="straightConnector1">
            <a:avLst/>
          </a:prstGeom>
          <a:ln w="127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8EDFC5D0-DD9B-0405-B9EE-9E4667E38C03}"/>
              </a:ext>
            </a:extLst>
          </p:cNvPr>
          <p:cNvCxnSpPr>
            <a:cxnSpLocks/>
            <a:stCxn id="16" idx="3"/>
            <a:endCxn id="25" idx="1"/>
          </p:cNvCxnSpPr>
          <p:nvPr/>
        </p:nvCxnSpPr>
        <p:spPr>
          <a:xfrm>
            <a:off x="8658999" y="2379657"/>
            <a:ext cx="702795" cy="832"/>
          </a:xfrm>
          <a:prstGeom prst="straightConnector1">
            <a:avLst/>
          </a:prstGeom>
          <a:ln w="12700">
            <a:solidFill>
              <a:schemeClr val="accent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25FD191-3BA9-147E-1BBF-0C7CB54D311A}"/>
              </a:ext>
            </a:extLst>
          </p:cNvPr>
          <p:cNvCxnSpPr>
            <a:cxnSpLocks/>
            <a:stCxn id="16" idx="2"/>
          </p:cNvCxnSpPr>
          <p:nvPr/>
        </p:nvCxnSpPr>
        <p:spPr>
          <a:xfrm>
            <a:off x="7872615" y="2827713"/>
            <a:ext cx="0" cy="41148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7B4B2E7-1AD3-ED2B-DF0D-299623B279B0}"/>
              </a:ext>
            </a:extLst>
          </p:cNvPr>
          <p:cNvCxnSpPr>
            <a:cxnSpLocks/>
          </p:cNvCxnSpPr>
          <p:nvPr/>
        </p:nvCxnSpPr>
        <p:spPr>
          <a:xfrm flipH="1" flipV="1">
            <a:off x="5654224" y="3239193"/>
            <a:ext cx="2218391" cy="83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912D1A0-D16D-75FB-2F63-4122D7F91A0E}"/>
              </a:ext>
            </a:extLst>
          </p:cNvPr>
          <p:cNvCxnSpPr>
            <a:cxnSpLocks/>
          </p:cNvCxnSpPr>
          <p:nvPr/>
        </p:nvCxnSpPr>
        <p:spPr>
          <a:xfrm>
            <a:off x="5659940" y="3239193"/>
            <a:ext cx="0" cy="336665"/>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Shape 22">
            <a:extLst>
              <a:ext uri="{FF2B5EF4-FFF2-40B4-BE49-F238E27FC236}">
                <a16:creationId xmlns:a16="http://schemas.microsoft.com/office/drawing/2014/main" id="{563EC58B-09CB-B621-8ED3-5AA0EDE087B0}"/>
              </a:ext>
            </a:extLst>
          </p:cNvPr>
          <p:cNvSpPr/>
          <p:nvPr/>
        </p:nvSpPr>
        <p:spPr>
          <a:xfrm flipH="1" flipV="1">
            <a:off x="6470537" y="4067553"/>
            <a:ext cx="615693" cy="3328"/>
          </a:xfrm>
          <a:prstGeom prst="line">
            <a:avLst/>
          </a:prstGeom>
          <a:noFill/>
          <a:ln w="17780">
            <a:solidFill>
              <a:srgbClr val="6E5AA6"/>
            </a:solidFill>
            <a:prstDash val="solid"/>
            <a:headEnd type="none"/>
            <a:tailEnd type="triangl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08 · TECH STACK</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Mature components, deliberate boundaries.</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Engineering effort goes into routing correctness, accountability, and abuse resistance.</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STACK</a:t>
            </a:r>
            <a:endParaRPr lang="en-US" sz="950" dirty="0"/>
          </a:p>
        </p:txBody>
      </p:sp>
      <p:sp>
        <p:nvSpPr>
          <p:cNvPr id="7" name="Shape 5"/>
          <p:cNvSpPr/>
          <p:nvPr/>
        </p:nvSpPr>
        <p:spPr>
          <a:xfrm>
            <a:off x="566928" y="1956816"/>
            <a:ext cx="3163824" cy="3621024"/>
          </a:xfrm>
          <a:prstGeom prst="roundRect">
            <a:avLst>
              <a:gd name="adj" fmla="val 3468"/>
            </a:avLst>
          </a:prstGeom>
          <a:solidFill>
            <a:srgbClr val="FFFFFF"/>
          </a:solidFill>
          <a:ln w="12700">
            <a:solidFill>
              <a:srgbClr val="D6DEE9"/>
            </a:solidFill>
            <a:prstDash val="solid"/>
          </a:ln>
        </p:spPr>
        <p:txBody>
          <a:bodyPr/>
          <a:lstStyle/>
          <a:p>
            <a:endParaRPr lang="en-IN" dirty="0"/>
          </a:p>
        </p:txBody>
      </p:sp>
      <p:sp>
        <p:nvSpPr>
          <p:cNvPr id="8" name="Text 6"/>
          <p:cNvSpPr/>
          <p:nvPr/>
        </p:nvSpPr>
        <p:spPr>
          <a:xfrm>
            <a:off x="786384" y="2194560"/>
            <a:ext cx="2468880" cy="182880"/>
          </a:xfrm>
          <a:prstGeom prst="rect">
            <a:avLst/>
          </a:prstGeom>
          <a:noFill/>
          <a:ln/>
        </p:spPr>
        <p:txBody>
          <a:bodyPr wrap="square" lIns="0" tIns="0" rIns="0" bIns="0" rtlCol="0" anchor="ctr">
            <a:normAutofit/>
          </a:bodyPr>
          <a:lstStyle/>
          <a:p>
            <a:pPr marL="0" indent="0">
              <a:buNone/>
            </a:pPr>
            <a:r>
              <a:rPr lang="en-US" sz="1000" b="1" kern="0" spc="110" dirty="0">
                <a:solidFill>
                  <a:srgbClr val="2F5D9B"/>
                </a:solidFill>
                <a:latin typeface="Aptos" pitchFamily="34" charset="0"/>
                <a:ea typeface="Aptos" pitchFamily="34" charset="-122"/>
                <a:cs typeface="Aptos" pitchFamily="34" charset="-120"/>
              </a:rPr>
              <a:t>EXPERIENCE</a:t>
            </a:r>
            <a:endParaRPr lang="en-US" sz="1000" dirty="0"/>
          </a:p>
        </p:txBody>
      </p:sp>
      <p:sp>
        <p:nvSpPr>
          <p:cNvPr id="9" name="Shape 7"/>
          <p:cNvSpPr/>
          <p:nvPr/>
        </p:nvSpPr>
        <p:spPr>
          <a:xfrm>
            <a:off x="786384" y="2731008"/>
            <a:ext cx="969264" cy="292608"/>
          </a:xfrm>
          <a:prstGeom prst="roundRect">
            <a:avLst>
              <a:gd name="adj" fmla="val 46875"/>
            </a:avLst>
          </a:prstGeom>
          <a:solidFill>
            <a:srgbClr val="EEF4FB"/>
          </a:solidFill>
          <a:ln w="12700">
            <a:solidFill>
              <a:srgbClr val="EEF4FB"/>
            </a:solidFill>
            <a:prstDash val="solid"/>
          </a:ln>
        </p:spPr>
      </p:sp>
      <p:sp>
        <p:nvSpPr>
          <p:cNvPr id="10" name="Text 8"/>
          <p:cNvSpPr/>
          <p:nvPr/>
        </p:nvSpPr>
        <p:spPr>
          <a:xfrm>
            <a:off x="877824" y="2776728"/>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FRONTEND</a:t>
            </a:r>
            <a:endParaRPr lang="en-US" sz="950" dirty="0"/>
          </a:p>
        </p:txBody>
      </p:sp>
      <p:sp>
        <p:nvSpPr>
          <p:cNvPr id="11" name="Text 9"/>
          <p:cNvSpPr/>
          <p:nvPr/>
        </p:nvSpPr>
        <p:spPr>
          <a:xfrm>
            <a:off x="1883664" y="2660904"/>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rPr>
              <a:t>React Native</a:t>
            </a:r>
            <a:endParaRPr lang="en-US" sz="1010" dirty="0"/>
          </a:p>
        </p:txBody>
      </p:sp>
      <p:sp>
        <p:nvSpPr>
          <p:cNvPr id="12" name="Shape 10"/>
          <p:cNvSpPr/>
          <p:nvPr/>
        </p:nvSpPr>
        <p:spPr>
          <a:xfrm>
            <a:off x="786384" y="3389376"/>
            <a:ext cx="969264" cy="292608"/>
          </a:xfrm>
          <a:prstGeom prst="roundRect">
            <a:avLst>
              <a:gd name="adj" fmla="val 46875"/>
            </a:avLst>
          </a:prstGeom>
          <a:solidFill>
            <a:srgbClr val="EEF4FB"/>
          </a:solidFill>
          <a:ln w="12700">
            <a:solidFill>
              <a:srgbClr val="EEF4FB"/>
            </a:solidFill>
            <a:prstDash val="solid"/>
          </a:ln>
        </p:spPr>
      </p:sp>
      <p:sp>
        <p:nvSpPr>
          <p:cNvPr id="13" name="Text 11"/>
          <p:cNvSpPr/>
          <p:nvPr/>
        </p:nvSpPr>
        <p:spPr>
          <a:xfrm>
            <a:off x="877824" y="3435096"/>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MAPS</a:t>
            </a:r>
            <a:endParaRPr lang="en-US" sz="950" dirty="0"/>
          </a:p>
        </p:txBody>
      </p:sp>
      <p:sp>
        <p:nvSpPr>
          <p:cNvPr id="14" name="Text 12"/>
          <p:cNvSpPr/>
          <p:nvPr/>
        </p:nvSpPr>
        <p:spPr>
          <a:xfrm>
            <a:off x="1883664" y="3319272"/>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Leaflet + OpenStreetMap</a:t>
            </a:r>
            <a:endParaRPr lang="en-US" sz="1010" dirty="0"/>
          </a:p>
        </p:txBody>
      </p:sp>
      <p:sp>
        <p:nvSpPr>
          <p:cNvPr id="15" name="Shape 13"/>
          <p:cNvSpPr/>
          <p:nvPr/>
        </p:nvSpPr>
        <p:spPr>
          <a:xfrm>
            <a:off x="786384" y="4047744"/>
            <a:ext cx="969264" cy="292608"/>
          </a:xfrm>
          <a:prstGeom prst="roundRect">
            <a:avLst>
              <a:gd name="adj" fmla="val 46875"/>
            </a:avLst>
          </a:prstGeom>
          <a:solidFill>
            <a:srgbClr val="EEF4FB"/>
          </a:solidFill>
          <a:ln w="12700">
            <a:solidFill>
              <a:srgbClr val="EEF4FB"/>
            </a:solidFill>
            <a:prstDash val="solid"/>
          </a:ln>
        </p:spPr>
      </p:sp>
      <p:sp>
        <p:nvSpPr>
          <p:cNvPr id="16" name="Text 14"/>
          <p:cNvSpPr/>
          <p:nvPr/>
        </p:nvSpPr>
        <p:spPr>
          <a:xfrm>
            <a:off x="877824" y="4093464"/>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AUTH</a:t>
            </a:r>
            <a:endParaRPr lang="en-US" sz="950" dirty="0"/>
          </a:p>
        </p:txBody>
      </p:sp>
      <p:sp>
        <p:nvSpPr>
          <p:cNvPr id="17" name="Text 15"/>
          <p:cNvSpPr/>
          <p:nvPr/>
        </p:nvSpPr>
        <p:spPr>
          <a:xfrm>
            <a:off x="1883664" y="3977640"/>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JWT (OAuth2 password flow)</a:t>
            </a:r>
            <a:endParaRPr lang="en-US" sz="1010" dirty="0"/>
          </a:p>
        </p:txBody>
      </p:sp>
      <p:sp>
        <p:nvSpPr>
          <p:cNvPr id="18" name="Shape 16"/>
          <p:cNvSpPr/>
          <p:nvPr/>
        </p:nvSpPr>
        <p:spPr>
          <a:xfrm>
            <a:off x="3950208" y="1956816"/>
            <a:ext cx="3163824" cy="3621024"/>
          </a:xfrm>
          <a:prstGeom prst="roundRect">
            <a:avLst>
              <a:gd name="adj" fmla="val 3468"/>
            </a:avLst>
          </a:prstGeom>
          <a:solidFill>
            <a:srgbClr val="FFFFFF"/>
          </a:solidFill>
          <a:ln w="12700">
            <a:solidFill>
              <a:srgbClr val="D6DEE9"/>
            </a:solidFill>
            <a:prstDash val="solid"/>
          </a:ln>
        </p:spPr>
      </p:sp>
      <p:sp>
        <p:nvSpPr>
          <p:cNvPr id="19" name="Text 17"/>
          <p:cNvSpPr/>
          <p:nvPr/>
        </p:nvSpPr>
        <p:spPr>
          <a:xfrm>
            <a:off x="4169664" y="2194560"/>
            <a:ext cx="2468880" cy="182880"/>
          </a:xfrm>
          <a:prstGeom prst="rect">
            <a:avLst/>
          </a:prstGeom>
          <a:noFill/>
          <a:ln/>
        </p:spPr>
        <p:txBody>
          <a:bodyPr wrap="square" lIns="0" tIns="0" rIns="0" bIns="0" rtlCol="0" anchor="ctr">
            <a:normAutofit/>
          </a:bodyPr>
          <a:lstStyle/>
          <a:p>
            <a:pPr marL="0" indent="0">
              <a:buNone/>
            </a:pPr>
            <a:r>
              <a:rPr lang="en-US" sz="1000" b="1" kern="0" spc="110" dirty="0">
                <a:solidFill>
                  <a:srgbClr val="183B6B"/>
                </a:solidFill>
                <a:latin typeface="Aptos" pitchFamily="34" charset="0"/>
                <a:ea typeface="Aptos" pitchFamily="34" charset="-122"/>
                <a:cs typeface="Aptos" pitchFamily="34" charset="-120"/>
              </a:rPr>
              <a:t>BACKEND</a:t>
            </a:r>
            <a:endParaRPr lang="en-US" sz="1000" dirty="0"/>
          </a:p>
        </p:txBody>
      </p:sp>
      <p:sp>
        <p:nvSpPr>
          <p:cNvPr id="20" name="Shape 18"/>
          <p:cNvSpPr/>
          <p:nvPr/>
        </p:nvSpPr>
        <p:spPr>
          <a:xfrm>
            <a:off x="4169664" y="2731008"/>
            <a:ext cx="969264" cy="292608"/>
          </a:xfrm>
          <a:prstGeom prst="roundRect">
            <a:avLst>
              <a:gd name="adj" fmla="val 46875"/>
            </a:avLst>
          </a:prstGeom>
          <a:solidFill>
            <a:srgbClr val="DCE8F7"/>
          </a:solidFill>
          <a:ln w="12700">
            <a:solidFill>
              <a:srgbClr val="DCE8F7"/>
            </a:solidFill>
            <a:prstDash val="solid"/>
          </a:ln>
        </p:spPr>
      </p:sp>
      <p:sp>
        <p:nvSpPr>
          <p:cNvPr id="21" name="Text 19"/>
          <p:cNvSpPr/>
          <p:nvPr/>
        </p:nvSpPr>
        <p:spPr>
          <a:xfrm>
            <a:off x="4261104" y="2776728"/>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183B6B"/>
                </a:solidFill>
                <a:latin typeface="Aptos" pitchFamily="34" charset="0"/>
                <a:ea typeface="Aptos" pitchFamily="34" charset="-122"/>
                <a:cs typeface="Aptos" pitchFamily="34" charset="-120"/>
              </a:rPr>
              <a:t>API</a:t>
            </a:r>
            <a:endParaRPr lang="en-US" sz="950" dirty="0"/>
          </a:p>
        </p:txBody>
      </p:sp>
      <p:sp>
        <p:nvSpPr>
          <p:cNvPr id="22" name="Text 20"/>
          <p:cNvSpPr/>
          <p:nvPr/>
        </p:nvSpPr>
        <p:spPr>
          <a:xfrm>
            <a:off x="5266944" y="2660904"/>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Python + FastAPI</a:t>
            </a:r>
            <a:endParaRPr lang="en-US" sz="1010" dirty="0"/>
          </a:p>
        </p:txBody>
      </p:sp>
      <p:sp>
        <p:nvSpPr>
          <p:cNvPr id="23" name="Shape 21"/>
          <p:cNvSpPr/>
          <p:nvPr/>
        </p:nvSpPr>
        <p:spPr>
          <a:xfrm>
            <a:off x="4169664" y="3389376"/>
            <a:ext cx="969264" cy="292608"/>
          </a:xfrm>
          <a:prstGeom prst="roundRect">
            <a:avLst>
              <a:gd name="adj" fmla="val 46875"/>
            </a:avLst>
          </a:prstGeom>
          <a:solidFill>
            <a:srgbClr val="DCE8F7"/>
          </a:solidFill>
          <a:ln w="12700">
            <a:solidFill>
              <a:srgbClr val="DCE8F7"/>
            </a:solidFill>
            <a:prstDash val="solid"/>
          </a:ln>
        </p:spPr>
      </p:sp>
      <p:sp>
        <p:nvSpPr>
          <p:cNvPr id="24" name="Text 22"/>
          <p:cNvSpPr/>
          <p:nvPr/>
        </p:nvSpPr>
        <p:spPr>
          <a:xfrm>
            <a:off x="4261104" y="3435096"/>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183B6B"/>
                </a:solidFill>
                <a:latin typeface="Aptos" pitchFamily="34" charset="0"/>
                <a:ea typeface="Aptos" pitchFamily="34" charset="-122"/>
                <a:cs typeface="Aptos" pitchFamily="34" charset="-120"/>
              </a:rPr>
              <a:t>QUEUE</a:t>
            </a:r>
            <a:endParaRPr lang="en-US" sz="950" dirty="0"/>
          </a:p>
        </p:txBody>
      </p:sp>
      <p:sp>
        <p:nvSpPr>
          <p:cNvPr id="25" name="Text 23"/>
          <p:cNvSpPr/>
          <p:nvPr/>
        </p:nvSpPr>
        <p:spPr>
          <a:xfrm>
            <a:off x="5266944" y="3319272"/>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Redis + Celery</a:t>
            </a:r>
            <a:endParaRPr lang="en-US" sz="1010" dirty="0"/>
          </a:p>
        </p:txBody>
      </p:sp>
      <p:sp>
        <p:nvSpPr>
          <p:cNvPr id="26" name="Shape 24"/>
          <p:cNvSpPr/>
          <p:nvPr/>
        </p:nvSpPr>
        <p:spPr>
          <a:xfrm>
            <a:off x="4169664" y="4047744"/>
            <a:ext cx="969264" cy="292608"/>
          </a:xfrm>
          <a:prstGeom prst="roundRect">
            <a:avLst>
              <a:gd name="adj" fmla="val 46875"/>
            </a:avLst>
          </a:prstGeom>
          <a:solidFill>
            <a:srgbClr val="DCE8F7"/>
          </a:solidFill>
          <a:ln w="12700">
            <a:solidFill>
              <a:srgbClr val="DCE8F7"/>
            </a:solidFill>
            <a:prstDash val="solid"/>
          </a:ln>
        </p:spPr>
      </p:sp>
      <p:sp>
        <p:nvSpPr>
          <p:cNvPr id="27" name="Text 25"/>
          <p:cNvSpPr/>
          <p:nvPr/>
        </p:nvSpPr>
        <p:spPr>
          <a:xfrm>
            <a:off x="4261104" y="4093464"/>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183B6B"/>
                </a:solidFill>
                <a:latin typeface="Aptos" pitchFamily="34" charset="0"/>
                <a:ea typeface="Aptos" pitchFamily="34" charset="-122"/>
                <a:cs typeface="Aptos" pitchFamily="34" charset="-120"/>
              </a:rPr>
              <a:t>DATABASE</a:t>
            </a:r>
            <a:endParaRPr lang="en-US" sz="950" dirty="0"/>
          </a:p>
        </p:txBody>
      </p:sp>
      <p:sp>
        <p:nvSpPr>
          <p:cNvPr id="28" name="Text 26"/>
          <p:cNvSpPr/>
          <p:nvPr/>
        </p:nvSpPr>
        <p:spPr>
          <a:xfrm>
            <a:off x="5266944" y="3977640"/>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PostgreSQL + PostGIS</a:t>
            </a:r>
            <a:endParaRPr lang="en-US" sz="1010" dirty="0"/>
          </a:p>
        </p:txBody>
      </p:sp>
      <p:sp>
        <p:nvSpPr>
          <p:cNvPr id="29" name="Shape 27"/>
          <p:cNvSpPr/>
          <p:nvPr/>
        </p:nvSpPr>
        <p:spPr>
          <a:xfrm>
            <a:off x="7333488" y="1956816"/>
            <a:ext cx="3163824" cy="3621024"/>
          </a:xfrm>
          <a:prstGeom prst="roundRect">
            <a:avLst>
              <a:gd name="adj" fmla="val 3468"/>
            </a:avLst>
          </a:prstGeom>
          <a:solidFill>
            <a:srgbClr val="FFFFFF"/>
          </a:solidFill>
          <a:ln w="12700">
            <a:solidFill>
              <a:srgbClr val="D6DEE9"/>
            </a:solidFill>
            <a:prstDash val="solid"/>
          </a:ln>
        </p:spPr>
      </p:sp>
      <p:sp>
        <p:nvSpPr>
          <p:cNvPr id="30" name="Text 28"/>
          <p:cNvSpPr/>
          <p:nvPr/>
        </p:nvSpPr>
        <p:spPr>
          <a:xfrm>
            <a:off x="7552944" y="2194560"/>
            <a:ext cx="2468880" cy="182880"/>
          </a:xfrm>
          <a:prstGeom prst="rect">
            <a:avLst/>
          </a:prstGeom>
          <a:noFill/>
          <a:ln/>
        </p:spPr>
        <p:txBody>
          <a:bodyPr wrap="square" lIns="0" tIns="0" rIns="0" bIns="0" rtlCol="0" anchor="ctr">
            <a:normAutofit/>
          </a:bodyPr>
          <a:lstStyle/>
          <a:p>
            <a:pPr marL="0" indent="0">
              <a:buNone/>
            </a:pPr>
            <a:r>
              <a:rPr lang="en-US" sz="1000" b="1" kern="0" spc="110" dirty="0">
                <a:solidFill>
                  <a:srgbClr val="2F7D59"/>
                </a:solidFill>
                <a:latin typeface="Aptos" pitchFamily="34" charset="0"/>
                <a:ea typeface="Aptos" pitchFamily="34" charset="-122"/>
                <a:cs typeface="Aptos" pitchFamily="34" charset="-120"/>
              </a:rPr>
              <a:t>PLATFORM</a:t>
            </a:r>
            <a:endParaRPr lang="en-US" sz="1000" dirty="0"/>
          </a:p>
        </p:txBody>
      </p:sp>
      <p:sp>
        <p:nvSpPr>
          <p:cNvPr id="31" name="Shape 29"/>
          <p:cNvSpPr/>
          <p:nvPr/>
        </p:nvSpPr>
        <p:spPr>
          <a:xfrm>
            <a:off x="7552944" y="2670048"/>
            <a:ext cx="969264" cy="292608"/>
          </a:xfrm>
          <a:prstGeom prst="roundRect">
            <a:avLst>
              <a:gd name="adj" fmla="val 46875"/>
            </a:avLst>
          </a:prstGeom>
          <a:solidFill>
            <a:srgbClr val="E9F6EF"/>
          </a:solidFill>
          <a:ln w="12700">
            <a:solidFill>
              <a:srgbClr val="E9F6EF"/>
            </a:solidFill>
            <a:prstDash val="solid"/>
          </a:ln>
        </p:spPr>
      </p:sp>
      <p:sp>
        <p:nvSpPr>
          <p:cNvPr id="32" name="Text 30"/>
          <p:cNvSpPr/>
          <p:nvPr/>
        </p:nvSpPr>
        <p:spPr>
          <a:xfrm>
            <a:off x="7644384" y="2715768"/>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2F7D59"/>
                </a:solidFill>
                <a:latin typeface="Aptos" pitchFamily="34" charset="0"/>
                <a:ea typeface="Aptos" pitchFamily="34" charset="-122"/>
                <a:cs typeface="Aptos" pitchFamily="34" charset="-120"/>
              </a:rPr>
              <a:t>VISION / LLM</a:t>
            </a:r>
            <a:endParaRPr lang="en-US" sz="950" dirty="0"/>
          </a:p>
        </p:txBody>
      </p:sp>
      <p:sp>
        <p:nvSpPr>
          <p:cNvPr id="33" name="Text 31"/>
          <p:cNvSpPr/>
          <p:nvPr/>
        </p:nvSpPr>
        <p:spPr>
          <a:xfrm>
            <a:off x="8650224" y="2607564"/>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Claude or GPT-4 vision-capable API</a:t>
            </a:r>
            <a:endParaRPr lang="en-US" sz="1010" dirty="0"/>
          </a:p>
        </p:txBody>
      </p:sp>
      <p:sp>
        <p:nvSpPr>
          <p:cNvPr id="34" name="Shape 32"/>
          <p:cNvSpPr/>
          <p:nvPr/>
        </p:nvSpPr>
        <p:spPr>
          <a:xfrm>
            <a:off x="7552944" y="3328416"/>
            <a:ext cx="969264" cy="292608"/>
          </a:xfrm>
          <a:prstGeom prst="roundRect">
            <a:avLst>
              <a:gd name="adj" fmla="val 46875"/>
            </a:avLst>
          </a:prstGeom>
          <a:solidFill>
            <a:srgbClr val="E9F6EF"/>
          </a:solidFill>
          <a:ln w="12700">
            <a:solidFill>
              <a:srgbClr val="E9F6EF"/>
            </a:solidFill>
            <a:prstDash val="solid"/>
          </a:ln>
        </p:spPr>
      </p:sp>
      <p:sp>
        <p:nvSpPr>
          <p:cNvPr id="35" name="Text 33"/>
          <p:cNvSpPr/>
          <p:nvPr/>
        </p:nvSpPr>
        <p:spPr>
          <a:xfrm>
            <a:off x="7644384" y="3374136"/>
            <a:ext cx="786384" cy="173736"/>
          </a:xfrm>
          <a:prstGeom prst="rect">
            <a:avLst/>
          </a:prstGeom>
          <a:noFill/>
          <a:ln/>
        </p:spPr>
        <p:txBody>
          <a:bodyPr wrap="square" lIns="0" tIns="0" rIns="0" bIns="0" rtlCol="0" anchor="ctr">
            <a:normAutofit fontScale="85000" lnSpcReduction="10000"/>
          </a:bodyPr>
          <a:lstStyle/>
          <a:p>
            <a:pPr marL="0" indent="0" algn="ctr">
              <a:buNone/>
            </a:pPr>
            <a:r>
              <a:rPr lang="en-US" sz="950" b="1" dirty="0">
                <a:solidFill>
                  <a:srgbClr val="2F7D59"/>
                </a:solidFill>
                <a:latin typeface="Aptos" pitchFamily="34" charset="0"/>
                <a:ea typeface="Aptos" pitchFamily="34" charset="-122"/>
                <a:cs typeface="Aptos" pitchFamily="34" charset="-120"/>
              </a:rPr>
              <a:t>NOTIFICATIONS</a:t>
            </a:r>
            <a:endParaRPr lang="en-US" sz="950" dirty="0"/>
          </a:p>
        </p:txBody>
      </p:sp>
      <p:sp>
        <p:nvSpPr>
          <p:cNvPr id="36" name="Text 34"/>
          <p:cNvSpPr/>
          <p:nvPr/>
        </p:nvSpPr>
        <p:spPr>
          <a:xfrm>
            <a:off x="8650224" y="3265932"/>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Twilio + SendGrid</a:t>
            </a:r>
            <a:endParaRPr lang="en-US" sz="1010" dirty="0"/>
          </a:p>
        </p:txBody>
      </p:sp>
      <p:sp>
        <p:nvSpPr>
          <p:cNvPr id="37" name="Shape 35"/>
          <p:cNvSpPr/>
          <p:nvPr/>
        </p:nvSpPr>
        <p:spPr>
          <a:xfrm>
            <a:off x="7552944" y="3986784"/>
            <a:ext cx="969264" cy="292608"/>
          </a:xfrm>
          <a:prstGeom prst="roundRect">
            <a:avLst>
              <a:gd name="adj" fmla="val 46875"/>
            </a:avLst>
          </a:prstGeom>
          <a:solidFill>
            <a:srgbClr val="E9F6EF"/>
          </a:solidFill>
          <a:ln w="12700">
            <a:solidFill>
              <a:srgbClr val="E9F6EF"/>
            </a:solidFill>
            <a:prstDash val="solid"/>
          </a:ln>
        </p:spPr>
      </p:sp>
      <p:sp>
        <p:nvSpPr>
          <p:cNvPr id="38" name="Text 36"/>
          <p:cNvSpPr/>
          <p:nvPr/>
        </p:nvSpPr>
        <p:spPr>
          <a:xfrm>
            <a:off x="7644384" y="4032504"/>
            <a:ext cx="786384" cy="173736"/>
          </a:xfrm>
          <a:prstGeom prst="rect">
            <a:avLst/>
          </a:prstGeom>
          <a:noFill/>
          <a:ln/>
        </p:spPr>
        <p:txBody>
          <a:bodyPr wrap="square" lIns="0" tIns="0" rIns="0" bIns="0" rtlCol="0" anchor="ctr">
            <a:normAutofit fontScale="62500" lnSpcReduction="20000"/>
          </a:bodyPr>
          <a:lstStyle/>
          <a:p>
            <a:pPr marL="0" indent="0" algn="ctr">
              <a:buNone/>
            </a:pPr>
            <a:r>
              <a:rPr lang="en-US" sz="950" b="1" dirty="0">
                <a:solidFill>
                  <a:srgbClr val="2F7D59"/>
                </a:solidFill>
                <a:latin typeface="Aptos" pitchFamily="34" charset="0"/>
                <a:ea typeface="Aptos" pitchFamily="34" charset="-122"/>
                <a:cs typeface="Aptos" pitchFamily="34" charset="-120"/>
              </a:rPr>
              <a:t>STORAGE / DEPLOY</a:t>
            </a:r>
            <a:endParaRPr lang="en-US" sz="950" dirty="0"/>
          </a:p>
        </p:txBody>
      </p:sp>
      <p:sp>
        <p:nvSpPr>
          <p:cNvPr id="39" name="Text 37"/>
          <p:cNvSpPr/>
          <p:nvPr/>
        </p:nvSpPr>
        <p:spPr>
          <a:xfrm>
            <a:off x="8650224" y="3924300"/>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MinIO dev · Render/Railway demo</a:t>
            </a:r>
            <a:endParaRPr lang="en-US" sz="1010" dirty="0"/>
          </a:p>
        </p:txBody>
      </p:sp>
      <p:sp>
        <p:nvSpPr>
          <p:cNvPr id="40" name="Shape 38"/>
          <p:cNvSpPr/>
          <p:nvPr/>
        </p:nvSpPr>
        <p:spPr>
          <a:xfrm>
            <a:off x="7552944" y="4645152"/>
            <a:ext cx="969264" cy="292608"/>
          </a:xfrm>
          <a:prstGeom prst="roundRect">
            <a:avLst>
              <a:gd name="adj" fmla="val 46875"/>
            </a:avLst>
          </a:prstGeom>
          <a:solidFill>
            <a:srgbClr val="E9F6EF"/>
          </a:solidFill>
          <a:ln w="12700">
            <a:solidFill>
              <a:srgbClr val="E9F6EF"/>
            </a:solidFill>
            <a:prstDash val="solid"/>
          </a:ln>
        </p:spPr>
      </p:sp>
      <p:sp>
        <p:nvSpPr>
          <p:cNvPr id="41" name="Text 39"/>
          <p:cNvSpPr/>
          <p:nvPr/>
        </p:nvSpPr>
        <p:spPr>
          <a:xfrm>
            <a:off x="7644384" y="4690872"/>
            <a:ext cx="786384" cy="173736"/>
          </a:xfrm>
          <a:prstGeom prst="rect">
            <a:avLst/>
          </a:prstGeom>
          <a:noFill/>
          <a:ln/>
        </p:spPr>
        <p:txBody>
          <a:bodyPr wrap="square" lIns="0" tIns="0" rIns="0" bIns="0" rtlCol="0" anchor="ctr">
            <a:normAutofit/>
          </a:bodyPr>
          <a:lstStyle/>
          <a:p>
            <a:pPr marL="0" indent="0" algn="ctr">
              <a:buNone/>
            </a:pPr>
            <a:r>
              <a:rPr lang="en-US" sz="950" b="1" dirty="0">
                <a:solidFill>
                  <a:srgbClr val="2F7D59"/>
                </a:solidFill>
                <a:latin typeface="Aptos" pitchFamily="34" charset="0"/>
                <a:ea typeface="Aptos" pitchFamily="34" charset="-122"/>
                <a:cs typeface="Aptos" pitchFamily="34" charset="-120"/>
              </a:rPr>
              <a:t>CI/CD</a:t>
            </a:r>
            <a:endParaRPr lang="en-US" sz="950" dirty="0"/>
          </a:p>
        </p:txBody>
      </p:sp>
      <p:sp>
        <p:nvSpPr>
          <p:cNvPr id="42" name="Text 40"/>
          <p:cNvSpPr/>
          <p:nvPr/>
        </p:nvSpPr>
        <p:spPr>
          <a:xfrm>
            <a:off x="8650224" y="4582668"/>
            <a:ext cx="1536192" cy="402336"/>
          </a:xfrm>
          <a:prstGeom prst="rect">
            <a:avLst/>
          </a:prstGeom>
          <a:noFill/>
          <a:ln/>
        </p:spPr>
        <p:txBody>
          <a:bodyPr wrap="square" lIns="0" tIns="0" rIns="0" bIns="0" rtlCol="0" anchor="ctr">
            <a:normAutofit/>
          </a:bodyPr>
          <a:lstStyle/>
          <a:p>
            <a:pPr marL="0" indent="0">
              <a:buNone/>
            </a:pPr>
            <a:r>
              <a:rPr lang="en-US" sz="1010" dirty="0">
                <a:solidFill>
                  <a:srgbClr val="0F172A"/>
                </a:solidFill>
                <a:latin typeface="Aptos" pitchFamily="34" charset="0"/>
                <a:ea typeface="Aptos" pitchFamily="34" charset="-122"/>
                <a:cs typeface="Aptos" pitchFamily="34" charset="-120"/>
              </a:rPr>
              <a:t>GitHub Actions</a:t>
            </a:r>
            <a:endParaRPr lang="en-US" sz="1010" dirty="0"/>
          </a:p>
        </p:txBody>
      </p:sp>
      <p:sp>
        <p:nvSpPr>
          <p:cNvPr id="44" name="Text 42"/>
          <p:cNvSpPr/>
          <p:nvPr/>
        </p:nvSpPr>
        <p:spPr>
          <a:xfrm>
            <a:off x="5852160" y="5852160"/>
            <a:ext cx="5715000" cy="201168"/>
          </a:xfrm>
          <a:prstGeom prst="rect">
            <a:avLst/>
          </a:prstGeom>
          <a:noFill/>
          <a:ln/>
        </p:spPr>
        <p:txBody>
          <a:bodyPr wrap="square" lIns="0" tIns="0" rIns="0" bIns="0" rtlCol="0" anchor="ctr">
            <a:normAutofit/>
          </a:bodyPr>
          <a:lstStyle/>
          <a:p>
            <a:pPr marL="0" indent="0" algn="r">
              <a:buNone/>
            </a:pPr>
            <a:r>
              <a:rPr lang="en-US" sz="1080" dirty="0">
                <a:solidFill>
                  <a:srgbClr val="64748B"/>
                </a:solidFill>
                <a:latin typeface="Aptos" pitchFamily="34" charset="0"/>
                <a:ea typeface="Aptos" pitchFamily="34" charset="-122"/>
                <a:cs typeface="Aptos" pitchFamily="34" charset="-120"/>
              </a:rPr>
              <a:t>S3-compatible object storage · signed, time-limited photo URLs</a:t>
            </a:r>
            <a:endParaRPr lang="en-US" sz="1080" dirty="0"/>
          </a:p>
        </p:txBody>
      </p:sp>
      <p:sp>
        <p:nvSpPr>
          <p:cNvPr id="45"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09 · MEASUREMENT</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Success is a timestamp, not a feeling.</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Every core claim maps to a database timestamp, threshold, or dashboard metric.</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METRICS</a:t>
            </a:r>
            <a:endParaRPr lang="en-US" sz="950" dirty="0"/>
          </a:p>
        </p:txBody>
      </p:sp>
      <p:sp>
        <p:nvSpPr>
          <p:cNvPr id="7" name="Shape 5"/>
          <p:cNvSpPr/>
          <p:nvPr/>
        </p:nvSpPr>
        <p:spPr>
          <a:xfrm>
            <a:off x="566928" y="1956816"/>
            <a:ext cx="3675888" cy="3639312"/>
          </a:xfrm>
          <a:prstGeom prst="roundRect">
            <a:avLst>
              <a:gd name="adj" fmla="val 3015"/>
            </a:avLst>
          </a:prstGeom>
          <a:solidFill>
            <a:srgbClr val="183B6B"/>
          </a:solidFill>
          <a:ln w="12700">
            <a:solidFill>
              <a:srgbClr val="183B6B"/>
            </a:solidFill>
            <a:prstDash val="solid"/>
          </a:ln>
        </p:spPr>
      </p:sp>
      <p:sp>
        <p:nvSpPr>
          <p:cNvPr id="8" name="Text 6"/>
          <p:cNvSpPr/>
          <p:nvPr/>
        </p:nvSpPr>
        <p:spPr>
          <a:xfrm>
            <a:off x="1192784" y="2737104"/>
            <a:ext cx="1097280" cy="182880"/>
          </a:xfrm>
          <a:prstGeom prst="rect">
            <a:avLst/>
          </a:prstGeom>
          <a:noFill/>
          <a:ln/>
        </p:spPr>
        <p:txBody>
          <a:bodyPr wrap="square" lIns="0" tIns="0" rIns="0" bIns="0" rtlCol="0" anchor="ctr">
            <a:normAutofit/>
          </a:bodyPr>
          <a:lstStyle/>
          <a:p>
            <a:pPr marL="0" indent="0">
              <a:buNone/>
            </a:pPr>
            <a:r>
              <a:rPr lang="en-US" sz="1000" b="1" kern="0" spc="120" dirty="0">
                <a:solidFill>
                  <a:srgbClr val="A9C5E7"/>
                </a:solidFill>
                <a:latin typeface="Aptos" pitchFamily="34" charset="0"/>
                <a:ea typeface="Aptos" pitchFamily="34" charset="-122"/>
                <a:cs typeface="Aptos" pitchFamily="34" charset="-120"/>
              </a:rPr>
              <a:t>PRIMARY KPI</a:t>
            </a:r>
            <a:endParaRPr lang="en-US" sz="1000" dirty="0"/>
          </a:p>
        </p:txBody>
      </p:sp>
      <p:sp>
        <p:nvSpPr>
          <p:cNvPr id="9" name="Text 7"/>
          <p:cNvSpPr/>
          <p:nvPr/>
        </p:nvSpPr>
        <p:spPr>
          <a:xfrm>
            <a:off x="1192784" y="3176016"/>
            <a:ext cx="2423160" cy="585216"/>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&lt; 60 sec</a:t>
            </a:r>
            <a:endParaRPr lang="en-US" sz="3800" dirty="0"/>
          </a:p>
        </p:txBody>
      </p:sp>
      <p:sp>
        <p:nvSpPr>
          <p:cNvPr id="10" name="Text 8"/>
          <p:cNvSpPr/>
          <p:nvPr/>
        </p:nvSpPr>
        <p:spPr>
          <a:xfrm>
            <a:off x="1211072" y="3889248"/>
            <a:ext cx="2331720" cy="694944"/>
          </a:xfrm>
          <a:prstGeom prst="rect">
            <a:avLst/>
          </a:prstGeom>
          <a:noFill/>
          <a:ln/>
        </p:spPr>
        <p:txBody>
          <a:bodyPr wrap="square" lIns="0" tIns="0" rIns="0" bIns="0" rtlCol="0" anchor="ctr">
            <a:normAutofit/>
          </a:bodyPr>
          <a:lstStyle/>
          <a:p>
            <a:pPr marL="0" indent="0">
              <a:buNone/>
            </a:pPr>
            <a:r>
              <a:rPr lang="en-US" sz="1500" b="1" dirty="0">
                <a:solidFill>
                  <a:srgbClr val="EAF2FB"/>
                </a:solidFill>
                <a:latin typeface="Aptos" pitchFamily="34" charset="0"/>
                <a:ea typeface="Aptos" pitchFamily="34" charset="-122"/>
                <a:cs typeface="Aptos" pitchFamily="34" charset="-120"/>
              </a:rPr>
              <a:t>capture → complaint ID</a:t>
            </a:r>
            <a:endParaRPr lang="en-US" sz="1500" dirty="0"/>
          </a:p>
          <a:p>
            <a:pPr marL="0" indent="0">
              <a:buNone/>
            </a:pPr>
            <a:r>
              <a:rPr lang="en-US" sz="1500" b="1" dirty="0">
                <a:solidFill>
                  <a:srgbClr val="EAF2FB"/>
                </a:solidFill>
                <a:latin typeface="Aptos" pitchFamily="34" charset="0"/>
                <a:ea typeface="Aptos" pitchFamily="34" charset="-122"/>
                <a:cs typeface="Aptos" pitchFamily="34" charset="-120"/>
              </a:rPr>
              <a:t>+ SLA deadline</a:t>
            </a:r>
            <a:endParaRPr lang="en-US" sz="1500" dirty="0"/>
          </a:p>
        </p:txBody>
      </p:sp>
      <p:sp>
        <p:nvSpPr>
          <p:cNvPr id="12" name="Shape 10"/>
          <p:cNvSpPr/>
          <p:nvPr/>
        </p:nvSpPr>
        <p:spPr>
          <a:xfrm>
            <a:off x="4553712" y="1956816"/>
            <a:ext cx="3246120" cy="969264"/>
          </a:xfrm>
          <a:prstGeom prst="roundRect">
            <a:avLst>
              <a:gd name="adj" fmla="val 11321"/>
            </a:avLst>
          </a:prstGeom>
          <a:solidFill>
            <a:srgbClr val="FFFFFF"/>
          </a:solidFill>
          <a:ln w="12700">
            <a:solidFill>
              <a:srgbClr val="D6DEE9"/>
            </a:solidFill>
            <a:prstDash val="solid"/>
          </a:ln>
        </p:spPr>
      </p:sp>
      <p:sp>
        <p:nvSpPr>
          <p:cNvPr id="13" name="Text 11"/>
          <p:cNvSpPr/>
          <p:nvPr/>
        </p:nvSpPr>
        <p:spPr>
          <a:xfrm>
            <a:off x="4736592" y="2157984"/>
            <a:ext cx="2880360" cy="219456"/>
          </a:xfrm>
          <a:prstGeom prst="rect">
            <a:avLst/>
          </a:prstGeom>
          <a:noFill/>
          <a:ln/>
        </p:spPr>
        <p:txBody>
          <a:bodyPr wrap="square" lIns="0" tIns="0" rIns="0" bIns="0" rtlCol="0" anchor="ctr">
            <a:normAutofit/>
          </a:bodyPr>
          <a:lstStyle/>
          <a:p>
            <a:pPr marL="0" indent="0">
              <a:buNone/>
            </a:pPr>
            <a:r>
              <a:rPr lang="en-US" sz="1200" b="1" dirty="0">
                <a:solidFill>
                  <a:srgbClr val="0F172A"/>
                </a:solidFill>
                <a:latin typeface="Aptos" pitchFamily="34" charset="0"/>
                <a:ea typeface="Aptos" pitchFamily="34" charset="-122"/>
                <a:cs typeface="Aptos" pitchFamily="34" charset="-120"/>
              </a:rPr>
              <a:t>SLA compliance</a:t>
            </a:r>
            <a:endParaRPr lang="en-US" sz="1200" dirty="0"/>
          </a:p>
        </p:txBody>
      </p:sp>
      <p:sp>
        <p:nvSpPr>
          <p:cNvPr id="14" name="Text 12"/>
          <p:cNvSpPr/>
          <p:nvPr/>
        </p:nvSpPr>
        <p:spPr>
          <a:xfrm>
            <a:off x="4736592" y="2487168"/>
            <a:ext cx="2880360" cy="182880"/>
          </a:xfrm>
          <a:prstGeom prst="rect">
            <a:avLst/>
          </a:prstGeom>
          <a:noFill/>
          <a:ln/>
        </p:spPr>
        <p:txBody>
          <a:bodyPr wrap="square" lIns="0" tIns="0" rIns="0" bIns="0" rtlCol="0" anchor="ctr">
            <a:normAutofit/>
          </a:bodyPr>
          <a:lstStyle/>
          <a:p>
            <a:pPr marL="0" indent="0">
              <a:buNone/>
            </a:pPr>
            <a:r>
              <a:rPr lang="en-US" sz="980" dirty="0">
                <a:solidFill>
                  <a:srgbClr val="64748B"/>
                </a:solidFill>
                <a:latin typeface="Aptos" pitchFamily="34" charset="0"/>
                <a:ea typeface="Aptos" pitchFamily="34" charset="-122"/>
                <a:cs typeface="Aptos" pitchFamily="34" charset="-120"/>
              </a:rPr>
              <a:t>deadline met</a:t>
            </a:r>
            <a:endParaRPr lang="en-US" sz="980" dirty="0"/>
          </a:p>
        </p:txBody>
      </p:sp>
      <p:sp>
        <p:nvSpPr>
          <p:cNvPr id="15" name="Shape 13"/>
          <p:cNvSpPr/>
          <p:nvPr/>
        </p:nvSpPr>
        <p:spPr>
          <a:xfrm>
            <a:off x="8074152" y="1956816"/>
            <a:ext cx="3246120" cy="969264"/>
          </a:xfrm>
          <a:prstGeom prst="roundRect">
            <a:avLst>
              <a:gd name="adj" fmla="val 11321"/>
            </a:avLst>
          </a:prstGeom>
          <a:solidFill>
            <a:srgbClr val="FFFFFF"/>
          </a:solidFill>
          <a:ln w="12700">
            <a:solidFill>
              <a:srgbClr val="D6DEE9"/>
            </a:solidFill>
            <a:prstDash val="solid"/>
          </a:ln>
        </p:spPr>
      </p:sp>
      <p:sp>
        <p:nvSpPr>
          <p:cNvPr id="16" name="Text 14"/>
          <p:cNvSpPr/>
          <p:nvPr/>
        </p:nvSpPr>
        <p:spPr>
          <a:xfrm>
            <a:off x="8257032" y="2157984"/>
            <a:ext cx="2880360" cy="219456"/>
          </a:xfrm>
          <a:prstGeom prst="rect">
            <a:avLst/>
          </a:prstGeom>
          <a:noFill/>
          <a:ln/>
        </p:spPr>
        <p:txBody>
          <a:bodyPr wrap="square" lIns="0" tIns="0" rIns="0" bIns="0" rtlCol="0" anchor="ctr">
            <a:normAutofit/>
          </a:bodyPr>
          <a:lstStyle/>
          <a:p>
            <a:pPr marL="0" indent="0">
              <a:buNone/>
            </a:pPr>
            <a:r>
              <a:rPr lang="en-US" sz="1200" b="1" dirty="0">
                <a:solidFill>
                  <a:srgbClr val="0F172A"/>
                </a:solidFill>
                <a:latin typeface="Aptos" pitchFamily="34" charset="0"/>
                <a:ea typeface="Aptos" pitchFamily="34" charset="-122"/>
                <a:cs typeface="Aptos" pitchFamily="34" charset="-120"/>
              </a:rPr>
              <a:t>Low-confidence review</a:t>
            </a:r>
            <a:endParaRPr lang="en-US" sz="1200" dirty="0"/>
          </a:p>
        </p:txBody>
      </p:sp>
      <p:sp>
        <p:nvSpPr>
          <p:cNvPr id="17" name="Text 15"/>
          <p:cNvSpPr/>
          <p:nvPr/>
        </p:nvSpPr>
        <p:spPr>
          <a:xfrm>
            <a:off x="8257032" y="2487168"/>
            <a:ext cx="2880360" cy="182880"/>
          </a:xfrm>
          <a:prstGeom prst="rect">
            <a:avLst/>
          </a:prstGeom>
          <a:noFill/>
          <a:ln/>
        </p:spPr>
        <p:txBody>
          <a:bodyPr wrap="square" lIns="0" tIns="0" rIns="0" bIns="0" rtlCol="0" anchor="ctr">
            <a:normAutofit/>
          </a:bodyPr>
          <a:lstStyle/>
          <a:p>
            <a:pPr marL="0" indent="0">
              <a:buNone/>
            </a:pPr>
            <a:r>
              <a:rPr lang="en-US" sz="980" dirty="0">
                <a:solidFill>
                  <a:srgbClr val="64748B"/>
                </a:solidFill>
                <a:latin typeface="Aptos" pitchFamily="34" charset="0"/>
                <a:ea typeface="Aptos" pitchFamily="34" charset="-122"/>
                <a:cs typeface="Aptos" pitchFamily="34" charset="-120"/>
              </a:rPr>
              <a:t>classifier reliability</a:t>
            </a:r>
            <a:endParaRPr lang="en-US" sz="980" dirty="0"/>
          </a:p>
        </p:txBody>
      </p:sp>
      <p:sp>
        <p:nvSpPr>
          <p:cNvPr id="18" name="Shape 16"/>
          <p:cNvSpPr/>
          <p:nvPr/>
        </p:nvSpPr>
        <p:spPr>
          <a:xfrm>
            <a:off x="4553712" y="3163824"/>
            <a:ext cx="3246120" cy="969264"/>
          </a:xfrm>
          <a:prstGeom prst="roundRect">
            <a:avLst>
              <a:gd name="adj" fmla="val 11321"/>
            </a:avLst>
          </a:prstGeom>
          <a:solidFill>
            <a:srgbClr val="FFFFFF"/>
          </a:solidFill>
          <a:ln w="12700">
            <a:solidFill>
              <a:srgbClr val="D6DEE9"/>
            </a:solidFill>
            <a:prstDash val="solid"/>
          </a:ln>
        </p:spPr>
      </p:sp>
      <p:sp>
        <p:nvSpPr>
          <p:cNvPr id="19" name="Text 17"/>
          <p:cNvSpPr/>
          <p:nvPr/>
        </p:nvSpPr>
        <p:spPr>
          <a:xfrm>
            <a:off x="4736592" y="3364992"/>
            <a:ext cx="2880360" cy="219456"/>
          </a:xfrm>
          <a:prstGeom prst="rect">
            <a:avLst/>
          </a:prstGeom>
          <a:noFill/>
          <a:ln/>
        </p:spPr>
        <p:txBody>
          <a:bodyPr wrap="square" lIns="0" tIns="0" rIns="0" bIns="0" rtlCol="0" anchor="ctr">
            <a:normAutofit/>
          </a:bodyPr>
          <a:lstStyle/>
          <a:p>
            <a:pPr marL="0" indent="0">
              <a:buNone/>
            </a:pPr>
            <a:r>
              <a:rPr lang="en-US" sz="1200" b="1" dirty="0">
                <a:solidFill>
                  <a:srgbClr val="0F172A"/>
                </a:solidFill>
                <a:latin typeface="Aptos" pitchFamily="34" charset="0"/>
                <a:ea typeface="Aptos" pitchFamily="34" charset="-122"/>
                <a:cs typeface="Aptos" pitchFamily="34" charset="-120"/>
              </a:rPr>
              <a:t>Duplicate-merge accuracy</a:t>
            </a:r>
            <a:endParaRPr lang="en-US" sz="1200" dirty="0"/>
          </a:p>
        </p:txBody>
      </p:sp>
      <p:sp>
        <p:nvSpPr>
          <p:cNvPr id="20" name="Text 18"/>
          <p:cNvSpPr/>
          <p:nvPr/>
        </p:nvSpPr>
        <p:spPr>
          <a:xfrm>
            <a:off x="4736592" y="3694176"/>
            <a:ext cx="2880360" cy="182880"/>
          </a:xfrm>
          <a:prstGeom prst="rect">
            <a:avLst/>
          </a:prstGeom>
          <a:noFill/>
          <a:ln/>
        </p:spPr>
        <p:txBody>
          <a:bodyPr wrap="square" lIns="0" tIns="0" rIns="0" bIns="0" rtlCol="0" anchor="ctr">
            <a:normAutofit/>
          </a:bodyPr>
          <a:lstStyle/>
          <a:p>
            <a:pPr marL="0" indent="0">
              <a:buNone/>
            </a:pPr>
            <a:r>
              <a:rPr lang="en-US" sz="980" dirty="0">
                <a:solidFill>
                  <a:srgbClr val="64748B"/>
                </a:solidFill>
                <a:latin typeface="Aptos" pitchFamily="34" charset="0"/>
                <a:ea typeface="Aptos" pitchFamily="34" charset="-122"/>
                <a:cs typeface="Aptos" pitchFamily="34" charset="-120"/>
              </a:rPr>
              <a:t>de-duplication</a:t>
            </a:r>
            <a:endParaRPr lang="en-US" sz="980" dirty="0"/>
          </a:p>
        </p:txBody>
      </p:sp>
      <p:sp>
        <p:nvSpPr>
          <p:cNvPr id="21" name="Shape 19"/>
          <p:cNvSpPr/>
          <p:nvPr/>
        </p:nvSpPr>
        <p:spPr>
          <a:xfrm>
            <a:off x="8074152" y="3163824"/>
            <a:ext cx="3246120" cy="969264"/>
          </a:xfrm>
          <a:prstGeom prst="roundRect">
            <a:avLst>
              <a:gd name="adj" fmla="val 11321"/>
            </a:avLst>
          </a:prstGeom>
          <a:solidFill>
            <a:srgbClr val="FFFFFF"/>
          </a:solidFill>
          <a:ln w="12700">
            <a:solidFill>
              <a:srgbClr val="D6DEE9"/>
            </a:solidFill>
            <a:prstDash val="solid"/>
          </a:ln>
        </p:spPr>
      </p:sp>
      <p:sp>
        <p:nvSpPr>
          <p:cNvPr id="22" name="Text 20"/>
          <p:cNvSpPr/>
          <p:nvPr/>
        </p:nvSpPr>
        <p:spPr>
          <a:xfrm>
            <a:off x="8257032" y="3364992"/>
            <a:ext cx="2880360" cy="219456"/>
          </a:xfrm>
          <a:prstGeom prst="rect">
            <a:avLst/>
          </a:prstGeom>
          <a:noFill/>
          <a:ln/>
        </p:spPr>
        <p:txBody>
          <a:bodyPr wrap="square" lIns="0" tIns="0" rIns="0" bIns="0" rtlCol="0" anchor="ctr">
            <a:normAutofit/>
          </a:bodyPr>
          <a:lstStyle/>
          <a:p>
            <a:pPr marL="0" indent="0">
              <a:buNone/>
            </a:pPr>
            <a:r>
              <a:rPr lang="en-US" sz="1200" b="1" dirty="0">
                <a:solidFill>
                  <a:srgbClr val="0F172A"/>
                </a:solidFill>
                <a:latin typeface="Aptos" pitchFamily="34" charset="0"/>
                <a:ea typeface="Aptos" pitchFamily="34" charset="-122"/>
                <a:cs typeface="Aptos" pitchFamily="34" charset="-120"/>
              </a:rPr>
              <a:t>Abuse-cluster precision</a:t>
            </a:r>
            <a:endParaRPr lang="en-US" sz="1200" dirty="0"/>
          </a:p>
        </p:txBody>
      </p:sp>
      <p:sp>
        <p:nvSpPr>
          <p:cNvPr id="23" name="Text 21"/>
          <p:cNvSpPr/>
          <p:nvPr/>
        </p:nvSpPr>
        <p:spPr>
          <a:xfrm>
            <a:off x="8257032" y="3694176"/>
            <a:ext cx="2880360" cy="182880"/>
          </a:xfrm>
          <a:prstGeom prst="rect">
            <a:avLst/>
          </a:prstGeom>
          <a:noFill/>
          <a:ln/>
        </p:spPr>
        <p:txBody>
          <a:bodyPr wrap="square" lIns="0" tIns="0" rIns="0" bIns="0" rtlCol="0" anchor="ctr">
            <a:normAutofit/>
          </a:bodyPr>
          <a:lstStyle/>
          <a:p>
            <a:pPr marL="0" indent="0">
              <a:buNone/>
            </a:pPr>
            <a:r>
              <a:rPr lang="en-US" sz="980" dirty="0">
                <a:solidFill>
                  <a:srgbClr val="64748B"/>
                </a:solidFill>
                <a:latin typeface="Aptos" pitchFamily="34" charset="0"/>
                <a:ea typeface="Aptos" pitchFamily="34" charset="-122"/>
                <a:cs typeface="Aptos" pitchFamily="34" charset="-120"/>
              </a:rPr>
              <a:t>trust controls</a:t>
            </a:r>
            <a:endParaRPr lang="en-US" sz="980" dirty="0"/>
          </a:p>
        </p:txBody>
      </p:sp>
      <p:sp>
        <p:nvSpPr>
          <p:cNvPr id="24" name="Shape 22"/>
          <p:cNvSpPr/>
          <p:nvPr/>
        </p:nvSpPr>
        <p:spPr>
          <a:xfrm>
            <a:off x="4553712" y="4370832"/>
            <a:ext cx="3246120" cy="969264"/>
          </a:xfrm>
          <a:prstGeom prst="roundRect">
            <a:avLst>
              <a:gd name="adj" fmla="val 11321"/>
            </a:avLst>
          </a:prstGeom>
          <a:solidFill>
            <a:srgbClr val="FFFFFF"/>
          </a:solidFill>
          <a:ln w="12700">
            <a:solidFill>
              <a:srgbClr val="D6DEE9"/>
            </a:solidFill>
            <a:prstDash val="solid"/>
          </a:ln>
        </p:spPr>
      </p:sp>
      <p:sp>
        <p:nvSpPr>
          <p:cNvPr id="25" name="Text 23"/>
          <p:cNvSpPr/>
          <p:nvPr/>
        </p:nvSpPr>
        <p:spPr>
          <a:xfrm>
            <a:off x="4736592" y="4572000"/>
            <a:ext cx="2880360" cy="219456"/>
          </a:xfrm>
          <a:prstGeom prst="rect">
            <a:avLst/>
          </a:prstGeom>
          <a:noFill/>
          <a:ln/>
        </p:spPr>
        <p:txBody>
          <a:bodyPr wrap="square" lIns="0" tIns="0" rIns="0" bIns="0" rtlCol="0" anchor="ctr">
            <a:normAutofit/>
          </a:bodyPr>
          <a:lstStyle/>
          <a:p>
            <a:pPr marL="0" indent="0">
              <a:buNone/>
            </a:pPr>
            <a:r>
              <a:rPr lang="en-US" sz="1200" b="1" dirty="0">
                <a:solidFill>
                  <a:srgbClr val="0F172A"/>
                </a:solidFill>
                <a:latin typeface="Aptos" pitchFamily="34" charset="0"/>
                <a:ea typeface="Aptos" pitchFamily="34" charset="-122"/>
                <a:cs typeface="Aptos" pitchFamily="34" charset="-120"/>
              </a:rPr>
              <a:t>Escalation rate</a:t>
            </a:r>
            <a:endParaRPr lang="en-US" sz="1200" dirty="0"/>
          </a:p>
        </p:txBody>
      </p:sp>
      <p:sp>
        <p:nvSpPr>
          <p:cNvPr id="26" name="Text 24"/>
          <p:cNvSpPr/>
          <p:nvPr/>
        </p:nvSpPr>
        <p:spPr>
          <a:xfrm>
            <a:off x="4736592" y="4901184"/>
            <a:ext cx="2880360" cy="182880"/>
          </a:xfrm>
          <a:prstGeom prst="rect">
            <a:avLst/>
          </a:prstGeom>
          <a:noFill/>
          <a:ln/>
        </p:spPr>
        <p:txBody>
          <a:bodyPr wrap="square" lIns="0" tIns="0" rIns="0" bIns="0" rtlCol="0" anchor="ctr">
            <a:normAutofit/>
          </a:bodyPr>
          <a:lstStyle/>
          <a:p>
            <a:pPr marL="0" indent="0">
              <a:buNone/>
            </a:pPr>
            <a:r>
              <a:rPr lang="en-US" sz="980" dirty="0">
                <a:solidFill>
                  <a:srgbClr val="64748B"/>
                </a:solidFill>
                <a:latin typeface="Aptos" pitchFamily="34" charset="0"/>
                <a:ea typeface="Aptos" pitchFamily="34" charset="-122"/>
                <a:cs typeface="Aptos" pitchFamily="34" charset="-120"/>
              </a:rPr>
              <a:t>department trend</a:t>
            </a:r>
            <a:endParaRPr lang="en-US" sz="980" dirty="0"/>
          </a:p>
        </p:txBody>
      </p:sp>
      <p:sp>
        <p:nvSpPr>
          <p:cNvPr id="27" name="Shape 25"/>
          <p:cNvSpPr/>
          <p:nvPr/>
        </p:nvSpPr>
        <p:spPr>
          <a:xfrm>
            <a:off x="8074152" y="4370832"/>
            <a:ext cx="3246120" cy="969264"/>
          </a:xfrm>
          <a:prstGeom prst="roundRect">
            <a:avLst>
              <a:gd name="adj" fmla="val 11321"/>
            </a:avLst>
          </a:prstGeom>
          <a:solidFill>
            <a:srgbClr val="FFFFFF"/>
          </a:solidFill>
          <a:ln w="12700">
            <a:solidFill>
              <a:srgbClr val="D6DEE9"/>
            </a:solidFill>
            <a:prstDash val="solid"/>
          </a:ln>
        </p:spPr>
      </p:sp>
      <p:sp>
        <p:nvSpPr>
          <p:cNvPr id="28" name="Text 26"/>
          <p:cNvSpPr/>
          <p:nvPr/>
        </p:nvSpPr>
        <p:spPr>
          <a:xfrm>
            <a:off x="8257032" y="4572000"/>
            <a:ext cx="2880360" cy="219456"/>
          </a:xfrm>
          <a:prstGeom prst="rect">
            <a:avLst/>
          </a:prstGeom>
          <a:noFill/>
          <a:ln/>
        </p:spPr>
        <p:txBody>
          <a:bodyPr wrap="square" lIns="0" tIns="0" rIns="0" bIns="0" rtlCol="0" anchor="ctr">
            <a:normAutofit/>
          </a:bodyPr>
          <a:lstStyle/>
          <a:p>
            <a:pPr marL="0" indent="0">
              <a:buNone/>
            </a:pPr>
            <a:r>
              <a:rPr lang="en-US" sz="1200" b="1" dirty="0">
                <a:solidFill>
                  <a:srgbClr val="0F172A"/>
                </a:solidFill>
                <a:latin typeface="Aptos" pitchFamily="34" charset="0"/>
                <a:ea typeface="Aptos" pitchFamily="34" charset="-122"/>
                <a:cs typeface="Aptos" pitchFamily="34" charset="-120"/>
              </a:rPr>
              <a:t>Report → verified</a:t>
            </a:r>
            <a:endParaRPr lang="en-US" sz="1200" dirty="0"/>
          </a:p>
        </p:txBody>
      </p:sp>
      <p:sp>
        <p:nvSpPr>
          <p:cNvPr id="29" name="Text 27"/>
          <p:cNvSpPr/>
          <p:nvPr/>
        </p:nvSpPr>
        <p:spPr>
          <a:xfrm>
            <a:off x="8257032" y="4901184"/>
            <a:ext cx="2880360" cy="182880"/>
          </a:xfrm>
          <a:prstGeom prst="rect">
            <a:avLst/>
          </a:prstGeom>
          <a:noFill/>
          <a:ln/>
        </p:spPr>
        <p:txBody>
          <a:bodyPr wrap="square" lIns="0" tIns="0" rIns="0" bIns="0" rtlCol="0" anchor="ctr">
            <a:normAutofit/>
          </a:bodyPr>
          <a:lstStyle/>
          <a:p>
            <a:pPr marL="0" indent="0">
              <a:buNone/>
            </a:pPr>
            <a:r>
              <a:rPr lang="en-US" sz="980" dirty="0">
                <a:solidFill>
                  <a:srgbClr val="64748B"/>
                </a:solidFill>
                <a:latin typeface="Aptos" pitchFamily="34" charset="0"/>
                <a:ea typeface="Aptos" pitchFamily="34" charset="-122"/>
                <a:cs typeface="Aptos" pitchFamily="34" charset="-120"/>
              </a:rPr>
              <a:t>submission quality</a:t>
            </a:r>
            <a:endParaRPr lang="en-US" sz="980" dirty="0"/>
          </a:p>
        </p:txBody>
      </p:sp>
      <p:sp>
        <p:nvSpPr>
          <p:cNvPr id="30" name="Shape 28"/>
          <p:cNvSpPr/>
          <p:nvPr/>
        </p:nvSpPr>
        <p:spPr>
          <a:xfrm>
            <a:off x="4553712" y="5559552"/>
            <a:ext cx="6766560" cy="512064"/>
          </a:xfrm>
          <a:prstGeom prst="roundRect">
            <a:avLst>
              <a:gd name="adj" fmla="val 21429"/>
            </a:avLst>
          </a:prstGeom>
          <a:solidFill>
            <a:srgbClr val="E9F6EF"/>
          </a:solidFill>
          <a:ln w="12700">
            <a:solidFill>
              <a:srgbClr val="2F7D59"/>
            </a:solidFill>
            <a:prstDash val="solid"/>
          </a:ln>
        </p:spPr>
      </p:sp>
      <p:sp>
        <p:nvSpPr>
          <p:cNvPr id="31" name="Text 29"/>
          <p:cNvSpPr/>
          <p:nvPr/>
        </p:nvSpPr>
        <p:spPr>
          <a:xfrm>
            <a:off x="4736592" y="5715000"/>
            <a:ext cx="6419088" cy="182880"/>
          </a:xfrm>
          <a:prstGeom prst="rect">
            <a:avLst/>
          </a:prstGeom>
          <a:noFill/>
          <a:ln/>
        </p:spPr>
        <p:txBody>
          <a:bodyPr wrap="square" lIns="0" tIns="0" rIns="0" bIns="0" rtlCol="0" anchor="ctr">
            <a:normAutofit/>
          </a:bodyPr>
          <a:lstStyle/>
          <a:p>
            <a:pPr marL="0" indent="0" algn="ctr">
              <a:buNone/>
            </a:pPr>
            <a:r>
              <a:rPr lang="en-US" sz="1060" b="1" dirty="0">
                <a:solidFill>
                  <a:srgbClr val="2F7D59"/>
                </a:solidFill>
                <a:latin typeface="Aptos" pitchFamily="34" charset="0"/>
                <a:ea typeface="Aptos" pitchFamily="34" charset="-122"/>
                <a:cs typeface="Aptos" pitchFamily="34" charset="-120"/>
              </a:rPr>
              <a:t>Attributable to audit log + configured thresholds + admin dashboard.</a:t>
            </a:r>
            <a:endParaRPr lang="en-US" sz="1060" dirty="0"/>
          </a:p>
        </p:txBody>
      </p:sp>
      <p:sp>
        <p:nvSpPr>
          <p:cNvPr id="32"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3108960" cy="201168"/>
          </a:xfrm>
          <a:prstGeom prst="rect">
            <a:avLst/>
          </a:prstGeom>
          <a:noFill/>
          <a:ln/>
        </p:spPr>
        <p:txBody>
          <a:bodyPr wrap="square" lIns="0" tIns="0" rIns="0" bIns="0" rtlCol="0" anchor="ctr">
            <a:normAutofit/>
          </a:bodyPr>
          <a:lstStyle/>
          <a:p>
            <a:pPr marL="0" indent="0">
              <a:buNone/>
            </a:pPr>
            <a:r>
              <a:rPr lang="en-US" sz="1000" b="1" kern="0" spc="160" dirty="0">
                <a:solidFill>
                  <a:srgbClr val="2F5D9B"/>
                </a:solidFill>
                <a:latin typeface="Aptos" pitchFamily="34" charset="0"/>
                <a:ea typeface="Aptos" pitchFamily="34" charset="-122"/>
                <a:cs typeface="Aptos" pitchFamily="34" charset="-120"/>
              </a:rPr>
              <a:t>10 · DELIVERY</a:t>
            </a:r>
            <a:endParaRPr lang="en-US" sz="1000" dirty="0"/>
          </a:p>
        </p:txBody>
      </p:sp>
      <p:sp>
        <p:nvSpPr>
          <p:cNvPr id="3" name="Text 1"/>
          <p:cNvSpPr/>
          <p:nvPr/>
        </p:nvSpPr>
        <p:spPr>
          <a:xfrm>
            <a:off x="566928" y="640080"/>
            <a:ext cx="10789920" cy="566928"/>
          </a:xfrm>
          <a:prstGeom prst="rect">
            <a:avLst/>
          </a:prstGeom>
          <a:noFill/>
          <a:ln/>
        </p:spPr>
        <p:txBody>
          <a:bodyPr wrap="square" lIns="0" tIns="0" rIns="0" bIns="0" rtlCol="0" anchor="ctr">
            <a:normAutofit/>
          </a:bodyPr>
          <a:lstStyle/>
          <a:p>
            <a:pPr marL="0" indent="0">
              <a:buNone/>
            </a:pPr>
            <a:r>
              <a:rPr lang="en-US" sz="2700" b="1" dirty="0">
                <a:solidFill>
                  <a:srgbClr val="0F172A"/>
                </a:solidFill>
                <a:latin typeface="Aptos Display" pitchFamily="34" charset="0"/>
                <a:ea typeface="Aptos Display" pitchFamily="34" charset="-122"/>
                <a:cs typeface="Aptos Display" pitchFamily="34" charset="-120"/>
              </a:rPr>
              <a:t>Tight scope. Clear ownership. Explicit trade-offs.</a:t>
            </a:r>
            <a:endParaRPr lang="en-US" sz="2700" dirty="0"/>
          </a:p>
        </p:txBody>
      </p:sp>
      <p:sp>
        <p:nvSpPr>
          <p:cNvPr id="4" name="Text 2"/>
          <p:cNvSpPr/>
          <p:nvPr/>
        </p:nvSpPr>
        <p:spPr>
          <a:xfrm>
            <a:off x="566928" y="1243584"/>
            <a:ext cx="10698480" cy="384048"/>
          </a:xfrm>
          <a:prstGeom prst="rect">
            <a:avLst/>
          </a:prstGeom>
          <a:noFill/>
          <a:ln/>
        </p:spPr>
        <p:txBody>
          <a:bodyPr wrap="square" lIns="0" tIns="0" rIns="0" bIns="0" rtlCol="0" anchor="ctr">
            <a:normAutofit/>
          </a:bodyPr>
          <a:lstStyle/>
          <a:p>
            <a:pPr marL="0" indent="0">
              <a:buNone/>
            </a:pPr>
            <a:r>
              <a:rPr lang="en-US" sz="1250" dirty="0">
                <a:solidFill>
                  <a:srgbClr val="64748B"/>
                </a:solidFill>
                <a:latin typeface="Aptos" pitchFamily="34" charset="0"/>
                <a:ea typeface="Aptos" pitchFamily="34" charset="-122"/>
                <a:cs typeface="Aptos" pitchFamily="34" charset="-120"/>
              </a:rPr>
              <a:t>A 12–14 week pilot is intentionally constrained to the core accountability loop.</a:t>
            </a:r>
            <a:endParaRPr lang="en-US" sz="1250" dirty="0"/>
          </a:p>
        </p:txBody>
      </p:sp>
      <p:sp>
        <p:nvSpPr>
          <p:cNvPr id="5" name="Shape 3"/>
          <p:cNvSpPr/>
          <p:nvPr/>
        </p:nvSpPr>
        <p:spPr>
          <a:xfrm>
            <a:off x="9464040" y="393192"/>
            <a:ext cx="2084832" cy="292608"/>
          </a:xfrm>
          <a:prstGeom prst="roundRect">
            <a:avLst>
              <a:gd name="adj" fmla="val 46875"/>
            </a:avLst>
          </a:prstGeom>
          <a:solidFill>
            <a:srgbClr val="EEF4FB"/>
          </a:solidFill>
          <a:ln w="12700">
            <a:solidFill>
              <a:srgbClr val="EEF4FB"/>
            </a:solidFill>
            <a:prstDash val="solid"/>
          </a:ln>
        </p:spPr>
      </p:sp>
      <p:sp>
        <p:nvSpPr>
          <p:cNvPr id="6" name="Text 4"/>
          <p:cNvSpPr/>
          <p:nvPr/>
        </p:nvSpPr>
        <p:spPr>
          <a:xfrm>
            <a:off x="9555480" y="438912"/>
            <a:ext cx="190195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DELIVERY</a:t>
            </a:r>
            <a:endParaRPr lang="en-US" sz="950" dirty="0"/>
          </a:p>
        </p:txBody>
      </p:sp>
      <p:sp>
        <p:nvSpPr>
          <p:cNvPr id="8" name="Text 6"/>
          <p:cNvSpPr/>
          <p:nvPr/>
        </p:nvSpPr>
        <p:spPr>
          <a:xfrm>
            <a:off x="841248" y="2399792"/>
            <a:ext cx="914400" cy="182880"/>
          </a:xfrm>
          <a:prstGeom prst="rect">
            <a:avLst/>
          </a:prstGeom>
          <a:noFill/>
          <a:ln/>
        </p:spPr>
        <p:txBody>
          <a:bodyPr wrap="square" lIns="0" tIns="0" rIns="0" bIns="0" rtlCol="0" anchor="ctr">
            <a:normAutofit/>
          </a:bodyPr>
          <a:lstStyle/>
          <a:p>
            <a:pPr marL="0" indent="0">
              <a:buNone/>
            </a:pPr>
            <a:r>
              <a:rPr lang="en-US" sz="1000" b="1" kern="0" spc="110" dirty="0">
                <a:solidFill>
                  <a:srgbClr val="2F5D9B"/>
                </a:solidFill>
                <a:latin typeface="Aptos" pitchFamily="34" charset="0"/>
                <a:ea typeface="Aptos" pitchFamily="34" charset="-122"/>
                <a:cs typeface="Aptos" pitchFamily="34" charset="-120"/>
              </a:rPr>
              <a:t>V1 SCOPE</a:t>
            </a:r>
            <a:endParaRPr lang="en-US" sz="1000" dirty="0"/>
          </a:p>
        </p:txBody>
      </p:sp>
      <p:sp>
        <p:nvSpPr>
          <p:cNvPr id="9" name="Shape 7"/>
          <p:cNvSpPr/>
          <p:nvPr/>
        </p:nvSpPr>
        <p:spPr>
          <a:xfrm>
            <a:off x="841248" y="2893568"/>
            <a:ext cx="1078992" cy="292608"/>
          </a:xfrm>
          <a:prstGeom prst="roundRect">
            <a:avLst>
              <a:gd name="adj" fmla="val 46875"/>
            </a:avLst>
          </a:prstGeom>
          <a:solidFill>
            <a:srgbClr val="EEF4FB"/>
          </a:solidFill>
          <a:ln w="12700">
            <a:solidFill>
              <a:srgbClr val="EEF4FB"/>
            </a:solidFill>
            <a:prstDash val="solid"/>
          </a:ln>
        </p:spPr>
      </p:sp>
      <p:sp>
        <p:nvSpPr>
          <p:cNvPr id="10" name="Text 8"/>
          <p:cNvSpPr/>
          <p:nvPr/>
        </p:nvSpPr>
        <p:spPr>
          <a:xfrm>
            <a:off x="932688" y="2939288"/>
            <a:ext cx="896112" cy="173736"/>
          </a:xfrm>
          <a:prstGeom prst="rect">
            <a:avLst/>
          </a:prstGeom>
          <a:noFill/>
          <a:ln/>
        </p:spPr>
        <p:txBody>
          <a:bodyPr wrap="square" lIns="0" tIns="0" rIns="0" bIns="0" rtlCol="0" anchor="ctr">
            <a:normAutofit/>
          </a:bodyPr>
          <a:lstStyle/>
          <a:p>
            <a:pPr marL="0" indent="0" algn="ctr">
              <a:buNone/>
            </a:pPr>
            <a:r>
              <a:rPr lang="en-US" sz="950" b="1" dirty="0">
                <a:solidFill>
                  <a:srgbClr val="2F5D9B"/>
                </a:solidFill>
                <a:latin typeface="Aptos" pitchFamily="34" charset="0"/>
                <a:ea typeface="Aptos" pitchFamily="34" charset="-122"/>
                <a:cs typeface="Aptos" pitchFamily="34" charset="-120"/>
              </a:rPr>
              <a:t>12–14 WEEKS</a:t>
            </a:r>
            <a:endParaRPr lang="en-US" sz="950" dirty="0"/>
          </a:p>
        </p:txBody>
      </p:sp>
      <p:sp>
        <p:nvSpPr>
          <p:cNvPr id="11" name="Text 9"/>
          <p:cNvSpPr/>
          <p:nvPr/>
        </p:nvSpPr>
        <p:spPr>
          <a:xfrm>
            <a:off x="2084832" y="2884424"/>
            <a:ext cx="1920240" cy="310896"/>
          </a:xfrm>
          <a:prstGeom prst="rect">
            <a:avLst/>
          </a:prstGeom>
          <a:noFill/>
          <a:ln/>
        </p:spPr>
        <p:txBody>
          <a:bodyPr wrap="square" lIns="0" tIns="0" rIns="0" bIns="0" rtlCol="0" anchor="ctr">
            <a:normAutofit/>
          </a:bodyPr>
          <a:lstStyle/>
          <a:p>
            <a:pPr marL="0" indent="0">
              <a:buNone/>
            </a:pPr>
            <a:r>
              <a:rPr lang="en-US" sz="1070" dirty="0">
                <a:solidFill>
                  <a:srgbClr val="0F172A"/>
                </a:solidFill>
                <a:latin typeface="Aptos" pitchFamily="34" charset="0"/>
                <a:ea typeface="Aptos" pitchFamily="34" charset="-122"/>
                <a:cs typeface="Aptos" pitchFamily="34" charset="-120"/>
              </a:rPr>
              <a:t>single pilot city / ward-set</a:t>
            </a:r>
            <a:endParaRPr lang="en-US" sz="1070" dirty="0"/>
          </a:p>
        </p:txBody>
      </p:sp>
      <p:sp>
        <p:nvSpPr>
          <p:cNvPr id="12" name="Shape 10"/>
          <p:cNvSpPr/>
          <p:nvPr/>
        </p:nvSpPr>
        <p:spPr>
          <a:xfrm>
            <a:off x="841248" y="3506216"/>
            <a:ext cx="1078992" cy="292608"/>
          </a:xfrm>
          <a:prstGeom prst="roundRect">
            <a:avLst>
              <a:gd name="adj" fmla="val 46875"/>
            </a:avLst>
          </a:prstGeom>
          <a:solidFill>
            <a:srgbClr val="EEF4FB"/>
          </a:solidFill>
          <a:ln w="12700">
            <a:solidFill>
              <a:srgbClr val="EEF4FB"/>
            </a:solidFill>
            <a:prstDash val="solid"/>
          </a:ln>
        </p:spPr>
      </p:sp>
      <p:sp>
        <p:nvSpPr>
          <p:cNvPr id="13" name="Text 11"/>
          <p:cNvSpPr/>
          <p:nvPr/>
        </p:nvSpPr>
        <p:spPr>
          <a:xfrm>
            <a:off x="932688" y="3551936"/>
            <a:ext cx="896112" cy="173736"/>
          </a:xfrm>
          <a:prstGeom prst="rect">
            <a:avLst/>
          </a:prstGeom>
          <a:noFill/>
          <a:ln/>
        </p:spPr>
        <p:txBody>
          <a:bodyPr wrap="square" lIns="0" tIns="0" rIns="0" bIns="0" rtlCol="0" anchor="ctr">
            <a:normAutofit/>
          </a:bodyPr>
          <a:lstStyle/>
          <a:p>
            <a:pPr marL="0" indent="0" algn="ctr">
              <a:buNone/>
            </a:pPr>
            <a:r>
              <a:rPr lang="en-US" sz="1050" b="1" dirty="0">
                <a:solidFill>
                  <a:schemeClr val="accent1">
                    <a:lumMod val="75000"/>
                  </a:schemeClr>
                </a:solidFill>
              </a:rPr>
              <a:t>APP</a:t>
            </a:r>
            <a:endParaRPr lang="en-US" sz="950" b="1" dirty="0">
              <a:solidFill>
                <a:schemeClr val="accent1">
                  <a:lumMod val="75000"/>
                </a:schemeClr>
              </a:solidFill>
            </a:endParaRPr>
          </a:p>
        </p:txBody>
      </p:sp>
      <p:sp>
        <p:nvSpPr>
          <p:cNvPr id="14" name="Text 12"/>
          <p:cNvSpPr/>
          <p:nvPr/>
        </p:nvSpPr>
        <p:spPr>
          <a:xfrm>
            <a:off x="2084832" y="3497072"/>
            <a:ext cx="1920240" cy="310896"/>
          </a:xfrm>
          <a:prstGeom prst="rect">
            <a:avLst/>
          </a:prstGeom>
          <a:noFill/>
          <a:ln/>
        </p:spPr>
        <p:txBody>
          <a:bodyPr wrap="square" lIns="0" tIns="0" rIns="0" bIns="0" rtlCol="0" anchor="ctr">
            <a:normAutofit/>
          </a:bodyPr>
          <a:lstStyle/>
          <a:p>
            <a:pPr marL="0" indent="0">
              <a:buNone/>
            </a:pPr>
            <a:r>
              <a:rPr lang="en-US" sz="1070" dirty="0">
                <a:solidFill>
                  <a:srgbClr val="0F172A"/>
                </a:solidFill>
                <a:latin typeface="Aptos" pitchFamily="34" charset="0"/>
                <a:ea typeface="Aptos" pitchFamily="34" charset="-122"/>
                <a:cs typeface="Aptos" pitchFamily="34" charset="-120"/>
              </a:rPr>
              <a:t>react native app in v1</a:t>
            </a:r>
            <a:endParaRPr lang="en-US" sz="1070" dirty="0"/>
          </a:p>
        </p:txBody>
      </p:sp>
      <p:sp>
        <p:nvSpPr>
          <p:cNvPr id="15" name="Shape 13"/>
          <p:cNvSpPr/>
          <p:nvPr/>
        </p:nvSpPr>
        <p:spPr>
          <a:xfrm>
            <a:off x="841248" y="4118864"/>
            <a:ext cx="1078992" cy="292608"/>
          </a:xfrm>
          <a:prstGeom prst="roundRect">
            <a:avLst>
              <a:gd name="adj" fmla="val 46875"/>
            </a:avLst>
          </a:prstGeom>
          <a:solidFill>
            <a:srgbClr val="EEF4FB"/>
          </a:solidFill>
          <a:ln w="12700">
            <a:solidFill>
              <a:srgbClr val="EEF4FB"/>
            </a:solidFill>
            <a:prstDash val="solid"/>
          </a:ln>
        </p:spPr>
      </p:sp>
      <p:sp>
        <p:nvSpPr>
          <p:cNvPr id="16" name="Text 14"/>
          <p:cNvSpPr/>
          <p:nvPr/>
        </p:nvSpPr>
        <p:spPr>
          <a:xfrm>
            <a:off x="932688" y="4164584"/>
            <a:ext cx="896112" cy="173736"/>
          </a:xfrm>
          <a:prstGeom prst="rect">
            <a:avLst/>
          </a:prstGeom>
          <a:noFill/>
          <a:ln/>
        </p:spPr>
        <p:txBody>
          <a:bodyPr wrap="square" lIns="0" tIns="0" rIns="0" bIns="0" rtlCol="0" anchor="ctr">
            <a:normAutofit fontScale="77500" lnSpcReduction="20000"/>
          </a:bodyPr>
          <a:lstStyle/>
          <a:p>
            <a:pPr marL="0" indent="0" algn="ctr">
              <a:buNone/>
            </a:pPr>
            <a:r>
              <a:rPr lang="en-US" sz="950" b="1" dirty="0">
                <a:solidFill>
                  <a:srgbClr val="2F5D9B"/>
                </a:solidFill>
                <a:latin typeface="Aptos" pitchFamily="34" charset="0"/>
                <a:ea typeface="Aptos" pitchFamily="34" charset="-122"/>
                <a:cs typeface="Aptos" pitchFamily="34" charset="-120"/>
              </a:rPr>
              <a:t>MANUAL DISPATCH</a:t>
            </a:r>
            <a:endParaRPr lang="en-US" sz="950" dirty="0"/>
          </a:p>
        </p:txBody>
      </p:sp>
      <p:sp>
        <p:nvSpPr>
          <p:cNvPr id="17" name="Text 15"/>
          <p:cNvSpPr/>
          <p:nvPr/>
        </p:nvSpPr>
        <p:spPr>
          <a:xfrm>
            <a:off x="2084832" y="4109720"/>
            <a:ext cx="1920240" cy="310896"/>
          </a:xfrm>
          <a:prstGeom prst="rect">
            <a:avLst/>
          </a:prstGeom>
          <a:noFill/>
          <a:ln/>
        </p:spPr>
        <p:txBody>
          <a:bodyPr wrap="square" lIns="0" tIns="0" rIns="0" bIns="0" rtlCol="0" anchor="ctr">
            <a:normAutofit/>
          </a:bodyPr>
          <a:lstStyle/>
          <a:p>
            <a:pPr marL="0" indent="0">
              <a:buNone/>
            </a:pPr>
            <a:r>
              <a:rPr lang="en-US" sz="1070" dirty="0">
                <a:solidFill>
                  <a:srgbClr val="0F172A"/>
                </a:solidFill>
                <a:latin typeface="Aptos" pitchFamily="34" charset="0"/>
                <a:ea typeface="Aptos" pitchFamily="34" charset="-122"/>
                <a:cs typeface="Aptos" pitchFamily="34" charset="-120"/>
              </a:rPr>
              <a:t>official assigns field worker</a:t>
            </a:r>
            <a:endParaRPr lang="en-US" sz="1070" dirty="0"/>
          </a:p>
        </p:txBody>
      </p:sp>
      <p:sp>
        <p:nvSpPr>
          <p:cNvPr id="21" name="Shape 19"/>
          <p:cNvSpPr/>
          <p:nvPr/>
        </p:nvSpPr>
        <p:spPr>
          <a:xfrm>
            <a:off x="4517136" y="1920240"/>
            <a:ext cx="3090672" cy="3611880"/>
          </a:xfrm>
          <a:prstGeom prst="roundRect">
            <a:avLst>
              <a:gd name="adj" fmla="val 3550"/>
            </a:avLst>
          </a:prstGeom>
          <a:solidFill>
            <a:srgbClr val="FFFFFF"/>
          </a:solidFill>
          <a:ln w="12700">
            <a:solidFill>
              <a:srgbClr val="D6DEE9"/>
            </a:solidFill>
            <a:prstDash val="solid"/>
          </a:ln>
        </p:spPr>
      </p:sp>
      <p:sp>
        <p:nvSpPr>
          <p:cNvPr id="22" name="Text 20"/>
          <p:cNvSpPr/>
          <p:nvPr/>
        </p:nvSpPr>
        <p:spPr>
          <a:xfrm>
            <a:off x="4791456" y="2176272"/>
            <a:ext cx="731520" cy="182880"/>
          </a:xfrm>
          <a:prstGeom prst="rect">
            <a:avLst/>
          </a:prstGeom>
          <a:noFill/>
          <a:ln/>
        </p:spPr>
        <p:txBody>
          <a:bodyPr wrap="square" lIns="0" tIns="0" rIns="0" bIns="0" rtlCol="0" anchor="ctr">
            <a:normAutofit/>
          </a:bodyPr>
          <a:lstStyle/>
          <a:p>
            <a:pPr marL="0" indent="0">
              <a:buNone/>
            </a:pPr>
            <a:r>
              <a:rPr lang="en-US" sz="1000" b="1" kern="0" spc="110" dirty="0">
                <a:solidFill>
                  <a:srgbClr val="183B6B"/>
                </a:solidFill>
                <a:latin typeface="Aptos" pitchFamily="34" charset="0"/>
                <a:ea typeface="Aptos" pitchFamily="34" charset="-122"/>
                <a:cs typeface="Aptos" pitchFamily="34" charset="-120"/>
              </a:rPr>
              <a:t>TEAM</a:t>
            </a:r>
            <a:endParaRPr lang="en-US" sz="1000" dirty="0"/>
          </a:p>
        </p:txBody>
      </p:sp>
      <p:sp>
        <p:nvSpPr>
          <p:cNvPr id="23" name="Shape 21"/>
          <p:cNvSpPr/>
          <p:nvPr/>
        </p:nvSpPr>
        <p:spPr>
          <a:xfrm>
            <a:off x="4791456" y="2670048"/>
            <a:ext cx="402336" cy="402336"/>
          </a:xfrm>
          <a:prstGeom prst="ellipse">
            <a:avLst/>
          </a:prstGeom>
          <a:solidFill>
            <a:srgbClr val="2F5D9B"/>
          </a:solidFill>
          <a:ln w="12700">
            <a:solidFill>
              <a:srgbClr val="2F5D9B"/>
            </a:solidFill>
            <a:prstDash val="solid"/>
          </a:ln>
        </p:spPr>
      </p:sp>
      <p:sp>
        <p:nvSpPr>
          <p:cNvPr id="24" name="Text 22"/>
          <p:cNvSpPr/>
          <p:nvPr/>
        </p:nvSpPr>
        <p:spPr>
          <a:xfrm>
            <a:off x="4791456" y="2688336"/>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a:t>
            </a:r>
            <a:endParaRPr lang="en-US" sz="1100" dirty="0"/>
          </a:p>
        </p:txBody>
      </p:sp>
      <p:sp>
        <p:nvSpPr>
          <p:cNvPr id="25" name="Text 23"/>
          <p:cNvSpPr/>
          <p:nvPr/>
        </p:nvSpPr>
        <p:spPr>
          <a:xfrm>
            <a:off x="5340096" y="2637536"/>
            <a:ext cx="1965960" cy="475488"/>
          </a:xfrm>
          <a:prstGeom prst="rect">
            <a:avLst/>
          </a:prstGeom>
          <a:noFill/>
          <a:ln/>
        </p:spPr>
        <p:txBody>
          <a:bodyPr wrap="square" lIns="0" tIns="0" rIns="0" bIns="0" rtlCol="0" anchor="ctr">
            <a:normAutofit/>
          </a:bodyPr>
          <a:lstStyle/>
          <a:p>
            <a:pPr marL="0" indent="0">
              <a:buNone/>
            </a:pPr>
            <a:r>
              <a:rPr lang="en-US" sz="1030" dirty="0">
                <a:solidFill>
                  <a:srgbClr val="0F172A"/>
                </a:solidFill>
                <a:latin typeface="Aptos" pitchFamily="34" charset="0"/>
                <a:ea typeface="Aptos" pitchFamily="34" charset="-122"/>
                <a:cs typeface="Aptos" pitchFamily="34" charset="-120"/>
              </a:rPr>
              <a:t>Backend · PostGIS · routing · SLA</a:t>
            </a:r>
            <a:endParaRPr lang="en-US" sz="1030" dirty="0"/>
          </a:p>
        </p:txBody>
      </p:sp>
      <p:sp>
        <p:nvSpPr>
          <p:cNvPr id="26" name="Shape 24"/>
          <p:cNvSpPr/>
          <p:nvPr/>
        </p:nvSpPr>
        <p:spPr>
          <a:xfrm>
            <a:off x="4791456" y="3429000"/>
            <a:ext cx="402336" cy="402336"/>
          </a:xfrm>
          <a:prstGeom prst="ellipse">
            <a:avLst/>
          </a:prstGeom>
          <a:solidFill>
            <a:srgbClr val="183B6B"/>
          </a:solidFill>
          <a:ln w="12700">
            <a:solidFill>
              <a:srgbClr val="183B6B"/>
            </a:solidFill>
            <a:prstDash val="solid"/>
          </a:ln>
        </p:spPr>
      </p:sp>
      <p:sp>
        <p:nvSpPr>
          <p:cNvPr id="27" name="Text 25"/>
          <p:cNvSpPr/>
          <p:nvPr/>
        </p:nvSpPr>
        <p:spPr>
          <a:xfrm>
            <a:off x="4791456" y="3447288"/>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B</a:t>
            </a:r>
            <a:endParaRPr lang="en-US" sz="1100" dirty="0"/>
          </a:p>
        </p:txBody>
      </p:sp>
      <p:sp>
        <p:nvSpPr>
          <p:cNvPr id="28" name="Text 26"/>
          <p:cNvSpPr/>
          <p:nvPr/>
        </p:nvSpPr>
        <p:spPr>
          <a:xfrm>
            <a:off x="5340096" y="3396488"/>
            <a:ext cx="1965960" cy="475488"/>
          </a:xfrm>
          <a:prstGeom prst="rect">
            <a:avLst/>
          </a:prstGeom>
          <a:noFill/>
          <a:ln/>
        </p:spPr>
        <p:txBody>
          <a:bodyPr wrap="square" lIns="0" tIns="0" rIns="0" bIns="0" rtlCol="0" anchor="ctr">
            <a:normAutofit/>
          </a:bodyPr>
          <a:lstStyle/>
          <a:p>
            <a:pPr marL="0" indent="0">
              <a:buNone/>
            </a:pPr>
            <a:r>
              <a:rPr lang="en-US" sz="1030" dirty="0">
                <a:solidFill>
                  <a:srgbClr val="0F172A"/>
                </a:solidFill>
                <a:latin typeface="Aptos" pitchFamily="34" charset="0"/>
                <a:ea typeface="Aptos" pitchFamily="34" charset="-122"/>
                <a:cs typeface="Aptos" pitchFamily="34" charset="-120"/>
              </a:rPr>
              <a:t>Frontend · citizen flow · dashboard · maps</a:t>
            </a:r>
            <a:endParaRPr lang="en-US" sz="1030" dirty="0"/>
          </a:p>
        </p:txBody>
      </p:sp>
      <p:sp>
        <p:nvSpPr>
          <p:cNvPr id="29" name="Shape 27"/>
          <p:cNvSpPr/>
          <p:nvPr/>
        </p:nvSpPr>
        <p:spPr>
          <a:xfrm>
            <a:off x="4791456" y="4187952"/>
            <a:ext cx="402336" cy="402336"/>
          </a:xfrm>
          <a:prstGeom prst="ellipse">
            <a:avLst/>
          </a:prstGeom>
          <a:solidFill>
            <a:srgbClr val="2F7D59"/>
          </a:solidFill>
          <a:ln w="12700">
            <a:solidFill>
              <a:srgbClr val="2F7D59"/>
            </a:solidFill>
            <a:prstDash val="solid"/>
          </a:ln>
        </p:spPr>
      </p:sp>
      <p:sp>
        <p:nvSpPr>
          <p:cNvPr id="30" name="Text 28"/>
          <p:cNvSpPr/>
          <p:nvPr/>
        </p:nvSpPr>
        <p:spPr>
          <a:xfrm>
            <a:off x="4791456" y="4206240"/>
            <a:ext cx="402336" cy="36576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a:t>
            </a:r>
            <a:endParaRPr lang="en-US" sz="1100" dirty="0"/>
          </a:p>
        </p:txBody>
      </p:sp>
      <p:sp>
        <p:nvSpPr>
          <p:cNvPr id="31" name="Text 29"/>
          <p:cNvSpPr/>
          <p:nvPr/>
        </p:nvSpPr>
        <p:spPr>
          <a:xfrm>
            <a:off x="5340096" y="4165600"/>
            <a:ext cx="1965960" cy="475488"/>
          </a:xfrm>
          <a:prstGeom prst="rect">
            <a:avLst/>
          </a:prstGeom>
          <a:noFill/>
          <a:ln/>
        </p:spPr>
        <p:txBody>
          <a:bodyPr wrap="square" lIns="0" tIns="0" rIns="0" bIns="0" rtlCol="0" anchor="ctr">
            <a:normAutofit/>
          </a:bodyPr>
          <a:lstStyle/>
          <a:p>
            <a:pPr marL="0" indent="0">
              <a:buNone/>
            </a:pPr>
            <a:r>
              <a:rPr lang="en-US" sz="1030" dirty="0">
                <a:solidFill>
                  <a:srgbClr val="0F172A"/>
                </a:solidFill>
                <a:latin typeface="Aptos" pitchFamily="34" charset="0"/>
                <a:ea typeface="Aptos" pitchFamily="34" charset="-122"/>
                <a:cs typeface="Aptos" pitchFamily="34" charset="-120"/>
              </a:rPr>
              <a:t>CV/LLM · guardrails · queue · deployment</a:t>
            </a:r>
            <a:endParaRPr lang="en-US" sz="1030" dirty="0"/>
          </a:p>
        </p:txBody>
      </p:sp>
      <p:sp>
        <p:nvSpPr>
          <p:cNvPr id="32" name="Shape 30"/>
          <p:cNvSpPr/>
          <p:nvPr/>
        </p:nvSpPr>
        <p:spPr>
          <a:xfrm>
            <a:off x="7808976" y="1920240"/>
            <a:ext cx="3785616" cy="3611880"/>
          </a:xfrm>
          <a:prstGeom prst="roundRect">
            <a:avLst>
              <a:gd name="adj" fmla="val 3038"/>
            </a:avLst>
          </a:prstGeom>
          <a:solidFill>
            <a:srgbClr val="FFFFFF"/>
          </a:solidFill>
          <a:ln w="12700">
            <a:solidFill>
              <a:srgbClr val="D6DEE9"/>
            </a:solidFill>
            <a:prstDash val="solid"/>
          </a:ln>
        </p:spPr>
      </p:sp>
      <p:sp>
        <p:nvSpPr>
          <p:cNvPr id="33" name="Text 31"/>
          <p:cNvSpPr/>
          <p:nvPr/>
        </p:nvSpPr>
        <p:spPr>
          <a:xfrm>
            <a:off x="8083296" y="2176272"/>
            <a:ext cx="1051560" cy="182880"/>
          </a:xfrm>
          <a:prstGeom prst="rect">
            <a:avLst/>
          </a:prstGeom>
          <a:noFill/>
          <a:ln/>
        </p:spPr>
        <p:txBody>
          <a:bodyPr wrap="square" lIns="0" tIns="0" rIns="0" bIns="0" rtlCol="0" anchor="ctr">
            <a:normAutofit/>
          </a:bodyPr>
          <a:lstStyle/>
          <a:p>
            <a:pPr marL="0" indent="0">
              <a:buNone/>
            </a:pPr>
            <a:r>
              <a:rPr lang="en-US" sz="1000" b="1" kern="0" spc="110" dirty="0">
                <a:solidFill>
                  <a:srgbClr val="B24343"/>
                </a:solidFill>
                <a:latin typeface="Aptos" pitchFamily="34" charset="0"/>
                <a:ea typeface="Aptos" pitchFamily="34" charset="-122"/>
                <a:cs typeface="Aptos" pitchFamily="34" charset="-120"/>
              </a:rPr>
              <a:t>TOP RISKS</a:t>
            </a:r>
            <a:endParaRPr lang="en-US" sz="1000" dirty="0"/>
          </a:p>
        </p:txBody>
      </p:sp>
      <p:sp>
        <p:nvSpPr>
          <p:cNvPr id="34" name="Text 32"/>
          <p:cNvSpPr/>
          <p:nvPr/>
        </p:nvSpPr>
        <p:spPr>
          <a:xfrm>
            <a:off x="8083296" y="2688336"/>
            <a:ext cx="731520" cy="182880"/>
          </a:xfrm>
          <a:prstGeom prst="rect">
            <a:avLst/>
          </a:prstGeom>
          <a:noFill/>
          <a:ln/>
        </p:spPr>
        <p:txBody>
          <a:bodyPr wrap="square" lIns="0" tIns="0" rIns="0" bIns="0" rtlCol="0" anchor="ctr">
            <a:normAutofit/>
          </a:bodyPr>
          <a:lstStyle/>
          <a:p>
            <a:pPr marL="0" indent="0">
              <a:buNone/>
            </a:pPr>
            <a:r>
              <a:rPr lang="en-US" sz="950" b="1" dirty="0">
                <a:solidFill>
                  <a:srgbClr val="B24343"/>
                </a:solidFill>
                <a:latin typeface="Aptos" pitchFamily="34" charset="0"/>
                <a:ea typeface="Aptos" pitchFamily="34" charset="-122"/>
                <a:cs typeface="Aptos" pitchFamily="34" charset="-120"/>
              </a:rPr>
              <a:t>ABUSE</a:t>
            </a:r>
            <a:endParaRPr lang="en-US" sz="950" dirty="0"/>
          </a:p>
        </p:txBody>
      </p:sp>
      <p:sp>
        <p:nvSpPr>
          <p:cNvPr id="35" name="Text 33"/>
          <p:cNvSpPr/>
          <p:nvPr/>
        </p:nvSpPr>
        <p:spPr>
          <a:xfrm>
            <a:off x="8869680" y="2552192"/>
            <a:ext cx="2267712" cy="420624"/>
          </a:xfrm>
          <a:prstGeom prst="rect">
            <a:avLst/>
          </a:prstGeom>
          <a:noFill/>
          <a:ln/>
        </p:spPr>
        <p:txBody>
          <a:bodyPr wrap="square" lIns="0" tIns="0" rIns="0" bIns="0" rtlCol="0" anchor="ctr">
            <a:normAutofit/>
          </a:bodyPr>
          <a:lstStyle/>
          <a:p>
            <a:pPr marL="0" indent="0">
              <a:buNone/>
            </a:pPr>
            <a:r>
              <a:rPr lang="en-US" sz="1020" dirty="0">
                <a:solidFill>
                  <a:srgbClr val="0F172A"/>
                </a:solidFill>
                <a:latin typeface="Aptos" pitchFamily="34" charset="0"/>
                <a:ea typeface="Aptos" pitchFamily="34" charset="-122"/>
                <a:cs typeface="Aptos" pitchFamily="34" charset="-120"/>
              </a:rPr>
              <a:t>trust + verification gate + clustering</a:t>
            </a:r>
            <a:endParaRPr lang="en-US" sz="1020" dirty="0"/>
          </a:p>
        </p:txBody>
      </p:sp>
      <p:sp>
        <p:nvSpPr>
          <p:cNvPr id="36" name="Text 34"/>
          <p:cNvSpPr/>
          <p:nvPr/>
        </p:nvSpPr>
        <p:spPr>
          <a:xfrm>
            <a:off x="8083296" y="3474720"/>
            <a:ext cx="731520" cy="182880"/>
          </a:xfrm>
          <a:prstGeom prst="rect">
            <a:avLst/>
          </a:prstGeom>
          <a:noFill/>
          <a:ln/>
        </p:spPr>
        <p:txBody>
          <a:bodyPr wrap="square" lIns="0" tIns="0" rIns="0" bIns="0" rtlCol="0" anchor="ctr">
            <a:normAutofit/>
          </a:bodyPr>
          <a:lstStyle/>
          <a:p>
            <a:pPr marL="0" indent="0">
              <a:buNone/>
            </a:pPr>
            <a:r>
              <a:rPr lang="en-US" sz="950" b="1" dirty="0">
                <a:solidFill>
                  <a:srgbClr val="B24343"/>
                </a:solidFill>
                <a:latin typeface="Aptos" pitchFamily="34" charset="0"/>
                <a:ea typeface="Aptos" pitchFamily="34" charset="-122"/>
                <a:cs typeface="Aptos" pitchFamily="34" charset="-120"/>
              </a:rPr>
              <a:t>LLM</a:t>
            </a:r>
            <a:endParaRPr lang="en-US" sz="950" dirty="0"/>
          </a:p>
        </p:txBody>
      </p:sp>
      <p:sp>
        <p:nvSpPr>
          <p:cNvPr id="37" name="Text 35"/>
          <p:cNvSpPr/>
          <p:nvPr/>
        </p:nvSpPr>
        <p:spPr>
          <a:xfrm>
            <a:off x="8869680" y="3379216"/>
            <a:ext cx="2267712" cy="420624"/>
          </a:xfrm>
          <a:prstGeom prst="rect">
            <a:avLst/>
          </a:prstGeom>
          <a:noFill/>
          <a:ln/>
        </p:spPr>
        <p:txBody>
          <a:bodyPr wrap="square" lIns="0" tIns="0" rIns="0" bIns="0" rtlCol="0" anchor="ctr">
            <a:normAutofit/>
          </a:bodyPr>
          <a:lstStyle/>
          <a:p>
            <a:pPr marL="0" indent="0">
              <a:buNone/>
            </a:pPr>
            <a:r>
              <a:rPr lang="en-US" sz="1020" dirty="0">
                <a:solidFill>
                  <a:srgbClr val="0F172A"/>
                </a:solidFill>
                <a:latin typeface="Aptos" pitchFamily="34" charset="0"/>
                <a:ea typeface="Aptos" pitchFamily="34" charset="-122"/>
                <a:cs typeface="Aptos" pitchFamily="34" charset="-120"/>
              </a:rPr>
              <a:t>confidence threshold + retry → human review</a:t>
            </a:r>
            <a:endParaRPr lang="en-US" sz="1020" dirty="0"/>
          </a:p>
        </p:txBody>
      </p:sp>
      <p:sp>
        <p:nvSpPr>
          <p:cNvPr id="38" name="Text 36"/>
          <p:cNvSpPr/>
          <p:nvPr/>
        </p:nvSpPr>
        <p:spPr>
          <a:xfrm>
            <a:off x="8083296" y="4261104"/>
            <a:ext cx="731520" cy="182880"/>
          </a:xfrm>
          <a:prstGeom prst="rect">
            <a:avLst/>
          </a:prstGeom>
          <a:noFill/>
          <a:ln/>
        </p:spPr>
        <p:txBody>
          <a:bodyPr wrap="square" lIns="0" tIns="0" rIns="0" bIns="0" rtlCol="0" anchor="ctr">
            <a:normAutofit/>
          </a:bodyPr>
          <a:lstStyle/>
          <a:p>
            <a:pPr marL="0" indent="0">
              <a:buNone/>
            </a:pPr>
            <a:r>
              <a:rPr lang="en-US" sz="950" b="1" dirty="0">
                <a:solidFill>
                  <a:srgbClr val="B24343"/>
                </a:solidFill>
                <a:latin typeface="Aptos" pitchFamily="34" charset="0"/>
                <a:ea typeface="Aptos" pitchFamily="34" charset="-122"/>
                <a:cs typeface="Aptos" pitchFamily="34" charset="-120"/>
              </a:rPr>
              <a:t>PRIVACY</a:t>
            </a:r>
            <a:endParaRPr lang="en-US" sz="950" dirty="0"/>
          </a:p>
        </p:txBody>
      </p:sp>
      <p:sp>
        <p:nvSpPr>
          <p:cNvPr id="39" name="Text 37"/>
          <p:cNvSpPr/>
          <p:nvPr/>
        </p:nvSpPr>
        <p:spPr>
          <a:xfrm>
            <a:off x="8869680" y="4165600"/>
            <a:ext cx="2267712" cy="420624"/>
          </a:xfrm>
          <a:prstGeom prst="rect">
            <a:avLst/>
          </a:prstGeom>
          <a:noFill/>
          <a:ln/>
        </p:spPr>
        <p:txBody>
          <a:bodyPr wrap="square" lIns="0" tIns="0" rIns="0" bIns="0" rtlCol="0" anchor="ctr">
            <a:normAutofit/>
          </a:bodyPr>
          <a:lstStyle/>
          <a:p>
            <a:pPr marL="0" indent="0">
              <a:buNone/>
            </a:pPr>
            <a:r>
              <a:rPr lang="en-US" sz="1020" dirty="0">
                <a:solidFill>
                  <a:srgbClr val="0F172A"/>
                </a:solidFill>
                <a:latin typeface="Aptos" pitchFamily="34" charset="0"/>
                <a:ea typeface="Aptos" pitchFamily="34" charset="-122"/>
                <a:cs typeface="Aptos" pitchFamily="34" charset="-120"/>
              </a:rPr>
              <a:t>DPDP-aligned handling + signed photo URLs</a:t>
            </a:r>
            <a:endParaRPr lang="en-US" sz="1020" dirty="0"/>
          </a:p>
        </p:txBody>
      </p:sp>
      <p:sp>
        <p:nvSpPr>
          <p:cNvPr id="40" name="Shape 38"/>
          <p:cNvSpPr/>
          <p:nvPr/>
        </p:nvSpPr>
        <p:spPr>
          <a:xfrm>
            <a:off x="566928" y="5687568"/>
            <a:ext cx="11027664" cy="429768"/>
          </a:xfrm>
          <a:prstGeom prst="roundRect">
            <a:avLst>
              <a:gd name="adj" fmla="val 25532"/>
            </a:avLst>
          </a:prstGeom>
          <a:solidFill>
            <a:srgbClr val="EEF4FB"/>
          </a:solidFill>
          <a:ln w="12700">
            <a:solidFill>
              <a:srgbClr val="DCE8F7"/>
            </a:solidFill>
            <a:prstDash val="solid"/>
          </a:ln>
        </p:spPr>
      </p:sp>
      <p:sp>
        <p:nvSpPr>
          <p:cNvPr id="41" name="Text 39"/>
          <p:cNvSpPr/>
          <p:nvPr/>
        </p:nvSpPr>
        <p:spPr>
          <a:xfrm>
            <a:off x="749808" y="5806440"/>
            <a:ext cx="10661904" cy="164592"/>
          </a:xfrm>
          <a:prstGeom prst="rect">
            <a:avLst/>
          </a:prstGeom>
          <a:noFill/>
          <a:ln/>
        </p:spPr>
        <p:txBody>
          <a:bodyPr wrap="square" lIns="0" tIns="0" rIns="0" bIns="0" rtlCol="0" anchor="ctr">
            <a:normAutofit/>
          </a:bodyPr>
          <a:lstStyle/>
          <a:p>
            <a:pPr marL="0" indent="0" algn="ctr">
              <a:buNone/>
            </a:pPr>
            <a:r>
              <a:rPr lang="en-US" sz="950" dirty="0">
                <a:solidFill>
                  <a:srgbClr val="475569"/>
                </a:solidFill>
                <a:latin typeface="Aptos" pitchFamily="34" charset="0"/>
                <a:ea typeface="Aptos" pitchFamily="34" charset="-122"/>
                <a:cs typeface="Aptos" pitchFamily="34" charset="-120"/>
              </a:rPr>
              <a:t>Future work: regional-language support · native offline-first apps · dispatch optimization · public API · exportable audit format</a:t>
            </a:r>
            <a:endParaRPr lang="en-US" sz="950" dirty="0"/>
          </a:p>
        </p:txBody>
      </p:sp>
      <p:sp>
        <p:nvSpPr>
          <p:cNvPr id="42"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3B6B"/>
        </a:solidFill>
        <a:effectLst/>
      </p:bgPr>
    </p:bg>
    <p:spTree>
      <p:nvGrpSpPr>
        <p:cNvPr id="1" name=""/>
        <p:cNvGrpSpPr/>
        <p:nvPr/>
      </p:nvGrpSpPr>
      <p:grpSpPr>
        <a:xfrm>
          <a:off x="0" y="0"/>
          <a:ext cx="0" cy="0"/>
          <a:chOff x="0" y="0"/>
          <a:chExt cx="0" cy="0"/>
        </a:xfrm>
      </p:grpSpPr>
      <p:sp>
        <p:nvSpPr>
          <p:cNvPr id="2" name="Text 0"/>
          <p:cNvSpPr/>
          <p:nvPr/>
        </p:nvSpPr>
        <p:spPr>
          <a:xfrm>
            <a:off x="713232" y="749808"/>
            <a:ext cx="1097280" cy="201168"/>
          </a:xfrm>
          <a:prstGeom prst="rect">
            <a:avLst/>
          </a:prstGeom>
          <a:noFill/>
          <a:ln/>
        </p:spPr>
        <p:txBody>
          <a:bodyPr wrap="square" lIns="0" tIns="0" rIns="0" bIns="0" rtlCol="0" anchor="ctr">
            <a:normAutofit/>
          </a:bodyPr>
          <a:lstStyle/>
          <a:p>
            <a:pPr marL="0" indent="0">
              <a:buNone/>
            </a:pPr>
            <a:r>
              <a:rPr lang="en-US" sz="1000" b="1" kern="0" spc="140" dirty="0">
                <a:solidFill>
                  <a:srgbClr val="A9C5E7"/>
                </a:solidFill>
                <a:latin typeface="Aptos" pitchFamily="34" charset="0"/>
                <a:ea typeface="Aptos" pitchFamily="34" charset="-122"/>
                <a:cs typeface="Aptos" pitchFamily="34" charset="-120"/>
              </a:rPr>
              <a:t>THE CLAIM</a:t>
            </a:r>
            <a:endParaRPr lang="en-US" sz="1000" dirty="0"/>
          </a:p>
        </p:txBody>
      </p:sp>
      <p:sp>
        <p:nvSpPr>
          <p:cNvPr id="3" name="Text 1"/>
          <p:cNvSpPr/>
          <p:nvPr/>
        </p:nvSpPr>
        <p:spPr>
          <a:xfrm>
            <a:off x="713232" y="1234440"/>
            <a:ext cx="7498080" cy="150876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Accountability by design,</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not by discretion.</a:t>
            </a:r>
            <a:endParaRPr lang="en-US" sz="3400" dirty="0"/>
          </a:p>
        </p:txBody>
      </p:sp>
      <p:sp>
        <p:nvSpPr>
          <p:cNvPr id="4" name="Text 2"/>
          <p:cNvSpPr/>
          <p:nvPr/>
        </p:nvSpPr>
        <p:spPr>
          <a:xfrm>
            <a:off x="731520" y="3246120"/>
            <a:ext cx="5943600" cy="365760"/>
          </a:xfrm>
          <a:prstGeom prst="rect">
            <a:avLst/>
          </a:prstGeom>
          <a:noFill/>
          <a:ln/>
        </p:spPr>
        <p:txBody>
          <a:bodyPr wrap="square" lIns="0" tIns="0" rIns="0" bIns="0" rtlCol="0" anchor="ctr">
            <a:normAutofit/>
          </a:bodyPr>
          <a:lstStyle/>
          <a:p>
            <a:pPr marL="0" indent="0">
              <a:buNone/>
            </a:pPr>
            <a:r>
              <a:rPr lang="en-US" sz="2000" b="1" dirty="0">
                <a:solidFill>
                  <a:srgbClr val="CFE0F3"/>
                </a:solidFill>
                <a:latin typeface="Aptos" pitchFamily="34" charset="0"/>
                <a:ea typeface="Aptos" pitchFamily="34" charset="-122"/>
                <a:cs typeface="Aptos" pitchFamily="34" charset="-120"/>
              </a:rPr>
              <a:t>Route it.  Time it.  Prove it.</a:t>
            </a:r>
            <a:endParaRPr lang="en-US" sz="2000" dirty="0"/>
          </a:p>
        </p:txBody>
      </p:sp>
      <p:sp>
        <p:nvSpPr>
          <p:cNvPr id="5" name="Shape 3"/>
          <p:cNvSpPr/>
          <p:nvPr/>
        </p:nvSpPr>
        <p:spPr>
          <a:xfrm>
            <a:off x="713232" y="4096512"/>
            <a:ext cx="3255264" cy="1097280"/>
          </a:xfrm>
          <a:prstGeom prst="roundRect">
            <a:avLst>
              <a:gd name="adj" fmla="val 10000"/>
            </a:avLst>
          </a:prstGeom>
          <a:solidFill>
            <a:srgbClr val="214A7E"/>
          </a:solidFill>
          <a:ln w="12700">
            <a:solidFill>
              <a:srgbClr val="214A7E"/>
            </a:solidFill>
            <a:prstDash val="solid"/>
          </a:ln>
        </p:spPr>
      </p:sp>
      <p:sp>
        <p:nvSpPr>
          <p:cNvPr id="6" name="Text 4"/>
          <p:cNvSpPr/>
          <p:nvPr/>
        </p:nvSpPr>
        <p:spPr>
          <a:xfrm>
            <a:off x="896112" y="4297680"/>
            <a:ext cx="1325880" cy="182880"/>
          </a:xfrm>
          <a:prstGeom prst="rect">
            <a:avLst/>
          </a:prstGeom>
          <a:noFill/>
          <a:ln/>
        </p:spPr>
        <p:txBody>
          <a:bodyPr wrap="square" lIns="0" tIns="0" rIns="0" bIns="0" rtlCol="0" anchor="ctr">
            <a:normAutofit/>
          </a:bodyPr>
          <a:lstStyle/>
          <a:p>
            <a:pPr marL="0" indent="0">
              <a:buNone/>
            </a:pPr>
            <a:r>
              <a:rPr lang="en-US" sz="1000" b="1" kern="0" spc="100" dirty="0">
                <a:solidFill>
                  <a:srgbClr val="A9C5E7"/>
                </a:solidFill>
                <a:latin typeface="Aptos" pitchFamily="34" charset="0"/>
                <a:ea typeface="Aptos" pitchFamily="34" charset="-122"/>
                <a:cs typeface="Aptos" pitchFamily="34" charset="-120"/>
              </a:rPr>
              <a:t>ROUTE IT</a:t>
            </a:r>
            <a:endParaRPr lang="en-US" sz="1000" dirty="0"/>
          </a:p>
        </p:txBody>
      </p:sp>
      <p:sp>
        <p:nvSpPr>
          <p:cNvPr id="7" name="Text 5"/>
          <p:cNvSpPr/>
          <p:nvPr/>
        </p:nvSpPr>
        <p:spPr>
          <a:xfrm>
            <a:off x="896112" y="4626864"/>
            <a:ext cx="2834640" cy="329184"/>
          </a:xfrm>
          <a:prstGeom prst="rect">
            <a:avLst/>
          </a:prstGeom>
          <a:noFill/>
          <a:ln/>
        </p:spPr>
        <p:txBody>
          <a:bodyPr wrap="square" lIns="0" tIns="0" rIns="0" bIns="0" rtlCol="0" anchor="ctr">
            <a:normAutofit/>
          </a:bodyPr>
          <a:lstStyle/>
          <a:p>
            <a:pPr marL="0" indent="0">
              <a:buNone/>
            </a:pPr>
            <a:r>
              <a:rPr lang="en-US" sz="1120" b="1" dirty="0">
                <a:solidFill>
                  <a:srgbClr val="FFFFFF"/>
                </a:solidFill>
                <a:latin typeface="Aptos" pitchFamily="34" charset="0"/>
                <a:ea typeface="Aptos" pitchFamily="34" charset="-122"/>
                <a:cs typeface="Aptos" pitchFamily="34" charset="-120"/>
              </a:rPr>
              <a:t>Geofence + category × ward</a:t>
            </a:r>
            <a:endParaRPr lang="en-US" sz="1120" dirty="0"/>
          </a:p>
        </p:txBody>
      </p:sp>
      <p:sp>
        <p:nvSpPr>
          <p:cNvPr id="8" name="Shape 6"/>
          <p:cNvSpPr/>
          <p:nvPr/>
        </p:nvSpPr>
        <p:spPr>
          <a:xfrm>
            <a:off x="4334256" y="4096512"/>
            <a:ext cx="3255264" cy="1097280"/>
          </a:xfrm>
          <a:prstGeom prst="roundRect">
            <a:avLst>
              <a:gd name="adj" fmla="val 10000"/>
            </a:avLst>
          </a:prstGeom>
          <a:solidFill>
            <a:srgbClr val="214A7E"/>
          </a:solidFill>
          <a:ln w="12700">
            <a:solidFill>
              <a:srgbClr val="214A7E"/>
            </a:solidFill>
            <a:prstDash val="solid"/>
          </a:ln>
        </p:spPr>
      </p:sp>
      <p:sp>
        <p:nvSpPr>
          <p:cNvPr id="9" name="Text 7"/>
          <p:cNvSpPr/>
          <p:nvPr/>
        </p:nvSpPr>
        <p:spPr>
          <a:xfrm>
            <a:off x="4517136" y="4297680"/>
            <a:ext cx="1325880" cy="182880"/>
          </a:xfrm>
          <a:prstGeom prst="rect">
            <a:avLst/>
          </a:prstGeom>
          <a:noFill/>
          <a:ln/>
        </p:spPr>
        <p:txBody>
          <a:bodyPr wrap="square" lIns="0" tIns="0" rIns="0" bIns="0" rtlCol="0" anchor="ctr">
            <a:normAutofit/>
          </a:bodyPr>
          <a:lstStyle/>
          <a:p>
            <a:pPr marL="0" indent="0">
              <a:buNone/>
            </a:pPr>
            <a:r>
              <a:rPr lang="en-US" sz="1000" b="1" kern="0" spc="100" dirty="0">
                <a:solidFill>
                  <a:srgbClr val="A9C5E7"/>
                </a:solidFill>
                <a:latin typeface="Aptos" pitchFamily="34" charset="0"/>
                <a:ea typeface="Aptos" pitchFamily="34" charset="-122"/>
                <a:cs typeface="Aptos" pitchFamily="34" charset="-120"/>
              </a:rPr>
              <a:t>TIME IT</a:t>
            </a:r>
            <a:endParaRPr lang="en-US" sz="1000" dirty="0"/>
          </a:p>
        </p:txBody>
      </p:sp>
      <p:sp>
        <p:nvSpPr>
          <p:cNvPr id="10" name="Text 8"/>
          <p:cNvSpPr/>
          <p:nvPr/>
        </p:nvSpPr>
        <p:spPr>
          <a:xfrm>
            <a:off x="4517136" y="4626864"/>
            <a:ext cx="2834640" cy="329184"/>
          </a:xfrm>
          <a:prstGeom prst="rect">
            <a:avLst/>
          </a:prstGeom>
          <a:noFill/>
          <a:ln/>
        </p:spPr>
        <p:txBody>
          <a:bodyPr wrap="square" lIns="0" tIns="0" rIns="0" bIns="0" rtlCol="0" anchor="ctr">
            <a:normAutofit/>
          </a:bodyPr>
          <a:lstStyle/>
          <a:p>
            <a:pPr marL="0" indent="0">
              <a:buNone/>
            </a:pPr>
            <a:r>
              <a:rPr lang="en-US" sz="1120" b="1" dirty="0">
                <a:solidFill>
                  <a:srgbClr val="FFFFFF"/>
                </a:solidFill>
                <a:latin typeface="Aptos" pitchFamily="34" charset="0"/>
                <a:ea typeface="Aptos" pitchFamily="34" charset="-122"/>
                <a:cs typeface="Aptos" pitchFamily="34" charset="-120"/>
              </a:rPr>
              <a:t>SLA + auto-escalation</a:t>
            </a:r>
            <a:endParaRPr lang="en-US" sz="1120" dirty="0"/>
          </a:p>
        </p:txBody>
      </p:sp>
      <p:sp>
        <p:nvSpPr>
          <p:cNvPr id="11" name="Shape 9"/>
          <p:cNvSpPr/>
          <p:nvPr/>
        </p:nvSpPr>
        <p:spPr>
          <a:xfrm>
            <a:off x="7955280" y="4096512"/>
            <a:ext cx="3255264" cy="1097280"/>
          </a:xfrm>
          <a:prstGeom prst="roundRect">
            <a:avLst>
              <a:gd name="adj" fmla="val 10000"/>
            </a:avLst>
          </a:prstGeom>
          <a:solidFill>
            <a:srgbClr val="214A7E"/>
          </a:solidFill>
          <a:ln w="12700">
            <a:solidFill>
              <a:srgbClr val="214A7E"/>
            </a:solidFill>
            <a:prstDash val="solid"/>
          </a:ln>
        </p:spPr>
      </p:sp>
      <p:sp>
        <p:nvSpPr>
          <p:cNvPr id="12" name="Text 10"/>
          <p:cNvSpPr/>
          <p:nvPr/>
        </p:nvSpPr>
        <p:spPr>
          <a:xfrm>
            <a:off x="8138160" y="4297680"/>
            <a:ext cx="1325880" cy="182880"/>
          </a:xfrm>
          <a:prstGeom prst="rect">
            <a:avLst/>
          </a:prstGeom>
          <a:noFill/>
          <a:ln/>
        </p:spPr>
        <p:txBody>
          <a:bodyPr wrap="square" lIns="0" tIns="0" rIns="0" bIns="0" rtlCol="0" anchor="ctr">
            <a:normAutofit/>
          </a:bodyPr>
          <a:lstStyle/>
          <a:p>
            <a:pPr marL="0" indent="0">
              <a:buNone/>
            </a:pPr>
            <a:r>
              <a:rPr lang="en-US" sz="1000" b="1" kern="0" spc="100" dirty="0">
                <a:solidFill>
                  <a:srgbClr val="A9C5E7"/>
                </a:solidFill>
                <a:latin typeface="Aptos" pitchFamily="34" charset="0"/>
                <a:ea typeface="Aptos" pitchFamily="34" charset="-122"/>
                <a:cs typeface="Aptos" pitchFamily="34" charset="-120"/>
              </a:rPr>
              <a:t>PROVE IT</a:t>
            </a:r>
            <a:endParaRPr lang="en-US" sz="1000" dirty="0"/>
          </a:p>
        </p:txBody>
      </p:sp>
      <p:sp>
        <p:nvSpPr>
          <p:cNvPr id="13" name="Text 11"/>
          <p:cNvSpPr/>
          <p:nvPr/>
        </p:nvSpPr>
        <p:spPr>
          <a:xfrm>
            <a:off x="8138160" y="4626864"/>
            <a:ext cx="2834640" cy="329184"/>
          </a:xfrm>
          <a:prstGeom prst="rect">
            <a:avLst/>
          </a:prstGeom>
          <a:noFill/>
          <a:ln/>
        </p:spPr>
        <p:txBody>
          <a:bodyPr wrap="square" lIns="0" tIns="0" rIns="0" bIns="0" rtlCol="0" anchor="ctr">
            <a:normAutofit/>
          </a:bodyPr>
          <a:lstStyle/>
          <a:p>
            <a:pPr marL="0" indent="0">
              <a:buNone/>
            </a:pPr>
            <a:r>
              <a:rPr lang="en-US" sz="1120" b="1" dirty="0">
                <a:solidFill>
                  <a:srgbClr val="FFFFFF"/>
                </a:solidFill>
                <a:latin typeface="Aptos" pitchFamily="34" charset="0"/>
                <a:ea typeface="Aptos" pitchFamily="34" charset="-122"/>
                <a:cs typeface="Aptos" pitchFamily="34" charset="-120"/>
              </a:rPr>
              <a:t>Tamper-evident audit trail</a:t>
            </a:r>
            <a:endParaRPr lang="en-US" sz="1120" dirty="0"/>
          </a:p>
        </p:txBody>
      </p:sp>
      <p:sp>
        <p:nvSpPr>
          <p:cNvPr id="14" name="Text 12"/>
          <p:cNvSpPr/>
          <p:nvPr/>
        </p:nvSpPr>
        <p:spPr>
          <a:xfrm>
            <a:off x="731520" y="5925312"/>
            <a:ext cx="5760720" cy="182880"/>
          </a:xfrm>
          <a:prstGeom prst="rect">
            <a:avLst/>
          </a:prstGeom>
          <a:noFill/>
          <a:ln/>
        </p:spPr>
        <p:txBody>
          <a:bodyPr wrap="square" lIns="0" tIns="0" rIns="0" bIns="0" rtlCol="0" anchor="ctr">
            <a:normAutofit/>
          </a:bodyPr>
          <a:lstStyle/>
          <a:p>
            <a:pPr marL="0" indent="0">
              <a:buNone/>
            </a:pPr>
            <a:r>
              <a:rPr lang="en-US" sz="960" dirty="0">
                <a:solidFill>
                  <a:srgbClr val="BFD2E8"/>
                </a:solidFill>
                <a:latin typeface="Aptos" pitchFamily="34" charset="0"/>
                <a:ea typeface="Aptos" pitchFamily="34" charset="-122"/>
                <a:cs typeface="Aptos" pitchFamily="34" charset="-120"/>
              </a:rPr>
              <a:t>CivicLens · Thapar Institute of Engineering and Technology</a:t>
            </a:r>
            <a:endParaRPr lang="en-US" sz="960" dirty="0"/>
          </a:p>
        </p:txBody>
      </p:sp>
      <p:sp>
        <p:nvSpPr>
          <p:cNvPr id="15" name="Text 13"/>
          <p:cNvSpPr/>
          <p:nvPr/>
        </p:nvSpPr>
        <p:spPr>
          <a:xfrm>
            <a:off x="9921240" y="5797296"/>
            <a:ext cx="1517904" cy="256032"/>
          </a:xfrm>
          <a:prstGeom prst="rect">
            <a:avLst/>
          </a:prstGeom>
          <a:noFill/>
          <a:ln/>
        </p:spPr>
        <p:txBody>
          <a:bodyPr wrap="square" lIns="0" tIns="0" rIns="0" bIns="0" rtlCol="0" anchor="ctr">
            <a:normAutofit/>
          </a:bodyPr>
          <a:lstStyle/>
          <a:p>
            <a:pPr marL="0" indent="0" algn="r">
              <a:buNone/>
            </a:pPr>
            <a:r>
              <a:rPr lang="en-US" sz="1200" b="1" kern="0" spc="130" dirty="0">
                <a:solidFill>
                  <a:srgbClr val="FFFFFF"/>
                </a:solidFill>
                <a:latin typeface="Aptos" pitchFamily="34" charset="0"/>
                <a:ea typeface="Aptos" pitchFamily="34" charset="-122"/>
                <a:cs typeface="Aptos" pitchFamily="34" charset="-120"/>
              </a:rPr>
              <a:t>THANK YOU</a:t>
            </a:r>
            <a:endParaRPr lang="en-US" sz="1200" dirty="0"/>
          </a:p>
        </p:txBody>
      </p:sp>
      <p:sp>
        <p:nvSpPr>
          <p:cNvPr id="16" name="Text 14"/>
          <p:cNvSpPr/>
          <p:nvPr/>
        </p:nvSpPr>
        <p:spPr>
          <a:xfrm>
            <a:off x="9921240" y="6080760"/>
            <a:ext cx="1517904" cy="219456"/>
          </a:xfrm>
          <a:prstGeom prst="rect">
            <a:avLst/>
          </a:prstGeom>
          <a:noFill/>
          <a:ln/>
        </p:spPr>
        <p:txBody>
          <a:bodyPr wrap="square" lIns="0" tIns="0" rIns="0" bIns="0" rtlCol="0" anchor="ctr">
            <a:normAutofit/>
          </a:bodyPr>
          <a:lstStyle/>
          <a:p>
            <a:pPr marL="0" indent="0" algn="r">
              <a:buNone/>
            </a:pPr>
            <a:r>
              <a:rPr lang="en-US" sz="1100" dirty="0">
                <a:solidFill>
                  <a:srgbClr val="A9C5E7"/>
                </a:solidFill>
                <a:latin typeface="Aptos" pitchFamily="34" charset="0"/>
                <a:ea typeface="Aptos" pitchFamily="34" charset="-122"/>
                <a:cs typeface="Aptos" pitchFamily="34" charset="-120"/>
              </a:rPr>
              <a:t>Questions?</a:t>
            </a:r>
            <a:endParaRPr lang="en-US" sz="1100" dirty="0"/>
          </a:p>
        </p:txBody>
      </p:sp>
      <p:sp>
        <p:nvSpPr>
          <p:cNvPr id="25" name="Slide Number Placeholder 0"/>
          <p:cNvSpPr>
            <a:spLocks noGrp="1"/>
          </p:cNvSpPr>
          <p:nvPr>
            <p:ph type="sldNum" sz="quarter" idx="4294967295"/>
          </p:nvPr>
        </p:nvSpPr>
        <p:spPr>
          <a:xfrm>
            <a:off x="11265408"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TotalTime>
  <Words>2447</Words>
  <Application>Microsoft Office PowerPoint</Application>
  <PresentationFormat>Widescreen</PresentationFormat>
  <Paragraphs>284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Thapar Institute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CivicLens — Pitch &amp; Proposal</dc:title>
  <dc:subject>Civic Complaint Routing &amp; Accountability Platform</dc:subject>
  <dc:creator>CivicLens Team</dc:creator>
  <cp:lastModifiedBy>AADISH JAIN</cp:lastModifiedBy>
  <cp:revision>3</cp:revision>
  <dcterms:created xsi:type="dcterms:W3CDTF">2026-08-20T16:52:05Z</dcterms:created>
  <dcterms:modified xsi:type="dcterms:W3CDTF">2026-08-21T03:05:31Z</dcterms:modified>
</cp:coreProperties>
</file>